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7229127db2c429e" /><Relationship Type="http://schemas.openxmlformats.org/officeDocument/2006/relationships/extended-properties" Target="/docProps/app.xml" Id="R281433ee79104872" /><Relationship Type="http://schemas.openxmlformats.org/officeDocument/2006/relationships/officeDocument" Target="/ppt/presentation.xml" Id="Rda743e9ac438421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136f7d746524c8e"/>
  </p:sldMasterIdLst>
  <p:notesMasterIdLst>
    <p:notesMasterId xmlns:r="http://schemas.openxmlformats.org/officeDocument/2006/relationships" r:id="R6106ffb7e3c84912"/>
  </p:notesMasterIdLst>
  <p:sldIdLst>
    <p:sldId xmlns:r="http://schemas.openxmlformats.org/officeDocument/2006/relationships" id="256" r:id="R284ea13897334da7"/>
    <p:sldId xmlns:r="http://schemas.openxmlformats.org/officeDocument/2006/relationships" id="257" r:id="Red30bf2334034c9a"/>
    <p:sldId xmlns:r="http://schemas.openxmlformats.org/officeDocument/2006/relationships" id="258" r:id="R9969308aac5f479e"/>
    <p:sldId xmlns:r="http://schemas.openxmlformats.org/officeDocument/2006/relationships" id="259" r:id="Re9f3618dc3c9455f"/>
    <p:sldId xmlns:r="http://schemas.openxmlformats.org/officeDocument/2006/relationships" id="260" r:id="Ref9d8f801b9348ac"/>
    <p:sldId xmlns:r="http://schemas.openxmlformats.org/officeDocument/2006/relationships" id="261" r:id="R1486faa388ad4eec"/>
    <p:sldId xmlns:r="http://schemas.openxmlformats.org/officeDocument/2006/relationships" id="262" r:id="R7e06fec67a474ca4"/>
    <p:sldId xmlns:r="http://schemas.openxmlformats.org/officeDocument/2006/relationships" id="263" r:id="R61508db8db9b49eb"/>
    <p:sldId xmlns:r="http://schemas.openxmlformats.org/officeDocument/2006/relationships" id="264" r:id="R69b3812a25cb410a"/>
    <p:sldId xmlns:r="http://schemas.openxmlformats.org/officeDocument/2006/relationships" id="265" r:id="Raf0f8d4405244640"/>
    <p:sldId xmlns:r="http://schemas.openxmlformats.org/officeDocument/2006/relationships" id="266" r:id="Re77449f8145b4bb9"/>
    <p:sldId xmlns:r="http://schemas.openxmlformats.org/officeDocument/2006/relationships" id="267" r:id="R626424e5cae54684"/>
    <p:sldId xmlns:r="http://schemas.openxmlformats.org/officeDocument/2006/relationships" id="268" r:id="R4da3914619994e7e"/>
    <p:sldId xmlns:r="http://schemas.openxmlformats.org/officeDocument/2006/relationships" id="269" r:id="R8d3522808bfd4a0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4a9e0b6cabc4eff" /><Relationship Type="http://schemas.openxmlformats.org/officeDocument/2006/relationships/slideMaster" Target="/ppt/slideMasters/slideMaster1.xml" Id="Rc136f7d746524c8e" /><Relationship Type="http://schemas.openxmlformats.org/officeDocument/2006/relationships/notesMaster" Target="/ppt/notesMasters/notesMaster1.xml" Id="R6106ffb7e3c84912" /><Relationship Type="http://schemas.openxmlformats.org/officeDocument/2006/relationships/presProps" Target="/ppt/presProps.xml" Id="Rc71eefa8a2b04a55" /><Relationship Type="http://schemas.openxmlformats.org/officeDocument/2006/relationships/tableStyles" Target="/ppt/tableStyles.xml" Id="R5e0d7bbc0fe14659" /><Relationship Type="http://schemas.openxmlformats.org/officeDocument/2006/relationships/slide" Target="/ppt/slides/slide1.xml" Id="R284ea13897334da7" /><Relationship Type="http://schemas.openxmlformats.org/officeDocument/2006/relationships/slide" Target="/ppt/slides/slide2.xml" Id="Red30bf2334034c9a" /><Relationship Type="http://schemas.openxmlformats.org/officeDocument/2006/relationships/slide" Target="/ppt/slides/slide3.xml" Id="R9969308aac5f479e" /><Relationship Type="http://schemas.openxmlformats.org/officeDocument/2006/relationships/slide" Target="/ppt/slides/slide4.xml" Id="Re9f3618dc3c9455f" /><Relationship Type="http://schemas.openxmlformats.org/officeDocument/2006/relationships/slide" Target="/ppt/slides/slide5.xml" Id="Ref9d8f801b9348ac" /><Relationship Type="http://schemas.openxmlformats.org/officeDocument/2006/relationships/slide" Target="/ppt/slides/slide6.xml" Id="R1486faa388ad4eec" /><Relationship Type="http://schemas.openxmlformats.org/officeDocument/2006/relationships/slide" Target="/ppt/slides/slide7.xml" Id="R7e06fec67a474ca4" /><Relationship Type="http://schemas.openxmlformats.org/officeDocument/2006/relationships/slide" Target="/ppt/slides/slide8.xml" Id="R61508db8db9b49eb" /><Relationship Type="http://schemas.openxmlformats.org/officeDocument/2006/relationships/slide" Target="/ppt/slides/slide9.xml" Id="R69b3812a25cb410a" /><Relationship Type="http://schemas.openxmlformats.org/officeDocument/2006/relationships/slide" Target="/ppt/slides/slide10.xml" Id="Raf0f8d4405244640" /><Relationship Type="http://schemas.openxmlformats.org/officeDocument/2006/relationships/slide" Target="/ppt/slides/slide11.xml" Id="Re77449f8145b4bb9" /><Relationship Type="http://schemas.openxmlformats.org/officeDocument/2006/relationships/slide" Target="/ppt/slides/slide12.xml" Id="R626424e5cae54684" /><Relationship Type="http://schemas.openxmlformats.org/officeDocument/2006/relationships/slide" Target="/ppt/slides/slide13.xml" Id="R4da3914619994e7e" /><Relationship Type="http://schemas.openxmlformats.org/officeDocument/2006/relationships/slide" Target="/ppt/slides/slide14.xml" Id="R8d3522808bfd4a0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b06e5467dd14d2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b19a2b7ea04ac3" /><Relationship Type="http://schemas.openxmlformats.org/officeDocument/2006/relationships/notesMaster" Target="/ppt/notesMasters/notesMaster1.xml" Id="R8bf90343403f403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64442d649fe499a" /><Relationship Type="http://schemas.openxmlformats.org/officeDocument/2006/relationships/notesMaster" Target="/ppt/notesMasters/notesMaster1.xml" Id="R6d751bea4971419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a39a6e850d4426a" /><Relationship Type="http://schemas.openxmlformats.org/officeDocument/2006/relationships/notesMaster" Target="/ppt/notesMasters/notesMaster1.xml" Id="Rd94e9f0d60c14f8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8accdd097f0461b" /><Relationship Type="http://schemas.openxmlformats.org/officeDocument/2006/relationships/notesMaster" Target="/ppt/notesMasters/notesMaster1.xml" Id="Rf36f413e8e6740e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6e94c664af4490e" /><Relationship Type="http://schemas.openxmlformats.org/officeDocument/2006/relationships/notesMaster" Target="/ppt/notesMasters/notesMaster1.xml" Id="Rda6da0a3336e443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9cbf1c80e4c42e2" /><Relationship Type="http://schemas.openxmlformats.org/officeDocument/2006/relationships/notesMaster" Target="/ppt/notesMasters/notesMaster1.xml" Id="R3e3cddf15093446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366e3b65b4e4496" /><Relationship Type="http://schemas.openxmlformats.org/officeDocument/2006/relationships/notesMaster" Target="/ppt/notesMasters/notesMaster1.xml" Id="R6271f722674f4d9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788738115db44bd" /><Relationship Type="http://schemas.openxmlformats.org/officeDocument/2006/relationships/notesMaster" Target="/ppt/notesMasters/notesMaster1.xml" Id="R8a3680b859624b7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5108a89e9374b4e" /><Relationship Type="http://schemas.openxmlformats.org/officeDocument/2006/relationships/notesMaster" Target="/ppt/notesMasters/notesMaster1.xml" Id="Rbe6baed5a5044fd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edf7ba048304a37" /><Relationship Type="http://schemas.openxmlformats.org/officeDocument/2006/relationships/notesMaster" Target="/ppt/notesMasters/notesMaster1.xml" Id="R062736c194cb4fa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8f1cfc66641474c" /><Relationship Type="http://schemas.openxmlformats.org/officeDocument/2006/relationships/notesMaster" Target="/ppt/notesMasters/notesMaster1.xml" Id="R7742559b797a496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50301e0bb3e4f46" /><Relationship Type="http://schemas.openxmlformats.org/officeDocument/2006/relationships/notesMaster" Target="/ppt/notesMasters/notesMaster1.xml" Id="R36129b1ef0c14e6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6498508aefb4a10" /><Relationship Type="http://schemas.openxmlformats.org/officeDocument/2006/relationships/notesMaster" Target="/ppt/notesMasters/notesMaster1.xml" Id="R51d950d4ebd148b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d1d8ffa870c43d3" /><Relationship Type="http://schemas.openxmlformats.org/officeDocument/2006/relationships/notesMaster" Target="/ppt/notesMasters/notesMaster1.xml" Id="R915161bae80d415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4f8acf0ea3477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0dbb99f19054797" /><Relationship Type="http://schemas.openxmlformats.org/officeDocument/2006/relationships/slideLayout" Target="/ppt/slideLayouts/slideLayout1.xml" Id="R84a3e86494e14e1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4a3e86494e14e1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39607b2e574ee1" /><Relationship Type="http://schemas.openxmlformats.org/officeDocument/2006/relationships/notesSlide" Target="/ppt/notesSlides/notesSlide1.xml" Id="Rf944aba3e7fb48c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af804989674a3c" /><Relationship Type="http://schemas.openxmlformats.org/officeDocument/2006/relationships/notesSlide" Target="/ppt/notesSlides/notesSlide2.xml" Id="Rdc91b6d9d42b4d7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d5504a37ce4bda" /><Relationship Type="http://schemas.openxmlformats.org/officeDocument/2006/relationships/notesSlide" Target="/ppt/notesSlides/notesSlide3.xml" Id="R097314069d4f40b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6e9ff9c03d4b5b" /><Relationship Type="http://schemas.openxmlformats.org/officeDocument/2006/relationships/notesSlide" Target="/ppt/notesSlides/notesSlide4.xml" Id="R09172ac2afa54bf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3b30b008b742c7" /><Relationship Type="http://schemas.openxmlformats.org/officeDocument/2006/relationships/notesSlide" Target="/ppt/notesSlides/notesSlide5.xml" Id="R7e39c47453d2418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54b361fc6e4b6d" /><Relationship Type="http://schemas.openxmlformats.org/officeDocument/2006/relationships/notesSlide" Target="/ppt/notesSlides/notesSlide6.xml" Id="R9f4553aeb627431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8e622f11714f12" /><Relationship Type="http://schemas.openxmlformats.org/officeDocument/2006/relationships/notesSlide" Target="/ppt/notesSlides/notesSlide7.xml" Id="Rf7c7b166949d4bb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55fbc6b7de46fc" /><Relationship Type="http://schemas.openxmlformats.org/officeDocument/2006/relationships/image" Target="/ppt/media/image.png" Id="Rbbe865119976403a" /><Relationship Type="http://schemas.openxmlformats.org/officeDocument/2006/relationships/notesSlide" Target="/ppt/notesSlides/notesSlide8.xml" Id="R48bd8e3e94cd4ce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e7f997f53b4d39" /><Relationship Type="http://schemas.openxmlformats.org/officeDocument/2006/relationships/notesSlide" Target="/ppt/notesSlides/notesSlide9.xml" Id="Rf2ec3599b94b4b3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8e8f72a9fa4ee1" /><Relationship Type="http://schemas.openxmlformats.org/officeDocument/2006/relationships/notesSlide" Target="/ppt/notesSlides/notesSlide10.xml" Id="R99ebc8346d9442d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6d4e95ba124466" /><Relationship Type="http://schemas.openxmlformats.org/officeDocument/2006/relationships/image" Target="/ppt/media/image2.png" Id="Raad91bcd49f34114" /><Relationship Type="http://schemas.openxmlformats.org/officeDocument/2006/relationships/notesSlide" Target="/ppt/notesSlides/notesSlide11.xml" Id="Rcb05b54aba864c0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6212f49f054333" /><Relationship Type="http://schemas.openxmlformats.org/officeDocument/2006/relationships/image" Target="/ppt/media/image3.png" Id="R134a157a17f64260" /><Relationship Type="http://schemas.openxmlformats.org/officeDocument/2006/relationships/notesSlide" Target="/ppt/notesSlides/notesSlide12.xml" Id="R2e52194f06a547b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85a370c4cc4c5c" /><Relationship Type="http://schemas.openxmlformats.org/officeDocument/2006/relationships/notesSlide" Target="/ppt/notesSlides/notesSlide13.xml" Id="Rc2f6cb432f68421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121164421d4deb" /><Relationship Type="http://schemas.openxmlformats.org/officeDocument/2006/relationships/notesSlide" Target="/ppt/notesSlides/notesSlide14.xml" Id="R2be5677c40954af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667E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B1057A-0E7C-4756-8897-91C38D322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93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icon">
            <a:extLst xmlns:a="http://schemas.openxmlformats.org/drawingml/2006/main">
              <a:ext uri="{FF2B5EF4-FFF2-40B4-BE49-F238E27FC236}">
                <a16:creationId xmlns:a16="http://schemas.microsoft.com/office/drawing/2014/main" id="{24E6BAE5-2257-4050-8ED1-E312D8FCA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381125"/>
            <a:ext cx="2667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🖨️</a:t>
            </a:r>
          </a:p>
        </p:txBody>
      </p:sp>
      <p:sp>
        <p:nvSpPr>
          <p:cNvPr id="3" name="deck-title">
            <a:extLst xmlns:a="http://schemas.openxmlformats.org/drawingml/2006/main">
              <a:ext uri="{FF2B5EF4-FFF2-40B4-BE49-F238E27FC236}">
                <a16:creationId xmlns:a16="http://schemas.microsoft.com/office/drawing/2014/main" id="{78523307-D978-4B52-AB46-47BB3C759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666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模块五</a:t>
            </a:r>
          </a:p>
        </p:txBody>
      </p:sp>
      <p:sp>
        <p:nvSpPr>
          <p:cNvPr id="4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BBE13F0B-23DD-4FFA-ABE1-727F1DFFE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9E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E9E8FF"/>
                </a:solidFill>
                <a:latin typeface="Microsoft YaHei"/>
                <a:ea typeface="Microsoft YaHei"/>
                <a:cs typeface="Microsoft YaHei"/>
              </a:rPr>
              <a:t>桥梁跨学科项目、有限元分析、切片与承重试验</a:t>
            </a:r>
          </a:p>
        </p:txBody>
      </p:sp>
      <p:sp>
        <p:nvSpPr>
          <p:cNvPr id="5" name="deck-meta">
            <a:extLst xmlns:a="http://schemas.openxmlformats.org/drawingml/2006/main">
              <a:ext uri="{FF2B5EF4-FFF2-40B4-BE49-F238E27FC236}">
                <a16:creationId xmlns:a16="http://schemas.microsoft.com/office/drawing/2014/main" id="{B11EEBDF-D073-4DB0-9236-5A841C621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9E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E9E8FF"/>
                </a:solidFill>
                <a:latin typeface="Microsoft YaHei"/>
                <a:ea typeface="Microsoft YaHei"/>
                <a:cs typeface="Microsoft YaHei"/>
              </a:rPr>
              <a:t>4课时 · 第14-17课 · 技术实践</a:t>
            </a:r>
          </a:p>
        </p:txBody>
      </p:sp>
      <p:sp>
        <p:nvSpPr>
          <p:cNvPr id="6" name="editable-label">
            <a:extLst xmlns:a="http://schemas.openxmlformats.org/drawingml/2006/main">
              <a:ext uri="{FF2B5EF4-FFF2-40B4-BE49-F238E27FC236}">
                <a16:creationId xmlns:a16="http://schemas.microsoft.com/office/drawing/2014/main" id="{A267F60C-9AC7-4C01-8C07-960229550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102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9E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9E8FF"/>
                </a:solidFill>
                <a:latin typeface="Microsoft YaHei"/>
                <a:ea typeface="Microsoft YaHei"/>
                <a:cs typeface="Microsoft YaHei"/>
              </a:rPr>
              <a:t>可编辑PowerPoint课件</a:t>
            </a:r>
          </a:p>
        </p:txBody>
      </p:sp>
    </p:spTree>
    <p:extLst>
      <p:ext uri="{BB962C8B-B14F-4D97-AF65-F5344CB8AC3E}">
        <p14:creationId xmlns:p14="http://schemas.microsoft.com/office/powerpoint/2010/main" val="8262871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85D7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op-accent">
            <a:extLst xmlns:a="http://schemas.openxmlformats.org/drawingml/2006/main">
              <a:ext uri="{FF2B5EF4-FFF2-40B4-BE49-F238E27FC236}">
                <a16:creationId xmlns:a16="http://schemas.microsoft.com/office/drawing/2014/main" id="{17EFB3FC-D137-4937-ABB6-4CF52174C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93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345E05F-3FFA-4876-A61C-E0686D7F4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课前预习！</a:t>
            </a:r>
          </a:p>
        </p:txBody>
      </p:sp>
      <p:sp>
        <p:nvSpPr>
          <p:cNvPr id="3" name="slide-icon">
            <a:extLst xmlns:a="http://schemas.openxmlformats.org/drawingml/2006/main">
              <a:ext uri="{FF2B5EF4-FFF2-40B4-BE49-F238E27FC236}">
                <a16:creationId xmlns:a16="http://schemas.microsoft.com/office/drawing/2014/main" id="{FE1C7966-7CEF-4BAD-A024-B34CA9B56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⚠️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1039DA2B-3C5E-47F4-9F53-54CA09BB1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8889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FFF5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FFF5F5"/>
                </a:solidFill>
                <a:latin typeface="Microsoft YaHei"/>
                <a:ea typeface="Microsoft YaHei"/>
                <a:cs typeface="Microsoft YaHei"/>
              </a:rPr>
              <a:t>模块五  ·  2</a:t>
            </a:r>
          </a:p>
        </p:txBody>
      </p:sp>
      <p:sp>
        <p:nvSpPr>
          <p:cNvPr id="5" name="bullet-list">
            <a:extLst xmlns:a="http://schemas.openxmlformats.org/drawingml/2006/main">
              <a:ext uri="{FF2B5EF4-FFF2-40B4-BE49-F238E27FC236}">
                <a16:creationId xmlns:a16="http://schemas.microsoft.com/office/drawing/2014/main" id="{4ABB9039-E6F3-4F48-A8C2-FA9E8AFAC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371600"/>
            <a:ext cx="9906000" cy="4572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9525">
            <a:solidFill>
              <a:srgbClr val="FFFFFF">
                <a:alpha val="26667"/>
              </a:srgbClr>
            </a:solidFill>
            <a:prstDash val="solid"/>
          </a:ln>
        </p:spPr>
        <p:txBody>
          <a:bodyPr xmlns:a="http://schemas.openxmlformats.org/drawingml/2006/main" lIns="209550" tIns="171450" rIns="190500" bIns="133350">
            <a:normAutofit fontScale="100000"/>
          </a:bodyPr>
          <a:lstStyle xmlns:a="http://schemas.openxmlformats.org/drawingml/2006/main"/>
          <a:p xmlns:a="http://schemas.openxmlformats.org/drawingml/2006/main">
            <a:pPr marL="28" indent="-14">
              <a:spcAft>
                <a:spcPts val="8"/>
              </a:spcAft>
              <a:buChar char="•"/>
              <a:def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确认已安装Cura切片软件</a:t>
            </a:r>
          </a:p>
          <a:p xmlns:a="http://schemas.openxmlformats.org/drawingml/2006/main">
            <a:pPr marL="28" indent="-14">
              <a:spcAft>
                <a:spcPts val="8"/>
              </a:spcAft>
              <a:buChar char="•"/>
              <a:def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了解STL=3D打印通用格式</a:t>
            </a:r>
          </a:p>
          <a:p xmlns:a="http://schemas.openxmlformats.org/drawingml/2006/main">
            <a:pPr marL="28" indent="-14">
              <a:spcAft>
                <a:spcPts val="8"/>
              </a:spcAft>
              <a:buChar char="•"/>
              <a:def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了解切片=把模型切成一层层路径</a:t>
            </a:r>
          </a:p>
          <a:p xmlns:a="http://schemas.openxmlformats.org/drawingml/2006/main">
            <a:pPr marL="28" indent="-14">
              <a:spcAft>
                <a:spcPts val="8"/>
              </a:spcAft>
              <a:buChar char="•"/>
              <a:def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思考桥梁结构、填充密度与承重能力的关系</a:t>
            </a:r>
          </a:p>
          <a:p xmlns:a="http://schemas.openxmlformats.org/drawingml/2006/main">
            <a:pPr marL="28" indent="-14">
              <a:spcAft>
                <a:spcPts val="8"/>
              </a:spcAft>
              <a:buChar char="•"/>
              <a:def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复习3D打印安全规范</a:t>
            </a:r>
          </a:p>
        </p:txBody>
      </p:sp>
    </p:spTree>
    <p:extLst>
      <p:ext uri="{BB962C8B-B14F-4D97-AF65-F5344CB8AC3E}">
        <p14:creationId xmlns:p14="http://schemas.microsoft.com/office/powerpoint/2010/main" val="8845032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42637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op-accent">
            <a:extLst xmlns:a="http://schemas.openxmlformats.org/drawingml/2006/main">
              <a:ext uri="{FF2B5EF4-FFF2-40B4-BE49-F238E27FC236}">
                <a16:creationId xmlns:a16="http://schemas.microsoft.com/office/drawing/2014/main" id="{C51059EA-5D8A-4B14-9CF0-F012E3B55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93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CDC4CB9-CCFC-4A1F-B6E2-84B5D27F0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STL格式</a:t>
            </a:r>
          </a:p>
        </p:txBody>
      </p:sp>
      <p:sp>
        <p:nvSpPr>
          <p:cNvPr id="3" name="slide-icon">
            <a:extLst xmlns:a="http://schemas.openxmlformats.org/drawingml/2006/main">
              <a:ext uri="{FF2B5EF4-FFF2-40B4-BE49-F238E27FC236}">
                <a16:creationId xmlns:a16="http://schemas.microsoft.com/office/drawing/2014/main" id="{E3F96F1E-7984-46CC-BED4-9CFACD738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📄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448BDC2F-91DC-44DE-AC6C-2BB59689A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8889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CBD5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CBD5E0"/>
                </a:solidFill>
                <a:latin typeface="Microsoft YaHei"/>
                <a:ea typeface="Microsoft YaHei"/>
                <a:cs typeface="Microsoft YaHei"/>
              </a:rPr>
              <a:t>模块五  ·  3</a:t>
            </a:r>
          </a:p>
        </p:txBody>
      </p:sp>
      <p:sp>
        <p:nvSpPr>
          <p:cNvPr id="5" name="code-intro">
            <a:extLst xmlns:a="http://schemas.openxmlformats.org/drawingml/2006/main">
              <a:ext uri="{FF2B5EF4-FFF2-40B4-BE49-F238E27FC236}">
                <a16:creationId xmlns:a16="http://schemas.microsoft.com/office/drawing/2014/main" id="{A1C63DD1-674A-472F-8044-CC962B8AB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CBD5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CBD5E0"/>
                </a:solidFill>
                <a:latin typeface="Microsoft YaHei"/>
                <a:ea typeface="Microsoft YaHei"/>
                <a:cs typeface="Microsoft YaHei"/>
              </a:rPr>
              <a:t>3D打印通用格式，用三角网格描述表面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82B6FA0C-B98B-4C8A-AD79-671283B0B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667500" cy="4857750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 w="9525">
            <a:solidFill>
              <a:srgbClr val="4A5568"/>
            </a:solidFill>
            <a:prstDash val="solid"/>
          </a:ln>
        </p:spPr>
      </p:sp>
      <p:sp>
        <p:nvSpPr>
          <p:cNvPr id="7" name="editable-code">
            <a:extLst xmlns:a="http://schemas.openxmlformats.org/drawingml/2006/main">
              <a:ext uri="{FF2B5EF4-FFF2-40B4-BE49-F238E27FC236}">
                <a16:creationId xmlns:a16="http://schemas.microsoft.com/office/drawing/2014/main" id="{1C905F55-93E1-4637-9890-693C9C282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38300"/>
            <a:ext cx="6286500" cy="451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# 导出STL</a:t>
            </a:r>
          </a:p>
          <a:p xmlns:a="http://schemas.openxmlformats.org/drawingml/2006/main">
            <a:pPr algn="l">
              <a:defRPr sz="15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import FreeCAD</a:t>
            </a:r>
          </a:p>
          <a:p xmlns:a="http://schemas.openxmlformats.org/drawingml/2006/main">
            <a:pPr algn="l">
              <a:defRPr sz="15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import FreeCADGui</a:t>
            </a:r>
          </a:p>
          <a:p xmlns:a="http://schemas.openxmlformats.org/drawingml/2006/main">
            <a:pPr algn="l">
              <a:defRPr sz="15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import Mesh</a:t>
            </a:r>
          </a:p>
          <a:p xmlns:a="http://schemas.openxmlformats.org/drawingml/2006/main">
            <a:pPr algn="l">
              <a:defRPr sz="15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selection = FreeCADGui.Selection.getSelection()</a:t>
            </a:r>
          </a:p>
          <a:p xmlns:a="http://schemas.openxmlformats.org/drawingml/2006/main">
            <a:pPr algn="l">
              <a:defRPr sz="15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Mesh.export([selection[0]], '学号-姓名-钥匙扣.stl')</a:t>
            </a:r>
          </a:p>
          <a:p xmlns:a="http://schemas.openxmlformats.org/drawingml/2006/main">
            <a:pPr algn="l">
              <a:defRPr sz="15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print('STL导出成功！')</a:t>
            </a:r>
          </a:p>
        </p:txBody>
      </p:sp>
      <p:sp>
        <p:nvSpPr>
          <p:cNvPr id="8" name="explain-1">
            <a:extLst xmlns:a="http://schemas.openxmlformats.org/drawingml/2006/main">
              <a:ext uri="{FF2B5EF4-FFF2-40B4-BE49-F238E27FC236}">
                <a16:creationId xmlns:a16="http://schemas.microsoft.com/office/drawing/2014/main" id="{4BDDB075-94BE-424F-8A58-DAD37FEED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466850"/>
            <a:ext cx="41910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>
              <a:alpha val="7843"/>
            </a:srgbClr>
          </a:solidFill>
          <a:ln xmlns:a="http://schemas.openxmlformats.org/drawingml/2006/main" w="19050">
            <a:solidFill>
              <a:srgbClr val="89B4FA"/>
            </a:solidFill>
            <a:prstDash val="solid"/>
          </a:ln>
        </p:spPr>
      </p:sp>
      <p:sp>
        <p:nvSpPr>
          <p:cNvPr id="9" name="explain-text-1">
            <a:extLst xmlns:a="http://schemas.openxmlformats.org/drawingml/2006/main">
              <a:ext uri="{FF2B5EF4-FFF2-40B4-BE49-F238E27FC236}">
                <a16:creationId xmlns:a16="http://schemas.microsoft.com/office/drawing/2014/main" id="{C5982B93-1699-41B3-A861-20923715E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524000"/>
            <a:ext cx="3962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逐行作用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读取对象树选择列表，取第1个对象交给Mesh.export()转换为STL三角网格。</a:t>
            </a:r>
          </a:p>
        </p:txBody>
      </p:sp>
      <p:sp>
        <p:nvSpPr>
          <p:cNvPr id="10" name="explain-2">
            <a:extLst xmlns:a="http://schemas.openxmlformats.org/drawingml/2006/main">
              <a:ext uri="{FF2B5EF4-FFF2-40B4-BE49-F238E27FC236}">
                <a16:creationId xmlns:a16="http://schemas.microsoft.com/office/drawing/2014/main" id="{E273A3CB-C83E-40AB-9607-9329D4CC0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457450"/>
            <a:ext cx="41910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>
              <a:alpha val="7843"/>
            </a:srgbClr>
          </a:solidFill>
          <a:ln xmlns:a="http://schemas.openxmlformats.org/drawingml/2006/main" w="19050">
            <a:solidFill>
              <a:srgbClr val="89B4FA"/>
            </a:solidFill>
            <a:prstDash val="solid"/>
          </a:ln>
        </p:spPr>
      </p:sp>
      <p:sp>
        <p:nvSpPr>
          <p:cNvPr id="11" name="explain-text-2">
            <a:extLst xmlns:a="http://schemas.openxmlformats.org/drawingml/2006/main">
              <a:ext uri="{FF2B5EF4-FFF2-40B4-BE49-F238E27FC236}">
                <a16:creationId xmlns:a16="http://schemas.microsoft.com/office/drawing/2014/main" id="{678D4948-33AD-467E-B361-CCB2EA306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514600"/>
            <a:ext cx="3962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运行前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在对象树中单击最终实体；导出后到文件目录确认STL实际存在。</a:t>
            </a:r>
          </a:p>
        </p:txBody>
      </p:sp>
      <p:sp>
        <p:nvSpPr>
          <p:cNvPr id="12" name="explain-3">
            <a:extLst xmlns:a="http://schemas.openxmlformats.org/drawingml/2006/main">
              <a:ext uri="{FF2B5EF4-FFF2-40B4-BE49-F238E27FC236}">
                <a16:creationId xmlns:a16="http://schemas.microsoft.com/office/drawing/2014/main" id="{3CF5C5D0-2DDB-4819-BF1B-CFF09940F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448050"/>
            <a:ext cx="41910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>
              <a:alpha val="7843"/>
            </a:srgbClr>
          </a:solidFill>
          <a:ln xmlns:a="http://schemas.openxmlformats.org/drawingml/2006/main" w="19050">
            <a:solidFill>
              <a:srgbClr val="89B4FA"/>
            </a:solidFill>
            <a:prstDash val="solid"/>
          </a:ln>
        </p:spPr>
      </p:sp>
      <p:sp>
        <p:nvSpPr>
          <p:cNvPr id="13" name="explain-text-3">
            <a:extLst xmlns:a="http://schemas.openxmlformats.org/drawingml/2006/main">
              <a:ext uri="{FF2B5EF4-FFF2-40B4-BE49-F238E27FC236}">
                <a16:creationId xmlns:a16="http://schemas.microsoft.com/office/drawing/2014/main" id="{98D19552-CB6D-4AE5-ACEC-10CD64952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505200"/>
            <a:ext cx="3962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易错点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STL不保存参数和历史，必须同时保留FCStd；不要误选草图或单个零件特征。</a:t>
            </a:r>
          </a:p>
        </p:txBody>
      </p:sp>
    </p:spTree>
    <p:extLst>
      <p:ext uri="{BB962C8B-B14F-4D97-AF65-F5344CB8AC3E}">
        <p14:creationId xmlns:p14="http://schemas.microsoft.com/office/powerpoint/2010/main" val="2870814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9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op-accent">
            <a:extLst xmlns:a="http://schemas.openxmlformats.org/drawingml/2006/main">
              <a:ext uri="{FF2B5EF4-FFF2-40B4-BE49-F238E27FC236}">
                <a16:creationId xmlns:a16="http://schemas.microsoft.com/office/drawing/2014/main" id="{1C68BBD5-F361-4BBF-B210-0FC5B437D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E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C80BE00-53B6-45FD-B0AC-7D848010F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模型检查</a:t>
            </a:r>
          </a:p>
        </p:txBody>
      </p:sp>
      <p:sp>
        <p:nvSpPr>
          <p:cNvPr id="3" name="slide-icon">
            <a:extLst xmlns:a="http://schemas.openxmlformats.org/drawingml/2006/main">
              <a:ext uri="{FF2B5EF4-FFF2-40B4-BE49-F238E27FC236}">
                <a16:creationId xmlns:a16="http://schemas.microsoft.com/office/drawing/2014/main" id="{ED79EE9F-72EA-49CE-A51A-B56C1908D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🔍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3021C568-A808-4460-806E-63E2884EF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8889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rPr>
              <a:t>模块五  ·  4</a:t>
            </a:r>
          </a:p>
        </p:txBody>
      </p:sp>
      <p:sp>
        <p:nvSpPr>
          <p:cNvPr id="5" name="bullet-list">
            <a:extLst xmlns:a="http://schemas.openxmlformats.org/drawingml/2006/main">
              <a:ext uri="{FF2B5EF4-FFF2-40B4-BE49-F238E27FC236}">
                <a16:creationId xmlns:a16="http://schemas.microsoft.com/office/drawing/2014/main" id="{6DCF4AB2-7959-4564-9B64-CE0C02D4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371600"/>
            <a:ext cx="9906000" cy="4572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D"/>
            </a:solidFill>
            <a:prstDash val="solid"/>
          </a:ln>
        </p:spPr>
        <p:txBody>
          <a:bodyPr xmlns:a="http://schemas.openxmlformats.org/drawingml/2006/main" lIns="209550" tIns="171450" rIns="190500" bIns="133350">
            <a:normAutofit fontScale="100000"/>
          </a:bodyPr>
          <a:lstStyle xmlns:a="http://schemas.openxmlformats.org/drawingml/2006/main"/>
          <a:p xmlns:a="http://schemas.openxmlformats.org/drawingml/2006/main">
            <a:pPr marL="28" indent="-14">
              <a:spcAft>
                <a:spcPts val="8"/>
              </a:spcAft>
              <a:buChar char="•"/>
              <a:defRPr sz="180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破面（非流形）：面片有缺口</a:t>
            </a:r>
          </a:p>
          <a:p xmlns:a="http://schemas.openxmlformats.org/drawingml/2006/main">
            <a:pPr marL="28" indent="-14">
              <a:spcAft>
                <a:spcPts val="8"/>
              </a:spcAft>
              <a:buChar char="•"/>
              <a:defRPr sz="180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反转面：法线方向错误</a:t>
            </a:r>
          </a:p>
          <a:p xmlns:a="http://schemas.openxmlformats.org/drawingml/2006/main">
            <a:pPr marL="28" indent="-14">
              <a:spcAft>
                <a:spcPts val="8"/>
              </a:spcAft>
              <a:buChar char="•"/>
              <a:defRPr sz="180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零厚度：壁厚为0</a:t>
            </a:r>
          </a:p>
          <a:p xmlns:a="http://schemas.openxmlformats.org/drawingml/2006/main">
            <a:pPr marL="28" indent="-14">
              <a:spcAft>
                <a:spcPts val="8"/>
              </a:spcAft>
              <a:buChar char="•"/>
              <a:defRPr sz="180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Cura导入时自动检查并提示</a:t>
            </a:r>
          </a:p>
        </p:txBody>
      </p:sp>
    </p:spTree>
    <p:extLst>
      <p:ext uri="{BB962C8B-B14F-4D97-AF65-F5344CB8AC3E}">
        <p14:creationId xmlns:p14="http://schemas.microsoft.com/office/powerpoint/2010/main" val="5342383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667E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op-accent">
            <a:extLst xmlns:a="http://schemas.openxmlformats.org/drawingml/2006/main">
              <a:ext uri="{FF2B5EF4-FFF2-40B4-BE49-F238E27FC236}">
                <a16:creationId xmlns:a16="http://schemas.microsoft.com/office/drawing/2014/main" id="{48A62912-D20F-4B31-9836-29269CE75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93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18CC491-B9FD-4C02-B9A4-915563A6C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Cura切片</a:t>
            </a:r>
          </a:p>
        </p:txBody>
      </p:sp>
      <p:sp>
        <p:nvSpPr>
          <p:cNvPr id="3" name="slide-icon">
            <a:extLst xmlns:a="http://schemas.openxmlformats.org/drawingml/2006/main">
              <a:ext uri="{FF2B5EF4-FFF2-40B4-BE49-F238E27FC236}">
                <a16:creationId xmlns:a16="http://schemas.microsoft.com/office/drawing/2014/main" id="{0FA5458A-7510-4758-8324-F24A0822F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⚙️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BE29A214-FE71-435D-9B8B-FB2E2C9DD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8889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E9E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9E8FF"/>
                </a:solidFill>
                <a:latin typeface="Microsoft YaHei"/>
                <a:ea typeface="Microsoft YaHei"/>
                <a:cs typeface="Microsoft YaHei"/>
              </a:rPr>
              <a:t>模块五  ·  5</a:t>
            </a:r>
          </a:p>
        </p:txBody>
      </p:sp>
      <p:sp>
        <p:nvSpPr>
          <p:cNvPr id="5" name="list-intro">
            <a:extLst xmlns:a="http://schemas.openxmlformats.org/drawingml/2006/main">
              <a:ext uri="{FF2B5EF4-FFF2-40B4-BE49-F238E27FC236}">
                <a16:creationId xmlns:a16="http://schemas.microsoft.com/office/drawing/2014/main" id="{5C80D6F7-3673-44BD-8A91-7EF3224F6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104900"/>
            <a:ext cx="10553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E9E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9E8FF"/>
                </a:solidFill>
                <a:latin typeface="Microsoft YaHei"/>
                <a:ea typeface="Microsoft YaHei"/>
                <a:cs typeface="Microsoft YaHei"/>
              </a:rPr>
              <a:t>把3D模型切成一层层2D路径</a:t>
            </a:r>
          </a:p>
        </p:txBody>
      </p:sp>
      <p:sp>
        <p:nvSpPr>
          <p:cNvPr id="6" name="bullet-list">
            <a:extLst xmlns:a="http://schemas.openxmlformats.org/drawingml/2006/main">
              <a:ext uri="{FF2B5EF4-FFF2-40B4-BE49-F238E27FC236}">
                <a16:creationId xmlns:a16="http://schemas.microsoft.com/office/drawing/2014/main" id="{7F78FAA9-4AD5-41D6-A022-A2FDF6D39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76400"/>
            <a:ext cx="9906000" cy="4572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9525">
            <a:solidFill>
              <a:srgbClr val="FFFFFF">
                <a:alpha val="26667"/>
              </a:srgbClr>
            </a:solidFill>
            <a:prstDash val="solid"/>
          </a:ln>
        </p:spPr>
        <p:txBody>
          <a:bodyPr xmlns:a="http://schemas.openxmlformats.org/drawingml/2006/main" lIns="209550" tIns="171450" rIns="190500" bIns="133350">
            <a:normAutofit fontScale="100000"/>
          </a:bodyPr>
          <a:lstStyle xmlns:a="http://schemas.openxmlformats.org/drawingml/2006/main"/>
          <a:p xmlns:a="http://schemas.openxmlformats.org/drawingml/2006/main">
            <a:pPr marL="28" indent="-14">
              <a:spcAft>
                <a:spcPts val="8"/>
              </a:spcAft>
              <a:buChar char="•"/>
              <a:def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1. 导入STL</a:t>
            </a:r>
          </a:p>
          <a:p xmlns:a="http://schemas.openxmlformats.org/drawingml/2006/main">
            <a:pPr marL="28" indent="-14">
              <a:spcAft>
                <a:spcPts val="8"/>
              </a:spcAft>
              <a:buChar char="•"/>
              <a:def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2. 设置参数（层高/填充/支撑）</a:t>
            </a:r>
          </a:p>
          <a:p xmlns:a="http://schemas.openxmlformats.org/drawingml/2006/main">
            <a:pPr marL="28" indent="-14">
              <a:spcAft>
                <a:spcPts val="8"/>
              </a:spcAft>
              <a:buChar char="•"/>
              <a:def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3. 点『切片』</a:t>
            </a:r>
          </a:p>
          <a:p xmlns:a="http://schemas.openxmlformats.org/drawingml/2006/main">
            <a:pPr marL="28" indent="-14">
              <a:spcAft>
                <a:spcPts val="8"/>
              </a:spcAft>
              <a:buChar char="•"/>
              <a:def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4. 保存G-code到SD卡</a:t>
            </a:r>
          </a:p>
        </p:txBody>
      </p:sp>
    </p:spTree>
    <p:extLst>
      <p:ext uri="{BB962C8B-B14F-4D97-AF65-F5344CB8AC3E}">
        <p14:creationId xmlns:p14="http://schemas.microsoft.com/office/powerpoint/2010/main" val="17244215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42637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op-accent">
            <a:extLst xmlns:a="http://schemas.openxmlformats.org/drawingml/2006/main">
              <a:ext uri="{FF2B5EF4-FFF2-40B4-BE49-F238E27FC236}">
                <a16:creationId xmlns:a16="http://schemas.microsoft.com/office/drawing/2014/main" id="{B494176E-5584-471A-9766-FB44728A3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93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85D4F54-82EC-43DD-8A3A-86E9858D5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层高</a:t>
            </a:r>
          </a:p>
        </p:txBody>
      </p:sp>
      <p:sp>
        <p:nvSpPr>
          <p:cNvPr id="3" name="slide-icon">
            <a:extLst xmlns:a="http://schemas.openxmlformats.org/drawingml/2006/main">
              <a:ext uri="{FF2B5EF4-FFF2-40B4-BE49-F238E27FC236}">
                <a16:creationId xmlns:a16="http://schemas.microsoft.com/office/drawing/2014/main" id="{D42D14D6-85B2-487B-A674-ADC87F9F9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📏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03A09A5C-2803-4F0D-996F-C21F649D2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8889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CBD5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CBD5E0"/>
                </a:solidFill>
                <a:latin typeface="Microsoft YaHei"/>
                <a:ea typeface="Microsoft YaHei"/>
                <a:cs typeface="Microsoft YaHei"/>
              </a:rPr>
              <a:t>模块五  ·  6</a:t>
            </a:r>
          </a:p>
        </p:txBody>
      </p:sp>
      <p:sp>
        <p:nvSpPr>
          <p:cNvPr id="5" name="card-1">
            <a:extLst xmlns:a="http://schemas.openxmlformats.org/drawingml/2006/main">
              <a:ext uri="{FF2B5EF4-FFF2-40B4-BE49-F238E27FC236}">
                <a16:creationId xmlns:a16="http://schemas.microsoft.com/office/drawing/2014/main" id="{B4D7ECA2-58C8-45D4-AF4C-5E3645665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5295900" cy="2228850"/>
          </a:xfrm>
          <a:prstGeom xmlns:a="http://schemas.openxmlformats.org/drawingml/2006/main" prst="roundRect">
            <a:avLst>
              <a:gd name="adj" fmla="val 6838"/>
            </a:avLst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9525">
            <a:solidFill>
              <a:srgbClr val="FFFFFF">
                <a:alpha val="21961"/>
              </a:srgbClr>
            </a:solidFill>
            <a:prstDash val="solid"/>
          </a:ln>
        </p:spPr>
      </p:sp>
      <p:sp>
        <p:nvSpPr>
          <p:cNvPr id="6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B214EB69-028E-4525-99E8-C695375D9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002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0.1mm</a:t>
            </a:r>
          </a:p>
        </p:txBody>
      </p:sp>
      <p:sp>
        <p:nvSpPr>
          <p:cNvPr id="7" name="card-body-1">
            <a:extLst xmlns:a="http://schemas.openxmlformats.org/drawingml/2006/main">
              <a:ext uri="{FF2B5EF4-FFF2-40B4-BE49-F238E27FC236}">
                <a16:creationId xmlns:a16="http://schemas.microsoft.com/office/drawing/2014/main" id="{DDB806B6-3B1C-4C0D-A120-4CAA9E910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49530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精细·慢·表面光滑</a:t>
            </a:r>
          </a:p>
        </p:txBody>
      </p:sp>
      <p:sp>
        <p:nvSpPr>
          <p:cNvPr id="8" name="card-2">
            <a:extLst xmlns:a="http://schemas.openxmlformats.org/drawingml/2006/main">
              <a:ext uri="{FF2B5EF4-FFF2-40B4-BE49-F238E27FC236}">
                <a16:creationId xmlns:a16="http://schemas.microsoft.com/office/drawing/2014/main" id="{D1E72A46-136A-4836-9800-40F380B72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466850"/>
            <a:ext cx="5295900" cy="2228850"/>
          </a:xfrm>
          <a:prstGeom xmlns:a="http://schemas.openxmlformats.org/drawingml/2006/main" prst="roundRect">
            <a:avLst>
              <a:gd name="adj" fmla="val 6838"/>
            </a:avLst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9525">
            <a:solidFill>
              <a:srgbClr val="FFFFFF">
                <a:alpha val="21961"/>
              </a:srgbClr>
            </a:solidFill>
            <a:prstDash val="solid"/>
          </a:ln>
        </p:spPr>
      </p:sp>
      <p:sp>
        <p:nvSpPr>
          <p:cNvPr id="9" name="card-title-2">
            <a:extLst xmlns:a="http://schemas.openxmlformats.org/drawingml/2006/main">
              <a:ext uri="{FF2B5EF4-FFF2-40B4-BE49-F238E27FC236}">
                <a16:creationId xmlns:a16="http://schemas.microsoft.com/office/drawing/2014/main" id="{44F679ED-94DF-42A5-9140-0AB802A27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002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0.2mm</a:t>
            </a:r>
          </a:p>
        </p:txBody>
      </p:sp>
      <p:sp>
        <p:nvSpPr>
          <p:cNvPr id="10" name="card-body-2">
            <a:extLst xmlns:a="http://schemas.openxmlformats.org/drawingml/2006/main">
              <a:ext uri="{FF2B5EF4-FFF2-40B4-BE49-F238E27FC236}">
                <a16:creationId xmlns:a16="http://schemas.microsoft.com/office/drawing/2014/main" id="{8A555349-E3BF-4CA3-99C9-9FDE17E98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57400"/>
            <a:ext cx="49530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标准·推荐·平衡</a:t>
            </a:r>
          </a:p>
        </p:txBody>
      </p:sp>
      <p:sp>
        <p:nvSpPr>
          <p:cNvPr id="11" name="card-3">
            <a:extLst xmlns:a="http://schemas.openxmlformats.org/drawingml/2006/main">
              <a:ext uri="{FF2B5EF4-FFF2-40B4-BE49-F238E27FC236}">
                <a16:creationId xmlns:a16="http://schemas.microsoft.com/office/drawing/2014/main" id="{5CEA74DD-C489-42AE-9E6F-2695F857F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5295900" cy="2228850"/>
          </a:xfrm>
          <a:prstGeom xmlns:a="http://schemas.openxmlformats.org/drawingml/2006/main" prst="roundRect">
            <a:avLst>
              <a:gd name="adj" fmla="val 6838"/>
            </a:avLst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9525">
            <a:solidFill>
              <a:srgbClr val="FFFFFF">
                <a:alpha val="21961"/>
              </a:srgbClr>
            </a:solidFill>
            <a:prstDash val="solid"/>
          </a:ln>
        </p:spPr>
      </p:sp>
      <p:sp>
        <p:nvSpPr>
          <p:cNvPr id="12" name="card-title-3">
            <a:extLst xmlns:a="http://schemas.openxmlformats.org/drawingml/2006/main">
              <a:ext uri="{FF2B5EF4-FFF2-40B4-BE49-F238E27FC236}">
                <a16:creationId xmlns:a16="http://schemas.microsoft.com/office/drawing/2014/main" id="{4B4FD893-5946-4423-BA51-B6815877C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0.3mm</a:t>
            </a:r>
          </a:p>
        </p:txBody>
      </p:sp>
      <p:sp>
        <p:nvSpPr>
          <p:cNvPr id="13" name="card-body-3">
            <a:extLst xmlns:a="http://schemas.openxmlformats.org/drawingml/2006/main">
              <a:ext uri="{FF2B5EF4-FFF2-40B4-BE49-F238E27FC236}">
                <a16:creationId xmlns:a16="http://schemas.microsoft.com/office/drawing/2014/main" id="{83BB600E-7606-4257-9227-E591A697F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57700"/>
            <a:ext cx="49530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快速·粗糙·有层纹</a:t>
            </a:r>
          </a:p>
        </p:txBody>
      </p:sp>
    </p:spTree>
    <p:extLst>
      <p:ext uri="{BB962C8B-B14F-4D97-AF65-F5344CB8AC3E}">
        <p14:creationId xmlns:p14="http://schemas.microsoft.com/office/powerpoint/2010/main" val="7506139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42637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op-accent">
            <a:extLst xmlns:a="http://schemas.openxmlformats.org/drawingml/2006/main">
              <a:ext uri="{FF2B5EF4-FFF2-40B4-BE49-F238E27FC236}">
                <a16:creationId xmlns:a16="http://schemas.microsoft.com/office/drawing/2014/main" id="{11CEE3CF-5F7C-4580-8EEC-3B34CBC7E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93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E6D1870-B305-4F05-8073-84525FB38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填充</a:t>
            </a:r>
          </a:p>
        </p:txBody>
      </p:sp>
      <p:sp>
        <p:nvSpPr>
          <p:cNvPr id="3" name="slide-icon">
            <a:extLst xmlns:a="http://schemas.openxmlformats.org/drawingml/2006/main">
              <a:ext uri="{FF2B5EF4-FFF2-40B4-BE49-F238E27FC236}">
                <a16:creationId xmlns:a16="http://schemas.microsoft.com/office/drawing/2014/main" id="{CBC7DD95-7561-4768-9EE8-7D0A25651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🔲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F2AAAA86-B148-4F7A-9FB6-0C9CA0F20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8889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CBD5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CBD5E0"/>
                </a:solidFill>
                <a:latin typeface="Microsoft YaHei"/>
                <a:ea typeface="Microsoft YaHei"/>
                <a:cs typeface="Microsoft YaHei"/>
              </a:rPr>
              <a:t>模块五  ·  7</a:t>
            </a:r>
          </a:p>
        </p:txBody>
      </p:sp>
      <p:sp>
        <p:nvSpPr>
          <p:cNvPr id="5" name="card-1">
            <a:extLst xmlns:a="http://schemas.openxmlformats.org/drawingml/2006/main">
              <a:ext uri="{FF2B5EF4-FFF2-40B4-BE49-F238E27FC236}">
                <a16:creationId xmlns:a16="http://schemas.microsoft.com/office/drawing/2014/main" id="{001D5192-EE8B-4F7D-B56D-E40E6B60E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5295900" cy="2228850"/>
          </a:xfrm>
          <a:prstGeom xmlns:a="http://schemas.openxmlformats.org/drawingml/2006/main" prst="roundRect">
            <a:avLst>
              <a:gd name="adj" fmla="val 6838"/>
            </a:avLst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9525">
            <a:solidFill>
              <a:srgbClr val="FFFFFF">
                <a:alpha val="21961"/>
              </a:srgbClr>
            </a:solidFill>
            <a:prstDash val="solid"/>
          </a:ln>
        </p:spPr>
      </p:sp>
      <p:sp>
        <p:nvSpPr>
          <p:cNvPr id="6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D1722AA6-97B0-42A8-9921-284DBC8A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002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20%</a:t>
            </a:r>
          </a:p>
        </p:txBody>
      </p:sp>
      <p:sp>
        <p:nvSpPr>
          <p:cNvPr id="7" name="card-body-1">
            <a:extLst xmlns:a="http://schemas.openxmlformats.org/drawingml/2006/main">
              <a:ext uri="{FF2B5EF4-FFF2-40B4-BE49-F238E27FC236}">
                <a16:creationId xmlns:a16="http://schemas.microsoft.com/office/drawing/2014/main" id="{94F0BC86-1600-4809-84DA-384B6B2C8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49530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常用·够强度·省时省料</a:t>
            </a:r>
          </a:p>
        </p:txBody>
      </p:sp>
      <p:sp>
        <p:nvSpPr>
          <p:cNvPr id="8" name="card-2">
            <a:extLst xmlns:a="http://schemas.openxmlformats.org/drawingml/2006/main">
              <a:ext uri="{FF2B5EF4-FFF2-40B4-BE49-F238E27FC236}">
                <a16:creationId xmlns:a16="http://schemas.microsoft.com/office/drawing/2014/main" id="{B76319AB-D3A2-483B-9F7D-6146E30EE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466850"/>
            <a:ext cx="5295900" cy="2228850"/>
          </a:xfrm>
          <a:prstGeom xmlns:a="http://schemas.openxmlformats.org/drawingml/2006/main" prst="roundRect">
            <a:avLst>
              <a:gd name="adj" fmla="val 6838"/>
            </a:avLst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9525">
            <a:solidFill>
              <a:srgbClr val="FFFFFF">
                <a:alpha val="21961"/>
              </a:srgbClr>
            </a:solidFill>
            <a:prstDash val="solid"/>
          </a:ln>
        </p:spPr>
      </p:sp>
      <p:sp>
        <p:nvSpPr>
          <p:cNvPr id="9" name="card-title-2">
            <a:extLst xmlns:a="http://schemas.openxmlformats.org/drawingml/2006/main">
              <a:ext uri="{FF2B5EF4-FFF2-40B4-BE49-F238E27FC236}">
                <a16:creationId xmlns:a16="http://schemas.microsoft.com/office/drawing/2014/main" id="{7D2FD940-15C5-4BC1-A6EE-4FEDACDB8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002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50%</a:t>
            </a:r>
          </a:p>
        </p:txBody>
      </p:sp>
      <p:sp>
        <p:nvSpPr>
          <p:cNvPr id="10" name="card-body-2">
            <a:extLst xmlns:a="http://schemas.openxmlformats.org/drawingml/2006/main">
              <a:ext uri="{FF2B5EF4-FFF2-40B4-BE49-F238E27FC236}">
                <a16:creationId xmlns:a16="http://schemas.microsoft.com/office/drawing/2014/main" id="{841A90FA-622D-412E-B035-B0745A907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57400"/>
            <a:ext cx="49530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较高强度·受力件</a:t>
            </a:r>
          </a:p>
        </p:txBody>
      </p:sp>
      <p:sp>
        <p:nvSpPr>
          <p:cNvPr id="11" name="card-3">
            <a:extLst xmlns:a="http://schemas.openxmlformats.org/drawingml/2006/main">
              <a:ext uri="{FF2B5EF4-FFF2-40B4-BE49-F238E27FC236}">
                <a16:creationId xmlns:a16="http://schemas.microsoft.com/office/drawing/2014/main" id="{07999F68-AE07-4694-8FB5-B191D3427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5295900" cy="2228850"/>
          </a:xfrm>
          <a:prstGeom xmlns:a="http://schemas.openxmlformats.org/drawingml/2006/main" prst="roundRect">
            <a:avLst>
              <a:gd name="adj" fmla="val 6838"/>
            </a:avLst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9525">
            <a:solidFill>
              <a:srgbClr val="FFFFFF">
                <a:alpha val="21961"/>
              </a:srgbClr>
            </a:solidFill>
            <a:prstDash val="solid"/>
          </a:ln>
        </p:spPr>
      </p:sp>
      <p:sp>
        <p:nvSpPr>
          <p:cNvPr id="12" name="card-title-3">
            <a:extLst xmlns:a="http://schemas.openxmlformats.org/drawingml/2006/main">
              <a:ext uri="{FF2B5EF4-FFF2-40B4-BE49-F238E27FC236}">
                <a16:creationId xmlns:a16="http://schemas.microsoft.com/office/drawing/2014/main" id="{73F7F081-48FB-42CF-8D83-9506744C0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100%</a:t>
            </a:r>
          </a:p>
        </p:txBody>
      </p:sp>
      <p:sp>
        <p:nvSpPr>
          <p:cNvPr id="13" name="card-body-3">
            <a:extLst xmlns:a="http://schemas.openxmlformats.org/drawingml/2006/main">
              <a:ext uri="{FF2B5EF4-FFF2-40B4-BE49-F238E27FC236}">
                <a16:creationId xmlns:a16="http://schemas.microsoft.com/office/drawing/2014/main" id="{C69037E4-1DDF-48B2-8FC8-5AE0494F5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57700"/>
            <a:ext cx="49530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实心·最结实·最慢</a:t>
            </a:r>
          </a:p>
        </p:txBody>
      </p:sp>
    </p:spTree>
    <p:extLst>
      <p:ext uri="{BB962C8B-B14F-4D97-AF65-F5344CB8AC3E}">
        <p14:creationId xmlns:p14="http://schemas.microsoft.com/office/powerpoint/2010/main" val="6218390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42637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op-accent">
            <a:extLst xmlns:a="http://schemas.openxmlformats.org/drawingml/2006/main">
              <a:ext uri="{FF2B5EF4-FFF2-40B4-BE49-F238E27FC236}">
                <a16:creationId xmlns:a16="http://schemas.microsoft.com/office/drawing/2014/main" id="{6ADD7B05-D709-4D30-8F45-928C1722B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93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852304F-962E-496B-9A63-EFF77EFD1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支撑</a:t>
            </a:r>
          </a:p>
        </p:txBody>
      </p:sp>
      <p:sp>
        <p:nvSpPr>
          <p:cNvPr id="3" name="slide-icon">
            <a:extLst xmlns:a="http://schemas.openxmlformats.org/drawingml/2006/main">
              <a:ext uri="{FF2B5EF4-FFF2-40B4-BE49-F238E27FC236}">
                <a16:creationId xmlns:a16="http://schemas.microsoft.com/office/drawing/2014/main" id="{C5E91BA4-7C93-4538-8491-33A611A39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🏗️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C4E7180C-3D41-4531-BDAE-ED36E4A34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8889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CBD5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CBD5E0"/>
                </a:solidFill>
                <a:latin typeface="Microsoft YaHei"/>
                <a:ea typeface="Microsoft YaHei"/>
                <a:cs typeface="Microsoft YaHei"/>
              </a:rPr>
              <a:t>模块五  ·  8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e865119976403a"/>
          <a:stretch xmlns:a="http://schemas.openxmlformats.org/drawingml/2006/main"/>
        </p:blipFill>
        <p:spPr>
          <a:xfrm xmlns:a="http://schemas.openxmlformats.org/drawingml/2006/main">
            <a:off x="3009900" y="1295400"/>
            <a:ext cx="6172200" cy="4114800"/>
          </a:xfrm>
          <a:prstGeom xmlns:a="http://schemas.openxmlformats.org/drawingml/2006/main" prst="roundRect">
            <a:avLst>
              <a:gd name="adj" fmla="val 3241"/>
            </a:avLst>
          </a:prstGeom>
        </p:spPr>
      </p:pic>
      <p:sp>
        <p:nvSpPr>
          <p:cNvPr id="6" name="image-caption">
            <a:extLst xmlns:a="http://schemas.openxmlformats.org/drawingml/2006/main">
              <a:ext uri="{FF2B5EF4-FFF2-40B4-BE49-F238E27FC236}">
                <a16:creationId xmlns:a16="http://schemas.microsoft.com/office/drawing/2014/main" id="{3EC336EF-97E0-44A1-A75F-0E1BD6B98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0545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悬空&gt;45°需要支撑</a:t>
            </a:r>
          </a:p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支撑打印后需拆除</a:t>
            </a:r>
          </a:p>
        </p:txBody>
      </p:sp>
    </p:spTree>
    <p:extLst>
      <p:ext uri="{BB962C8B-B14F-4D97-AF65-F5344CB8AC3E}">
        <p14:creationId xmlns:p14="http://schemas.microsoft.com/office/powerpoint/2010/main" val="20156812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85D7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accent">
            <a:extLst xmlns:a="http://schemas.openxmlformats.org/drawingml/2006/main">
              <a:ext uri="{FF2B5EF4-FFF2-40B4-BE49-F238E27FC236}">
                <a16:creationId xmlns:a16="http://schemas.microsoft.com/office/drawing/2014/main" id="{68A1B0E5-39EB-45B4-BCF1-42A61009D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93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410C4BD-4238-4308-84F2-4FDA89E73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安全规范</a:t>
            </a:r>
          </a:p>
        </p:txBody>
      </p:sp>
      <p:sp>
        <p:nvSpPr>
          <p:cNvPr id="3" name="slide-icon">
            <a:extLst xmlns:a="http://schemas.openxmlformats.org/drawingml/2006/main">
              <a:ext uri="{FF2B5EF4-FFF2-40B4-BE49-F238E27FC236}">
                <a16:creationId xmlns:a16="http://schemas.microsoft.com/office/drawing/2014/main" id="{5A9F1B75-AA30-424B-99F5-666A6232B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⚠️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FED64A0A-0349-41B6-8744-F754219DF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8889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FFF5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FFF5F5"/>
                </a:solidFill>
                <a:latin typeface="Microsoft YaHei"/>
                <a:ea typeface="Microsoft YaHei"/>
                <a:cs typeface="Microsoft YaHei"/>
              </a:rPr>
              <a:t>模块五  ·  9</a:t>
            </a:r>
          </a:p>
        </p:txBody>
      </p:sp>
      <p:sp>
        <p:nvSpPr>
          <p:cNvPr id="5" name="card-1">
            <a:extLst xmlns:a="http://schemas.openxmlformats.org/drawingml/2006/main">
              <a:ext uri="{FF2B5EF4-FFF2-40B4-BE49-F238E27FC236}">
                <a16:creationId xmlns:a16="http://schemas.microsoft.com/office/drawing/2014/main" id="{CADC57A0-F904-443B-B6FA-A929EEBCD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5295900" cy="4629150"/>
          </a:xfrm>
          <a:prstGeom xmlns:a="http://schemas.openxmlformats.org/drawingml/2006/main" prst="roundRect">
            <a:avLst>
              <a:gd name="adj" fmla="val 3292"/>
            </a:avLst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9525">
            <a:solidFill>
              <a:srgbClr val="FFFFFF">
                <a:alpha val="21961"/>
              </a:srgbClr>
            </a:solidFill>
            <a:prstDash val="solid"/>
          </a:ln>
        </p:spPr>
      </p:sp>
      <p:sp>
        <p:nvSpPr>
          <p:cNvPr id="6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3AB6B337-4D76-4C89-9DF8-E708828F2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002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❌ 禁止</a:t>
            </a:r>
          </a:p>
        </p:txBody>
      </p:sp>
      <p:sp>
        <p:nvSpPr>
          <p:cNvPr id="7" name="card-body-1">
            <a:extLst xmlns:a="http://schemas.openxmlformats.org/drawingml/2006/main">
              <a:ext uri="{FF2B5EF4-FFF2-40B4-BE49-F238E27FC236}">
                <a16:creationId xmlns:a16="http://schemas.microsoft.com/office/drawing/2014/main" id="{C739152C-E27F-4EBE-892A-BB4C6FFBD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4953000" cy="388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触摸喷嘴200℃·打印中开门·手取热模型</a:t>
            </a:r>
          </a:p>
        </p:txBody>
      </p:sp>
      <p:sp>
        <p:nvSpPr>
          <p:cNvPr id="8" name="card-2">
            <a:extLst xmlns:a="http://schemas.openxmlformats.org/drawingml/2006/main">
              <a:ext uri="{FF2B5EF4-FFF2-40B4-BE49-F238E27FC236}">
                <a16:creationId xmlns:a16="http://schemas.microsoft.com/office/drawing/2014/main" id="{6B50A47E-4A73-454F-9BBF-3E920D47D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466850"/>
            <a:ext cx="5295900" cy="4629150"/>
          </a:xfrm>
          <a:prstGeom xmlns:a="http://schemas.openxmlformats.org/drawingml/2006/main" prst="roundRect">
            <a:avLst>
              <a:gd name="adj" fmla="val 3292"/>
            </a:avLst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9525">
            <a:solidFill>
              <a:srgbClr val="FFFFFF">
                <a:alpha val="21961"/>
              </a:srgbClr>
            </a:solidFill>
            <a:prstDash val="solid"/>
          </a:ln>
        </p:spPr>
      </p:sp>
      <p:sp>
        <p:nvSpPr>
          <p:cNvPr id="9" name="card-title-2">
            <a:extLst xmlns:a="http://schemas.openxmlformats.org/drawingml/2006/main">
              <a:ext uri="{FF2B5EF4-FFF2-40B4-BE49-F238E27FC236}">
                <a16:creationId xmlns:a16="http://schemas.microsoft.com/office/drawing/2014/main" id="{6F56AFE5-41DB-44C7-B4F1-F926DBE54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002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✅ 必须</a:t>
            </a:r>
          </a:p>
        </p:txBody>
      </p:sp>
      <p:sp>
        <p:nvSpPr>
          <p:cNvPr id="10" name="card-body-2">
            <a:extLst xmlns:a="http://schemas.openxmlformats.org/drawingml/2006/main">
              <a:ext uri="{FF2B5EF4-FFF2-40B4-BE49-F238E27FC236}">
                <a16:creationId xmlns:a16="http://schemas.microsoft.com/office/drawing/2014/main" id="{C01287EA-66DD-42FF-926E-6A893B761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57400"/>
            <a:ext cx="4953000" cy="388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等冷却用铲刀取·异常断电报告·保持整洁</a:t>
            </a:r>
          </a:p>
        </p:txBody>
      </p:sp>
    </p:spTree>
    <p:extLst>
      <p:ext uri="{BB962C8B-B14F-4D97-AF65-F5344CB8AC3E}">
        <p14:creationId xmlns:p14="http://schemas.microsoft.com/office/powerpoint/2010/main" val="36365401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667E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op-accent">
            <a:extLst xmlns:a="http://schemas.openxmlformats.org/drawingml/2006/main">
              <a:ext uri="{FF2B5EF4-FFF2-40B4-BE49-F238E27FC236}">
                <a16:creationId xmlns:a16="http://schemas.microsoft.com/office/drawing/2014/main" id="{D1CD5D55-D471-4FF2-B7A9-E9CE7D995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93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8074CBC-3034-4CF9-823C-576C552AE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打印流程</a:t>
            </a:r>
          </a:p>
        </p:txBody>
      </p:sp>
      <p:sp>
        <p:nvSpPr>
          <p:cNvPr id="3" name="slide-icon">
            <a:extLst xmlns:a="http://schemas.openxmlformats.org/drawingml/2006/main">
              <a:ext uri="{FF2B5EF4-FFF2-40B4-BE49-F238E27FC236}">
                <a16:creationId xmlns:a16="http://schemas.microsoft.com/office/drawing/2014/main" id="{465A647B-B1DB-4F08-8A41-4CECB64BC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🖨️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4F3FB0B2-8F78-41E9-A452-5B9FD67BA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8889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E9E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9E8FF"/>
                </a:solidFill>
                <a:latin typeface="Microsoft YaHei"/>
                <a:ea typeface="Microsoft YaHei"/>
                <a:cs typeface="Microsoft YaHei"/>
              </a:rPr>
              <a:t>模块五  ·  10</a:t>
            </a:r>
          </a:p>
        </p:txBody>
      </p:sp>
      <p:sp>
        <p:nvSpPr>
          <p:cNvPr id="5" name="bullet-list">
            <a:extLst xmlns:a="http://schemas.openxmlformats.org/drawingml/2006/main">
              <a:ext uri="{FF2B5EF4-FFF2-40B4-BE49-F238E27FC236}">
                <a16:creationId xmlns:a16="http://schemas.microsoft.com/office/drawing/2014/main" id="{BB410CED-4393-437F-AF2C-4B7CDC737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371600"/>
            <a:ext cx="9906000" cy="4572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9525">
            <a:solidFill>
              <a:srgbClr val="FFFFFF">
                <a:alpha val="26667"/>
              </a:srgbClr>
            </a:solidFill>
            <a:prstDash val="solid"/>
          </a:ln>
        </p:spPr>
        <p:txBody>
          <a:bodyPr xmlns:a="http://schemas.openxmlformats.org/drawingml/2006/main" lIns="209550" tIns="171450" rIns="190500" bIns="133350">
            <a:normAutofit fontScale="100000"/>
          </a:bodyPr>
          <a:lstStyle xmlns:a="http://schemas.openxmlformats.org/drawingml/2006/main"/>
          <a:p xmlns:a="http://schemas.openxmlformats.org/drawingml/2006/main">
            <a:pPr marL="28" indent="-14">
              <a:spcAft>
                <a:spcPts val="8"/>
              </a:spcAft>
              <a:buChar char="•"/>
              <a:def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1. 开机→预热（喷嘴200℃·热床60℃）</a:t>
            </a:r>
          </a:p>
          <a:p xmlns:a="http://schemas.openxmlformats.org/drawingml/2006/main">
            <a:pPr marL="28" indent="-14">
              <a:spcAft>
                <a:spcPts val="8"/>
              </a:spcAft>
              <a:buChar char="•"/>
              <a:def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2. 进料：PLA丝送入挤出机</a:t>
            </a:r>
          </a:p>
          <a:p xmlns:a="http://schemas.openxmlformats.org/drawingml/2006/main">
            <a:pPr marL="28" indent="-14">
              <a:spcAft>
                <a:spcPts val="8"/>
              </a:spcAft>
              <a:buChar char="•"/>
              <a:def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3. 传输G-code→开始打印</a:t>
            </a:r>
          </a:p>
          <a:p xmlns:a="http://schemas.openxmlformats.org/drawingml/2006/main">
            <a:pPr marL="28" indent="-14">
              <a:spcAft>
                <a:spcPts val="8"/>
              </a:spcAft>
              <a:buChar char="•"/>
              <a:def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4. 观察第一层是否贴牢</a:t>
            </a:r>
          </a:p>
          <a:p xmlns:a="http://schemas.openxmlformats.org/drawingml/2006/main">
            <a:pPr marL="28" indent="-14">
              <a:spcAft>
                <a:spcPts val="8"/>
              </a:spcAft>
              <a:buChar char="•"/>
              <a:def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5. 完成→等冷却→铲刀取下</a:t>
            </a:r>
          </a:p>
        </p:txBody>
      </p:sp>
    </p:spTree>
    <p:extLst>
      <p:ext uri="{BB962C8B-B14F-4D97-AF65-F5344CB8AC3E}">
        <p14:creationId xmlns:p14="http://schemas.microsoft.com/office/powerpoint/2010/main" val="138107581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9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op-accent">
            <a:extLst xmlns:a="http://schemas.openxmlformats.org/drawingml/2006/main">
              <a:ext uri="{FF2B5EF4-FFF2-40B4-BE49-F238E27FC236}">
                <a16:creationId xmlns:a16="http://schemas.microsoft.com/office/drawing/2014/main" id="{DC4DEAD8-079B-4181-8D8A-38A465720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E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FCD6952-F992-4802-A016-A05167905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正弦拱桁架桥</a:t>
            </a:r>
          </a:p>
        </p:txBody>
      </p:sp>
      <p:sp>
        <p:nvSpPr>
          <p:cNvPr id="3" name="slide-icon">
            <a:extLst xmlns:a="http://schemas.openxmlformats.org/drawingml/2006/main">
              <a:ext uri="{FF2B5EF4-FFF2-40B4-BE49-F238E27FC236}">
                <a16:creationId xmlns:a16="http://schemas.microsoft.com/office/drawing/2014/main" id="{2173E248-B06A-420E-B9FB-7D52C479F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🌉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5DB2AD5E-9A57-4B7B-856E-021666A6C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8889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rPr>
              <a:t>模块五  ·  11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d91bcd49f34114"/>
          <a:stretch xmlns:a="http://schemas.openxmlformats.org/drawingml/2006/main"/>
        </p:blipFill>
        <p:spPr>
          <a:xfrm xmlns:a="http://schemas.openxmlformats.org/drawingml/2006/main">
            <a:off x="3009900" y="1295400"/>
            <a:ext cx="6172200" cy="4114800"/>
          </a:xfrm>
          <a:prstGeom xmlns:a="http://schemas.openxmlformats.org/drawingml/2006/main" prst="roundRect">
            <a:avLst>
              <a:gd name="adj" fmla="val 3241"/>
            </a:avLst>
          </a:prstGeom>
        </p:spPr>
      </p:pic>
    </p:spTree>
    <p:extLst>
      <p:ext uri="{BB962C8B-B14F-4D97-AF65-F5344CB8AC3E}">
        <p14:creationId xmlns:p14="http://schemas.microsoft.com/office/powerpoint/2010/main" val="50752173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42637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op-accent">
            <a:extLst xmlns:a="http://schemas.openxmlformats.org/drawingml/2006/main">
              <a:ext uri="{FF2B5EF4-FFF2-40B4-BE49-F238E27FC236}">
                <a16:creationId xmlns:a16="http://schemas.microsoft.com/office/drawing/2014/main" id="{FA669D3F-31F9-442A-BE63-508090388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93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01F2903-994F-4A9E-B833-83BCB4946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第15课：FreeCAD FEM有限元分析</a:t>
            </a:r>
          </a:p>
        </p:txBody>
      </p:sp>
      <p:sp>
        <p:nvSpPr>
          <p:cNvPr id="3" name="slide-icon">
            <a:extLst xmlns:a="http://schemas.openxmlformats.org/drawingml/2006/main">
              <a:ext uri="{FF2B5EF4-FFF2-40B4-BE49-F238E27FC236}">
                <a16:creationId xmlns:a16="http://schemas.microsoft.com/office/drawing/2014/main" id="{A941A0A4-BF33-400F-AD31-91D1301B2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📊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7E5292FC-0D70-4373-8735-682BE2454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8889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CBD5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CBD5E0"/>
                </a:solidFill>
                <a:latin typeface="Microsoft YaHei"/>
                <a:ea typeface="Microsoft YaHei"/>
                <a:cs typeface="Microsoft YaHei"/>
              </a:rPr>
              <a:t>模块五  ·  12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4a157a17f64260"/>
          <a:stretch xmlns:a="http://schemas.openxmlformats.org/drawingml/2006/main"/>
        </p:blipFill>
        <p:spPr>
          <a:xfrm xmlns:a="http://schemas.openxmlformats.org/drawingml/2006/main">
            <a:off x="3009900" y="1295400"/>
            <a:ext cx="6172200" cy="4114800"/>
          </a:xfrm>
          <a:prstGeom xmlns:a="http://schemas.openxmlformats.org/drawingml/2006/main" prst="roundRect">
            <a:avLst>
              <a:gd name="adj" fmla="val 3241"/>
            </a:avLst>
          </a:prstGeom>
        </p:spPr>
      </p:pic>
      <p:sp>
        <p:nvSpPr>
          <p:cNvPr id="6" name="image-caption">
            <a:extLst xmlns:a="http://schemas.openxmlformats.org/drawingml/2006/main">
              <a:ext uri="{FF2B5EF4-FFF2-40B4-BE49-F238E27FC236}">
                <a16:creationId xmlns:a16="http://schemas.microsoft.com/office/drawing/2014/main" id="{62294FB8-A7FB-465D-9607-D2ECCF9A6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0545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100N · 28节点 · 88个B31梁单元 · 最大位移0.0464mm · 最大等效应力1.31MPa</a:t>
            </a:r>
          </a:p>
        </p:txBody>
      </p:sp>
    </p:spTree>
    <p:extLst>
      <p:ext uri="{BB962C8B-B14F-4D97-AF65-F5344CB8AC3E}">
        <p14:creationId xmlns:p14="http://schemas.microsoft.com/office/powerpoint/2010/main" val="203946178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9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op-accent">
            <a:extLst xmlns:a="http://schemas.openxmlformats.org/drawingml/2006/main">
              <a:ext uri="{FF2B5EF4-FFF2-40B4-BE49-F238E27FC236}">
                <a16:creationId xmlns:a16="http://schemas.microsoft.com/office/drawing/2014/main" id="{27CF5B44-AB12-44A8-934F-D66EE3A46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E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F74C51D-CD3B-4787-9446-EF4FE94AD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桥梁跨学科承重验证</a:t>
            </a:r>
          </a:p>
        </p:txBody>
      </p:sp>
      <p:sp>
        <p:nvSpPr>
          <p:cNvPr id="3" name="slide-icon">
            <a:extLst xmlns:a="http://schemas.openxmlformats.org/drawingml/2006/main">
              <a:ext uri="{FF2B5EF4-FFF2-40B4-BE49-F238E27FC236}">
                <a16:creationId xmlns:a16="http://schemas.microsoft.com/office/drawing/2014/main" id="{068DB6CB-57AF-4751-8455-768824491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🌉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09C24230-1337-4FB1-8A3D-E9816B3FB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8889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rPr>
              <a:t>模块五  ·  13</a:t>
            </a:r>
          </a:p>
        </p:txBody>
      </p:sp>
      <p:sp>
        <p:nvSpPr>
          <p:cNvPr id="5" name="card-1">
            <a:extLst xmlns:a="http://schemas.openxmlformats.org/drawingml/2006/main">
              <a:ext uri="{FF2B5EF4-FFF2-40B4-BE49-F238E27FC236}">
                <a16:creationId xmlns:a16="http://schemas.microsoft.com/office/drawing/2014/main" id="{64669456-BDE2-4073-B575-05216AE7E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5295900" cy="2228850"/>
          </a:xfrm>
          <a:prstGeom xmlns:a="http://schemas.openxmlformats.org/drawingml/2006/main" prst="roundRect">
            <a:avLst>
              <a:gd name="adj" fmla="val 68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D"/>
            </a:solidFill>
            <a:prstDash val="solid"/>
          </a:ln>
        </p:spPr>
      </p:sp>
      <p:sp>
        <p:nvSpPr>
          <p:cNvPr id="6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94DB8809-8C94-4590-A285-EA8CF1FD6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002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结构</a:t>
            </a:r>
          </a:p>
        </p:txBody>
      </p:sp>
      <p:sp>
        <p:nvSpPr>
          <p:cNvPr id="7" name="card-body-1">
            <a:extLst xmlns:a="http://schemas.openxmlformats.org/drawingml/2006/main">
              <a:ext uri="{FF2B5EF4-FFF2-40B4-BE49-F238E27FC236}">
                <a16:creationId xmlns:a16="http://schemas.microsoft.com/office/drawing/2014/main" id="{2D7FB006-BF51-448F-8204-F3B88B95A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49530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桥拱、桥面、支撑共同分散载荷</a:t>
            </a:r>
          </a:p>
        </p:txBody>
      </p:sp>
      <p:sp>
        <p:nvSpPr>
          <p:cNvPr id="8" name="card-2">
            <a:extLst xmlns:a="http://schemas.openxmlformats.org/drawingml/2006/main">
              <a:ext uri="{FF2B5EF4-FFF2-40B4-BE49-F238E27FC236}">
                <a16:creationId xmlns:a16="http://schemas.microsoft.com/office/drawing/2014/main" id="{8159AEC0-FF33-4FC0-BA5C-3113CD990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466850"/>
            <a:ext cx="5295900" cy="2228850"/>
          </a:xfrm>
          <a:prstGeom xmlns:a="http://schemas.openxmlformats.org/drawingml/2006/main" prst="roundRect">
            <a:avLst>
              <a:gd name="adj" fmla="val 68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D"/>
            </a:solidFill>
            <a:prstDash val="solid"/>
          </a:ln>
        </p:spPr>
      </p:sp>
      <p:sp>
        <p:nvSpPr>
          <p:cNvPr id="9" name="card-title-2">
            <a:extLst xmlns:a="http://schemas.openxmlformats.org/drawingml/2006/main">
              <a:ext uri="{FF2B5EF4-FFF2-40B4-BE49-F238E27FC236}">
                <a16:creationId xmlns:a16="http://schemas.microsoft.com/office/drawing/2014/main" id="{A3DBF5A1-6939-4503-9727-4A961D3DE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002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打印</a:t>
            </a:r>
          </a:p>
        </p:txBody>
      </p:sp>
      <p:sp>
        <p:nvSpPr>
          <p:cNvPr id="10" name="card-body-2">
            <a:extLst xmlns:a="http://schemas.openxmlformats.org/drawingml/2006/main">
              <a:ext uri="{FF2B5EF4-FFF2-40B4-BE49-F238E27FC236}">
                <a16:creationId xmlns:a16="http://schemas.microsoft.com/office/drawing/2014/main" id="{E23DF2FE-6417-48FD-AEEF-C7B27A6CA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57400"/>
            <a:ext cx="49530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对比层高、填充和打印方向</a:t>
            </a:r>
          </a:p>
        </p:txBody>
      </p:sp>
      <p:sp>
        <p:nvSpPr>
          <p:cNvPr id="11" name="card-3">
            <a:extLst xmlns:a="http://schemas.openxmlformats.org/drawingml/2006/main">
              <a:ext uri="{FF2B5EF4-FFF2-40B4-BE49-F238E27FC236}">
                <a16:creationId xmlns:a16="http://schemas.microsoft.com/office/drawing/2014/main" id="{0B2F9AA7-E5DC-45F3-8807-7855DA63F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5295900" cy="2228850"/>
          </a:xfrm>
          <a:prstGeom xmlns:a="http://schemas.openxmlformats.org/drawingml/2006/main" prst="roundRect">
            <a:avLst>
              <a:gd name="adj" fmla="val 68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D"/>
            </a:solidFill>
            <a:prstDash val="solid"/>
          </a:ln>
        </p:spPr>
      </p:sp>
      <p:sp>
        <p:nvSpPr>
          <p:cNvPr id="12" name="card-title-3">
            <a:extLst xmlns:a="http://schemas.openxmlformats.org/drawingml/2006/main">
              <a:ext uri="{FF2B5EF4-FFF2-40B4-BE49-F238E27FC236}">
                <a16:creationId xmlns:a16="http://schemas.microsoft.com/office/drawing/2014/main" id="{1ACC93F7-98DA-4E39-B551-99B34EE2D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验证</a:t>
            </a:r>
          </a:p>
        </p:txBody>
      </p:sp>
      <p:sp>
        <p:nvSpPr>
          <p:cNvPr id="13" name="card-body-3">
            <a:extLst xmlns:a="http://schemas.openxmlformats.org/drawingml/2006/main">
              <a:ext uri="{FF2B5EF4-FFF2-40B4-BE49-F238E27FC236}">
                <a16:creationId xmlns:a16="http://schemas.microsoft.com/office/drawing/2014/main" id="{8D7A3125-B401-4BAF-8E7C-452444E1F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57700"/>
            <a:ext cx="49530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逐级加载并记录最大承重</a:t>
            </a:r>
          </a:p>
        </p:txBody>
      </p:sp>
    </p:spTree>
    <p:extLst>
      <p:ext uri="{BB962C8B-B14F-4D97-AF65-F5344CB8AC3E}">
        <p14:creationId xmlns:p14="http://schemas.microsoft.com/office/powerpoint/2010/main" val="25294325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667E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op-accent">
            <a:extLst xmlns:a="http://schemas.openxmlformats.org/drawingml/2006/main">
              <a:ext uri="{FF2B5EF4-FFF2-40B4-BE49-F238E27FC236}">
                <a16:creationId xmlns:a16="http://schemas.microsoft.com/office/drawing/2014/main" id="{0550808C-FE10-4CEA-B3BE-18C6E4274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93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5509DE9-47F9-457E-8D8A-A77B256C9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本模块总结</a:t>
            </a:r>
          </a:p>
        </p:txBody>
      </p:sp>
      <p:sp>
        <p:nvSpPr>
          <p:cNvPr id="3" name="slide-icon">
            <a:extLst xmlns:a="http://schemas.openxmlformats.org/drawingml/2006/main">
              <a:ext uri="{FF2B5EF4-FFF2-40B4-BE49-F238E27FC236}">
                <a16:creationId xmlns:a16="http://schemas.microsoft.com/office/drawing/2014/main" id="{5723683A-7501-4B2E-9940-CB6313C2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🎯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9A1BDCFF-E3AB-409D-BA54-2F26A4626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8889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E9E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9E8FF"/>
                </a:solidFill>
                <a:latin typeface="Microsoft YaHei"/>
                <a:ea typeface="Microsoft YaHei"/>
                <a:cs typeface="Microsoft YaHei"/>
              </a:rPr>
              <a:t>模块五  ·  14</a:t>
            </a:r>
          </a:p>
        </p:txBody>
      </p:sp>
      <p:sp>
        <p:nvSpPr>
          <p:cNvPr id="5" name="bullet-list">
            <a:extLst xmlns:a="http://schemas.openxmlformats.org/drawingml/2006/main">
              <a:ext uri="{FF2B5EF4-FFF2-40B4-BE49-F238E27FC236}">
                <a16:creationId xmlns:a16="http://schemas.microsoft.com/office/drawing/2014/main" id="{C500B126-4726-430F-90C0-E5950AB4C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371600"/>
            <a:ext cx="9906000" cy="4572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9525">
            <a:solidFill>
              <a:srgbClr val="FFFFFF">
                <a:alpha val="26667"/>
              </a:srgbClr>
            </a:solidFill>
            <a:prstDash val="solid"/>
          </a:ln>
        </p:spPr>
        <p:txBody>
          <a:bodyPr xmlns:a="http://schemas.openxmlformats.org/drawingml/2006/main" lIns="209550" tIns="171450" rIns="190500" bIns="133350">
            <a:normAutofit fontScale="100000"/>
          </a:bodyPr>
          <a:lstStyle xmlns:a="http://schemas.openxmlformats.org/drawingml/2006/main"/>
          <a:p xmlns:a="http://schemas.openxmlformats.org/drawingml/2006/main">
            <a:pPr marL="28" indent="-14">
              <a:spcAft>
                <a:spcPts val="8"/>
              </a:spcAft>
              <a:buChar char="•"/>
              <a:def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STL导出 = Mesh.export</a:t>
            </a:r>
          </a:p>
          <a:p xmlns:a="http://schemas.openxmlformats.org/drawingml/2006/main">
            <a:pPr marL="28" indent="-14">
              <a:spcAft>
                <a:spcPts val="8"/>
              </a:spcAft>
              <a:buChar char="•"/>
              <a:def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Cura切片 = 层高+填充+支撑</a:t>
            </a:r>
          </a:p>
          <a:p xmlns:a="http://schemas.openxmlformats.org/drawingml/2006/main">
            <a:pPr marL="28" indent="-14">
              <a:spcAft>
                <a:spcPts val="8"/>
              </a:spcAft>
              <a:buChar char="•"/>
              <a:def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打印实操 = 预热→进料→打印→取件</a:t>
            </a:r>
          </a:p>
          <a:p xmlns:a="http://schemas.openxmlformats.org/drawingml/2006/main">
            <a:pPr marL="28" indent="-14">
              <a:spcAft>
                <a:spcPts val="8"/>
              </a:spcAft>
              <a:buChar char="•"/>
              <a:def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桥梁融合点 = S/T/E/M：函数建模→FEM→切片→打印→承重验证</a:t>
            </a:r>
          </a:p>
          <a:p xmlns:a="http://schemas.openxmlformats.org/drawingml/2006/main">
            <a:pPr marL="28" indent="-14">
              <a:spcAft>
                <a:spcPts val="8"/>
              </a:spcAft>
              <a:buChar char="•"/>
              <a:def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安全第一！</a:t>
            </a:r>
          </a:p>
          <a:p xmlns:a="http://schemas.openxmlformats.org/drawingml/2006/main">
            <a:pPr marL="28" indent="-14">
              <a:spcAft>
                <a:spcPts val="8"/>
              </a:spcAft>
              <a:buChar char="•"/>
              <a:def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👉 下一步：结课综合项目</a:t>
            </a:r>
          </a:p>
        </p:txBody>
      </p:sp>
    </p:spTree>
    <p:extLst>
      <p:ext uri="{BB962C8B-B14F-4D97-AF65-F5344CB8AC3E}">
        <p14:creationId xmlns:p14="http://schemas.microsoft.com/office/powerpoint/2010/main" val="9414456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2026-07-26T04:44:02.7540000Z</dcterms:created>
  <dcterms:modified xsi:type="dcterms:W3CDTF">2026-07-26T04:44:02.7540000Z</dcterms:modified>
</coreProperties>
</file>
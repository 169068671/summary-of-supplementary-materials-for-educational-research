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565f0ee1d74aa0" /><Relationship Type="http://schemas.openxmlformats.org/officeDocument/2006/relationships/extended-properties" Target="/docProps/app.xml" Id="Rdf2475f329944d75" /><Relationship Type="http://schemas.openxmlformats.org/officeDocument/2006/relationships/officeDocument" Target="/ppt/presentation.xml" Id="R7cbe3b654f1c43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0b91886dcc4963"/>
  </p:sldMasterIdLst>
  <p:notesMasterIdLst>
    <p:notesMasterId xmlns:r="http://schemas.openxmlformats.org/officeDocument/2006/relationships" r:id="Rd85d57167506444c"/>
  </p:notesMasterIdLst>
  <p:sldIdLst>
    <p:sldId xmlns:r="http://schemas.openxmlformats.org/officeDocument/2006/relationships" id="256" r:id="Ree4dd9ed176942c0"/>
    <p:sldId xmlns:r="http://schemas.openxmlformats.org/officeDocument/2006/relationships" id="257" r:id="Rff9115c9645f4810"/>
    <p:sldId xmlns:r="http://schemas.openxmlformats.org/officeDocument/2006/relationships" id="258" r:id="R078bc5af4c9d46dd"/>
    <p:sldId xmlns:r="http://schemas.openxmlformats.org/officeDocument/2006/relationships" id="259" r:id="R9e18c9c960ed488f"/>
    <p:sldId xmlns:r="http://schemas.openxmlformats.org/officeDocument/2006/relationships" id="260" r:id="R951387ac339e487b"/>
    <p:sldId xmlns:r="http://schemas.openxmlformats.org/officeDocument/2006/relationships" id="261" r:id="Rd6fcf2c2f04747ca"/>
    <p:sldId xmlns:r="http://schemas.openxmlformats.org/officeDocument/2006/relationships" id="262" r:id="Rc88f216c28a849f7"/>
    <p:sldId xmlns:r="http://schemas.openxmlformats.org/officeDocument/2006/relationships" id="263" r:id="R8b830fda201f4570"/>
    <p:sldId xmlns:r="http://schemas.openxmlformats.org/officeDocument/2006/relationships" id="264" r:id="Rec135fc2b58242c6"/>
    <p:sldId xmlns:r="http://schemas.openxmlformats.org/officeDocument/2006/relationships" id="265" r:id="Re9cfb6dcc7dd4ebc"/>
    <p:sldId xmlns:r="http://schemas.openxmlformats.org/officeDocument/2006/relationships" id="266" r:id="R36483b9d1c4242af"/>
    <p:sldId xmlns:r="http://schemas.openxmlformats.org/officeDocument/2006/relationships" id="267" r:id="R7bf1a35a033943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23f59122984738" /><Relationship Type="http://schemas.openxmlformats.org/officeDocument/2006/relationships/slideMaster" Target="/ppt/slideMasters/slideMaster1.xml" Id="R170b91886dcc4963" /><Relationship Type="http://schemas.openxmlformats.org/officeDocument/2006/relationships/notesMaster" Target="/ppt/notesMasters/notesMaster1.xml" Id="Rd85d57167506444c" /><Relationship Type="http://schemas.openxmlformats.org/officeDocument/2006/relationships/presProps" Target="/ppt/presProps.xml" Id="R51a4ecb412b54d0b" /><Relationship Type="http://schemas.openxmlformats.org/officeDocument/2006/relationships/tableStyles" Target="/ppt/tableStyles.xml" Id="R12d2f98333a54d5d" /><Relationship Type="http://schemas.openxmlformats.org/officeDocument/2006/relationships/slide" Target="/ppt/slides/slide1.xml" Id="Ree4dd9ed176942c0" /><Relationship Type="http://schemas.openxmlformats.org/officeDocument/2006/relationships/slide" Target="/ppt/slides/slide2.xml" Id="Rff9115c9645f4810" /><Relationship Type="http://schemas.openxmlformats.org/officeDocument/2006/relationships/slide" Target="/ppt/slides/slide3.xml" Id="R078bc5af4c9d46dd" /><Relationship Type="http://schemas.openxmlformats.org/officeDocument/2006/relationships/slide" Target="/ppt/slides/slide4.xml" Id="R9e18c9c960ed488f" /><Relationship Type="http://schemas.openxmlformats.org/officeDocument/2006/relationships/slide" Target="/ppt/slides/slide5.xml" Id="R951387ac339e487b" /><Relationship Type="http://schemas.openxmlformats.org/officeDocument/2006/relationships/slide" Target="/ppt/slides/slide6.xml" Id="Rd6fcf2c2f04747ca" /><Relationship Type="http://schemas.openxmlformats.org/officeDocument/2006/relationships/slide" Target="/ppt/slides/slide7.xml" Id="Rc88f216c28a849f7" /><Relationship Type="http://schemas.openxmlformats.org/officeDocument/2006/relationships/slide" Target="/ppt/slides/slide8.xml" Id="R8b830fda201f4570" /><Relationship Type="http://schemas.openxmlformats.org/officeDocument/2006/relationships/slide" Target="/ppt/slides/slide9.xml" Id="Rec135fc2b58242c6" /><Relationship Type="http://schemas.openxmlformats.org/officeDocument/2006/relationships/slide" Target="/ppt/slides/slide10.xml" Id="Re9cfb6dcc7dd4ebc" /><Relationship Type="http://schemas.openxmlformats.org/officeDocument/2006/relationships/slide" Target="/ppt/slides/slide11.xml" Id="R36483b9d1c4242af" /><Relationship Type="http://schemas.openxmlformats.org/officeDocument/2006/relationships/slide" Target="/ppt/slides/slide12.xml" Id="R7bf1a35a033943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83c99cf2934e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43bd7ba99b4eb2" /><Relationship Type="http://schemas.openxmlformats.org/officeDocument/2006/relationships/notesMaster" Target="/ppt/notesMasters/notesMaster1.xml" Id="Rb49be84cb61b41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fb12c4d81544ad" /><Relationship Type="http://schemas.openxmlformats.org/officeDocument/2006/relationships/notesMaster" Target="/ppt/notesMasters/notesMaster1.xml" Id="Rcce3aaac26084a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5dd366106640ad" /><Relationship Type="http://schemas.openxmlformats.org/officeDocument/2006/relationships/notesMaster" Target="/ppt/notesMasters/notesMaster1.xml" Id="R9bb76780343d4b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dd70ebea94409c" /><Relationship Type="http://schemas.openxmlformats.org/officeDocument/2006/relationships/notesMaster" Target="/ppt/notesMasters/notesMaster1.xml" Id="R3b6f6b019f3b4b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dd61acc1d24980" /><Relationship Type="http://schemas.openxmlformats.org/officeDocument/2006/relationships/notesMaster" Target="/ppt/notesMasters/notesMaster1.xml" Id="R91efbc936cba45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e72e3b91df84ca0" /><Relationship Type="http://schemas.openxmlformats.org/officeDocument/2006/relationships/notesMaster" Target="/ppt/notesMasters/notesMaster1.xml" Id="R27139784be824ad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094de7f187640d5" /><Relationship Type="http://schemas.openxmlformats.org/officeDocument/2006/relationships/notesMaster" Target="/ppt/notesMasters/notesMaster1.xml" Id="R8c4df0f45f564d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15ea279ee4f4811" /><Relationship Type="http://schemas.openxmlformats.org/officeDocument/2006/relationships/notesMaster" Target="/ppt/notesMasters/notesMaster1.xml" Id="Re48d8794f31e453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f6d9f5a32a747cb" /><Relationship Type="http://schemas.openxmlformats.org/officeDocument/2006/relationships/notesMaster" Target="/ppt/notesMasters/notesMaster1.xml" Id="Rba63c73505b74ac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83ac45e2f374312" /><Relationship Type="http://schemas.openxmlformats.org/officeDocument/2006/relationships/notesMaster" Target="/ppt/notesMasters/notesMaster1.xml" Id="R9c77307a92144a1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cc62d0226f34f66" /><Relationship Type="http://schemas.openxmlformats.org/officeDocument/2006/relationships/notesMaster" Target="/ppt/notesMasters/notesMaster1.xml" Id="R49781a71df2e406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e04e9cbf794490a" /><Relationship Type="http://schemas.openxmlformats.org/officeDocument/2006/relationships/notesMaster" Target="/ppt/notesMasters/notesMaster1.xml" Id="R1f87e5c86d3b41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48ef09a21f41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022cfbb4e04abb" /><Relationship Type="http://schemas.openxmlformats.org/officeDocument/2006/relationships/slideLayout" Target="/ppt/slideLayouts/slideLayout1.xml" Id="Rf8da485af8894e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da485af8894e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65b5b842f54fd1" /><Relationship Type="http://schemas.openxmlformats.org/officeDocument/2006/relationships/notesSlide" Target="/ppt/notesSlides/notesSlide1.xml" Id="R2f16cb3bb02e44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5e03e5da8d4747" /><Relationship Type="http://schemas.openxmlformats.org/officeDocument/2006/relationships/notesSlide" Target="/ppt/notesSlides/notesSlide2.xml" Id="R978d63f865b844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0eb78c5e34af3" /><Relationship Type="http://schemas.openxmlformats.org/officeDocument/2006/relationships/notesSlide" Target="/ppt/notesSlides/notesSlide3.xml" Id="Ra3dfe91e08304d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1330867f74995" /><Relationship Type="http://schemas.openxmlformats.org/officeDocument/2006/relationships/notesSlide" Target="/ppt/notesSlides/notesSlide4.xml" Id="R41a8b29bd74342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8063a84cde464b" /><Relationship Type="http://schemas.openxmlformats.org/officeDocument/2006/relationships/notesSlide" Target="/ppt/notesSlides/notesSlide5.xml" Id="Rf671f595a1a947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b2f31dec6b4200" /><Relationship Type="http://schemas.openxmlformats.org/officeDocument/2006/relationships/notesSlide" Target="/ppt/notesSlides/notesSlide6.xml" Id="R52488a2a5c9042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7f086f9c7047b1" /><Relationship Type="http://schemas.openxmlformats.org/officeDocument/2006/relationships/notesSlide" Target="/ppt/notesSlides/notesSlide7.xml" Id="Racf8de84babb4a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c27ee8c0d64d05" /><Relationship Type="http://schemas.openxmlformats.org/officeDocument/2006/relationships/notesSlide" Target="/ppt/notesSlides/notesSlide8.xml" Id="Rfeab89a96d864ea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22643471864a45" /><Relationship Type="http://schemas.openxmlformats.org/officeDocument/2006/relationships/notesSlide" Target="/ppt/notesSlides/notesSlide9.xml" Id="Rc5b280fa50d84a1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38622493664dea" /><Relationship Type="http://schemas.openxmlformats.org/officeDocument/2006/relationships/notesSlide" Target="/ppt/notesSlides/notesSlide10.xml" Id="R873e484cf28a40e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b6ef2709b4284" /><Relationship Type="http://schemas.openxmlformats.org/officeDocument/2006/relationships/notesSlide" Target="/ppt/notesSlides/notesSlide11.xml" Id="R12012c3e8664498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f165b06b914b7f" /><Relationship Type="http://schemas.openxmlformats.org/officeDocument/2006/relationships/notesSlide" Target="/ppt/notesSlides/notesSlide12.xml" Id="R9fe3ceb2b5844a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667E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86B55D-AF31-4CC2-BCDA-1746E217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icon">
            <a:extLst xmlns:a="http://schemas.openxmlformats.org/drawingml/2006/main">
              <a:ext uri="{FF2B5EF4-FFF2-40B4-BE49-F238E27FC236}">
                <a16:creationId xmlns:a16="http://schemas.microsoft.com/office/drawing/2014/main" id="{00B5CB66-560E-4F08-9D37-799CDA66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81125"/>
            <a:ext cx="2667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✏️</a:t>
            </a:r>
          </a:p>
        </p:txBody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7F10C6E3-9840-410F-816A-79610D8E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666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模块二</a:t>
            </a:r>
          </a:p>
        </p:txBody>
      </p:sp>
      <p:sp>
        <p:nvSpPr>
          <p:cNvPr id="4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F6602681-3E7F-4655-9CA9-3CB18409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rPr>
              <a:t>手动建模基础与实践（FreeCAD）</a:t>
            </a:r>
          </a:p>
        </p:txBody>
      </p:sp>
      <p:sp>
        <p:nvSpPr>
          <p:cNvPr id="5" name="deck-meta">
            <a:extLst xmlns:a="http://schemas.openxmlformats.org/drawingml/2006/main">
              <a:ext uri="{FF2B5EF4-FFF2-40B4-BE49-F238E27FC236}">
                <a16:creationId xmlns:a16="http://schemas.microsoft.com/office/drawing/2014/main" id="{78EF5D68-6CF1-4F1C-A1BE-1A1BCAB8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rPr>
              <a:t>3课时 · 第3-5课 · 技术实践</a:t>
            </a:r>
          </a:p>
        </p:txBody>
      </p:sp>
      <p:sp>
        <p:nvSpPr>
          <p:cNvPr id="6" name="editable-label">
            <a:extLst xmlns:a="http://schemas.openxmlformats.org/drawingml/2006/main">
              <a:ext uri="{FF2B5EF4-FFF2-40B4-BE49-F238E27FC236}">
                <a16:creationId xmlns:a16="http://schemas.microsoft.com/office/drawing/2014/main" id="{87AA11C5-C0A1-4736-B787-3B3B7BF3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102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rPr>
              <a:t>可编辑PowerPoint课件</a:t>
            </a:r>
          </a:p>
        </p:txBody>
      </p:sp>
    </p:spTree>
    <p:extLst>
      <p:ext uri="{BB962C8B-B14F-4D97-AF65-F5344CB8AC3E}">
        <p14:creationId xmlns:p14="http://schemas.microsoft.com/office/powerpoint/2010/main" val="18049406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85D7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accent">
            <a:extLst xmlns:a="http://schemas.openxmlformats.org/drawingml/2006/main">
              <a:ext uri="{FF2B5EF4-FFF2-40B4-BE49-F238E27FC236}">
                <a16:creationId xmlns:a16="http://schemas.microsoft.com/office/drawing/2014/main" id="{8BCDD4A6-2680-4F9D-8494-F2455F0F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D8E07C1-9005-4ED4-9F6E-4877B911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课前预习！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112CA8BB-A3B1-44A2-AB6A-EBE330DC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⚠️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54A20F6-097B-4413-A7F7-3122F259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FF5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5F5"/>
                </a:solidFill>
                <a:latin typeface="Microsoft YaHei"/>
                <a:ea typeface="Microsoft YaHei"/>
                <a:cs typeface="Microsoft YaHei"/>
              </a:rPr>
              <a:t>模块二  ·  2</a:t>
            </a:r>
          </a:p>
        </p:txBody>
      </p:sp>
      <p:sp>
        <p:nvSpPr>
          <p:cNvPr id="5" name="bullet-list">
            <a:extLst xmlns:a="http://schemas.openxmlformats.org/drawingml/2006/main">
              <a:ext uri="{FF2B5EF4-FFF2-40B4-BE49-F238E27FC236}">
                <a16:creationId xmlns:a16="http://schemas.microsoft.com/office/drawing/2014/main" id="{4D485B83-19BD-4701-947B-58589D3E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71600"/>
            <a:ext cx="9906000" cy="4572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6667"/>
              </a:srgbClr>
            </a:solidFill>
            <a:prstDash val="solid"/>
          </a:ln>
        </p:spPr>
        <p:txBody>
          <a:bodyPr xmlns:a="http://schemas.openxmlformats.org/drawingml/2006/main" lIns="209550" tIns="171450" rIns="190500" bIns="133350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复习模块一FreeCAD界面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切换到Sketcher工作台浏览工具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了解『草图』概念：2D平面上的线段组合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思考：画矩形需要几条线？</a:t>
            </a:r>
          </a:p>
        </p:txBody>
      </p:sp>
    </p:spTree>
    <p:extLst>
      <p:ext uri="{BB962C8B-B14F-4D97-AF65-F5344CB8AC3E}">
        <p14:creationId xmlns:p14="http://schemas.microsoft.com/office/powerpoint/2010/main" val="13453369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42637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op-accent">
            <a:extLst xmlns:a="http://schemas.openxmlformats.org/drawingml/2006/main">
              <a:ext uri="{FF2B5EF4-FFF2-40B4-BE49-F238E27FC236}">
                <a16:creationId xmlns:a16="http://schemas.microsoft.com/office/drawing/2014/main" id="{7D5A7E01-A43A-4FD6-8072-1212A948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F8588C-024C-4756-85D0-3B73C1CD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文件管理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528CD91D-C268-467C-8F24-5FF3B445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📁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4E7415A-8780-433F-8AD8-17124A32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rPr>
              <a:t>模块二  ·  3</a:t>
            </a:r>
          </a:p>
        </p:txBody>
      </p:sp>
      <p:sp>
        <p:nvSpPr>
          <p:cNvPr id="5" name="code-intro">
            <a:extLst xmlns:a="http://schemas.openxmlformats.org/drawingml/2006/main">
              <a:ext uri="{FF2B5EF4-FFF2-40B4-BE49-F238E27FC236}">
                <a16:creationId xmlns:a16="http://schemas.microsoft.com/office/drawing/2014/main" id="{732E99C3-6B4E-460F-8F60-BF472D58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rPr>
              <a:t>新建(Ctrl+N) · 保存(Ctrl+S) · 命名规范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B0DA8933-6564-4B85-8D6A-F860B3FA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667500" cy="485775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 w="9525">
            <a:solidFill>
              <a:srgbClr val="4A5568"/>
            </a:solidFill>
            <a:prstDash val="solid"/>
          </a:ln>
        </p:spPr>
      </p:sp>
      <p:sp>
        <p:nvSpPr>
          <p:cNvPr id="7" name="editable-code">
            <a:extLst xmlns:a="http://schemas.openxmlformats.org/drawingml/2006/main">
              <a:ext uri="{FF2B5EF4-FFF2-40B4-BE49-F238E27FC236}">
                <a16:creationId xmlns:a16="http://schemas.microsoft.com/office/drawing/2014/main" id="{1741CF20-924B-46ED-9B44-8DBD8D11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6286500" cy="451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# Python控制台新建文档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import FreeCAD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doc = FreeCAD.newDocument('MySketch')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print('文档已创建：', doc.Name)</a:t>
            </a:r>
          </a:p>
        </p:txBody>
      </p:sp>
      <p:sp>
        <p:nvSpPr>
          <p:cNvPr id="8" name="explain-1">
            <a:extLst xmlns:a="http://schemas.openxmlformats.org/drawingml/2006/main">
              <a:ext uri="{FF2B5EF4-FFF2-40B4-BE49-F238E27FC236}">
                <a16:creationId xmlns:a16="http://schemas.microsoft.com/office/drawing/2014/main" id="{4C193B0D-B4A6-4595-97F9-DDCBF4AF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466850"/>
            <a:ext cx="4191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9" name="explain-text-1">
            <a:extLst xmlns:a="http://schemas.openxmlformats.org/drawingml/2006/main">
              <a:ext uri="{FF2B5EF4-FFF2-40B4-BE49-F238E27FC236}">
                <a16:creationId xmlns:a16="http://schemas.microsoft.com/office/drawing/2014/main" id="{46B2D81A-C160-45F5-B606-5E0FAFCA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524000"/>
            <a:ext cx="396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作用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newDocument()新建文档，返回值存入doc，后续草图和实体都添加到doc。</a:t>
            </a:r>
          </a:p>
        </p:txBody>
      </p:sp>
      <p:sp>
        <p:nvSpPr>
          <p:cNvPr id="10" name="explain-2">
            <a:extLst xmlns:a="http://schemas.openxmlformats.org/drawingml/2006/main">
              <a:ext uri="{FF2B5EF4-FFF2-40B4-BE49-F238E27FC236}">
                <a16:creationId xmlns:a16="http://schemas.microsoft.com/office/drawing/2014/main" id="{0F90939C-0F34-4943-B8EE-563B132E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57450"/>
            <a:ext cx="4191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11" name="explain-text-2">
            <a:extLst xmlns:a="http://schemas.openxmlformats.org/drawingml/2006/main">
              <a:ext uri="{FF2B5EF4-FFF2-40B4-BE49-F238E27FC236}">
                <a16:creationId xmlns:a16="http://schemas.microsoft.com/office/drawing/2014/main" id="{FAFFBB17-DCCB-4020-A1E1-F9191A5D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14600"/>
            <a:ext cx="396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对象树出现MySketch；控制台输出文档名，但尚未保存成FCStd。</a:t>
            </a:r>
          </a:p>
        </p:txBody>
      </p:sp>
      <p:sp>
        <p:nvSpPr>
          <p:cNvPr id="12" name="explain-3">
            <a:extLst xmlns:a="http://schemas.openxmlformats.org/drawingml/2006/main">
              <a:ext uri="{FF2B5EF4-FFF2-40B4-BE49-F238E27FC236}">
                <a16:creationId xmlns:a16="http://schemas.microsoft.com/office/drawing/2014/main" id="{20061370-44C7-4886-8FE7-9A55FEA8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48050"/>
            <a:ext cx="4191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13" name="explain-text-3">
            <a:extLst xmlns:a="http://schemas.openxmlformats.org/drawingml/2006/main">
              <a:ext uri="{FF2B5EF4-FFF2-40B4-BE49-F238E27FC236}">
                <a16:creationId xmlns:a16="http://schemas.microsoft.com/office/drawing/2014/main" id="{19BD5D04-A716-4B96-9C52-BA3BC7F5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505200"/>
            <a:ext cx="396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易错点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同名文档可能冲突；运行后仍要Ctrl+S并按规范命名。</a:t>
            </a:r>
          </a:p>
        </p:txBody>
      </p:sp>
    </p:spTree>
    <p:extLst>
      <p:ext uri="{BB962C8B-B14F-4D97-AF65-F5344CB8AC3E}">
        <p14:creationId xmlns:p14="http://schemas.microsoft.com/office/powerpoint/2010/main" val="6652921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9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accent">
            <a:extLst xmlns:a="http://schemas.openxmlformats.org/drawingml/2006/main">
              <a:ext uri="{FF2B5EF4-FFF2-40B4-BE49-F238E27FC236}">
                <a16:creationId xmlns:a16="http://schemas.microsoft.com/office/drawing/2014/main" id="{1DE85BB3-26CA-4F87-AD51-9033EEF76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A76A409-3B3B-4F71-B525-62FB85CB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Sketcher草图工作台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1A750C13-AAB1-416C-A97F-AB3E9CE7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✏️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6E5C2BC-B63A-47FD-825A-A6B44744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模块二  ·  4</a:t>
            </a:r>
          </a:p>
        </p:txBody>
      </p:sp>
      <p:sp>
        <p:nvSpPr>
          <p:cNvPr id="5" name="list-intro">
            <a:extLst xmlns:a="http://schemas.openxmlformats.org/drawingml/2006/main">
              <a:ext uri="{FF2B5EF4-FFF2-40B4-BE49-F238E27FC236}">
                <a16:creationId xmlns:a16="http://schemas.microsoft.com/office/drawing/2014/main" id="{A45729E2-55E2-4990-AACF-23DA19C6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04900"/>
            <a:ext cx="10553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切换：工作台选择器 → Sketcher</a:t>
            </a:r>
          </a:p>
        </p:txBody>
      </p:sp>
      <p:sp>
        <p:nvSpPr>
          <p:cNvPr id="6" name="bullet-list">
            <a:extLst xmlns:a="http://schemas.openxmlformats.org/drawingml/2006/main">
              <a:ext uri="{FF2B5EF4-FFF2-40B4-BE49-F238E27FC236}">
                <a16:creationId xmlns:a16="http://schemas.microsoft.com/office/drawing/2014/main" id="{B5A495F7-F3C8-44E5-9CBC-0BF7D6EB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76400"/>
            <a:ext cx="9906000" cy="4572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D"/>
            </a:solidFill>
            <a:prstDash val="solid"/>
          </a:ln>
        </p:spPr>
        <p:txBody>
          <a:bodyPr xmlns:a="http://schemas.openxmlformats.org/drawingml/2006/main" lIns="209550" tIns="171450" rIns="190500" bIns="133350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📏 线段：画直线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⭕ 圆：画圆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🌙 圆弧：画弧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📐 矩形：画矩形</a:t>
            </a:r>
          </a:p>
        </p:txBody>
      </p:sp>
    </p:spTree>
    <p:extLst>
      <p:ext uri="{BB962C8B-B14F-4D97-AF65-F5344CB8AC3E}">
        <p14:creationId xmlns:p14="http://schemas.microsoft.com/office/powerpoint/2010/main" val="1147768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42637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accent">
            <a:extLst xmlns:a="http://schemas.openxmlformats.org/drawingml/2006/main">
              <a:ext uri="{FF2B5EF4-FFF2-40B4-BE49-F238E27FC236}">
                <a16:creationId xmlns:a16="http://schemas.microsoft.com/office/drawing/2014/main" id="{220A14EE-DCD8-4259-8BC0-C2DE491C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DCA7F60-02E4-4C60-B4C9-B9821C87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创建草图步骤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AB1293B4-A368-4347-BA6A-BFB16F7B7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📋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4B22919C-6CF7-4C5B-A224-18DD8ABF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rPr>
              <a:t>模块二  ·  5</a:t>
            </a:r>
          </a:p>
        </p:txBody>
      </p:sp>
      <p:sp>
        <p:nvSpPr>
          <p:cNvPr id="5" name="bullet-list">
            <a:extLst xmlns:a="http://schemas.openxmlformats.org/drawingml/2006/main">
              <a:ext uri="{FF2B5EF4-FFF2-40B4-BE49-F238E27FC236}">
                <a16:creationId xmlns:a16="http://schemas.microsoft.com/office/drawing/2014/main" id="{97E04994-68C1-436E-9599-FD293A61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71600"/>
            <a:ext cx="9906000" cy="4572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6667"/>
              </a:srgbClr>
            </a:solidFill>
            <a:prstDash val="solid"/>
          </a:ln>
        </p:spPr>
        <p:txBody>
          <a:bodyPr xmlns:a="http://schemas.openxmlformats.org/drawingml/2006/main" lIns="209550" tIns="171450" rIns="190500" bIns="133350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 切换到Sketcher工作台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 点击『创建草图』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 选择平面（XY/XZ/YZ）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4. 用工具绘制图形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5. 添加约束（下页）</a:t>
            </a:r>
          </a:p>
        </p:txBody>
      </p:sp>
    </p:spTree>
    <p:extLst>
      <p:ext uri="{BB962C8B-B14F-4D97-AF65-F5344CB8AC3E}">
        <p14:creationId xmlns:p14="http://schemas.microsoft.com/office/powerpoint/2010/main" val="8170998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667E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-accent">
            <a:extLst xmlns:a="http://schemas.openxmlformats.org/drawingml/2006/main">
              <a:ext uri="{FF2B5EF4-FFF2-40B4-BE49-F238E27FC236}">
                <a16:creationId xmlns:a16="http://schemas.microsoft.com/office/drawing/2014/main" id="{4AA2D3E7-35F6-488D-91DE-CB043E58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0C6CFD3-6E05-4CF0-A206-917586752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几何约束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CCAC467E-FFF7-4AEF-BBFF-3B79ECC3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🔗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D84B86F4-4CB7-4987-8CF7-CDAD5843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rPr>
              <a:t>模块二  ·  6</a:t>
            </a:r>
          </a:p>
        </p:txBody>
      </p:sp>
      <p:sp>
        <p:nvSpPr>
          <p:cNvPr id="5" name="cards-intro">
            <a:extLst xmlns:a="http://schemas.openxmlformats.org/drawingml/2006/main">
              <a:ext uri="{FF2B5EF4-FFF2-40B4-BE49-F238E27FC236}">
                <a16:creationId xmlns:a16="http://schemas.microsoft.com/office/drawing/2014/main" id="{7FA66208-C039-4212-9254-05FF574D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04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rPr>
              <a:t>管形状关系，不管大小</a:t>
            </a:r>
          </a:p>
        </p:txBody>
      </p:sp>
      <p:sp>
        <p:nvSpPr>
          <p:cNvPr id="6" name="card-1">
            <a:extLst xmlns:a="http://schemas.openxmlformats.org/drawingml/2006/main">
              <a:ext uri="{FF2B5EF4-FFF2-40B4-BE49-F238E27FC236}">
                <a16:creationId xmlns:a16="http://schemas.microsoft.com/office/drawing/2014/main" id="{F4EDA4AD-E7EA-4F7A-B614-96DD742D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529590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7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87C406DB-FC5F-414B-9D26-17564882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81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📏 水平</a:t>
            </a:r>
          </a:p>
        </p:txBody>
      </p:sp>
      <p:sp>
        <p:nvSpPr>
          <p:cNvPr id="8" name="card-body-1">
            <a:extLst xmlns:a="http://schemas.openxmlformats.org/drawingml/2006/main">
              <a:ext uri="{FF2B5EF4-FFF2-40B4-BE49-F238E27FC236}">
                <a16:creationId xmlns:a16="http://schemas.microsoft.com/office/drawing/2014/main" id="{6ACAEDF5-3E41-4E32-AE56-B054DDEA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4953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线段保持水平</a:t>
            </a:r>
          </a:p>
        </p:txBody>
      </p:sp>
      <p:sp>
        <p:nvSpPr>
          <p:cNvPr id="9" name="card-2">
            <a:extLst xmlns:a="http://schemas.openxmlformats.org/drawingml/2006/main">
              <a:ext uri="{FF2B5EF4-FFF2-40B4-BE49-F238E27FC236}">
                <a16:creationId xmlns:a16="http://schemas.microsoft.com/office/drawing/2014/main" id="{217C73F6-8475-4EA6-A9CE-9F86F2F5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47850"/>
            <a:ext cx="529590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10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0AC02D01-6686-400B-A310-8E5E4C87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81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📐 垂直</a:t>
            </a:r>
          </a:p>
        </p:txBody>
      </p:sp>
      <p:sp>
        <p:nvSpPr>
          <p:cNvPr id="11" name="card-body-2">
            <a:extLst xmlns:a="http://schemas.openxmlformats.org/drawingml/2006/main">
              <a:ext uri="{FF2B5EF4-FFF2-40B4-BE49-F238E27FC236}">
                <a16:creationId xmlns:a16="http://schemas.microsoft.com/office/drawing/2014/main" id="{D7C4591C-C8E6-4222-B94C-8A5DD432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38400"/>
            <a:ext cx="4953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线段保持垂直</a:t>
            </a:r>
          </a:p>
        </p:txBody>
      </p:sp>
      <p:sp>
        <p:nvSpPr>
          <p:cNvPr id="12" name="card-3">
            <a:extLst xmlns:a="http://schemas.openxmlformats.org/drawingml/2006/main">
              <a:ext uri="{FF2B5EF4-FFF2-40B4-BE49-F238E27FC236}">
                <a16:creationId xmlns:a16="http://schemas.microsoft.com/office/drawing/2014/main" id="{4B922FDF-4F14-4FA3-8DD5-1FF49BAA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529590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13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6EF1A8EE-98E6-4C3B-9CA5-D5D28182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🔵 重合</a:t>
            </a:r>
          </a:p>
        </p:txBody>
      </p:sp>
      <p:sp>
        <p:nvSpPr>
          <p:cNvPr id="14" name="card-body-3">
            <a:extLst xmlns:a="http://schemas.openxmlformats.org/drawingml/2006/main">
              <a:ext uri="{FF2B5EF4-FFF2-40B4-BE49-F238E27FC236}">
                <a16:creationId xmlns:a16="http://schemas.microsoft.com/office/drawing/2014/main" id="{F8F861D3-6D9D-4DE2-AC47-1BA1C0D0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38700"/>
            <a:ext cx="4953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两点重合（角点）</a:t>
            </a:r>
          </a:p>
        </p:txBody>
      </p:sp>
      <p:sp>
        <p:nvSpPr>
          <p:cNvPr id="15" name="card-4">
            <a:extLst xmlns:a="http://schemas.openxmlformats.org/drawingml/2006/main">
              <a:ext uri="{FF2B5EF4-FFF2-40B4-BE49-F238E27FC236}">
                <a16:creationId xmlns:a16="http://schemas.microsoft.com/office/drawing/2014/main" id="{E836F050-5E51-4BA2-A520-B6D927D6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48150"/>
            <a:ext cx="529590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16" name="card-title-4">
            <a:extLst xmlns:a="http://schemas.openxmlformats.org/drawingml/2006/main">
              <a:ext uri="{FF2B5EF4-FFF2-40B4-BE49-F238E27FC236}">
                <a16:creationId xmlns:a16="http://schemas.microsoft.com/office/drawing/2014/main" id="{5659A886-B134-4525-83BE-45EB9EE6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815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Tangent 相切</a:t>
            </a:r>
          </a:p>
        </p:txBody>
      </p:sp>
      <p:sp>
        <p:nvSpPr>
          <p:cNvPr id="17" name="card-body-4">
            <a:extLst xmlns:a="http://schemas.openxmlformats.org/drawingml/2006/main">
              <a:ext uri="{FF2B5EF4-FFF2-40B4-BE49-F238E27FC236}">
                <a16:creationId xmlns:a16="http://schemas.microsoft.com/office/drawing/2014/main" id="{6290F385-BF7E-4482-BD94-D2C57E22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38700"/>
            <a:ext cx="4953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线与弧相切</a:t>
            </a:r>
          </a:p>
        </p:txBody>
      </p:sp>
    </p:spTree>
    <p:extLst>
      <p:ext uri="{BB962C8B-B14F-4D97-AF65-F5344CB8AC3E}">
        <p14:creationId xmlns:p14="http://schemas.microsoft.com/office/powerpoint/2010/main" val="14554927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667E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-accent">
            <a:extLst xmlns:a="http://schemas.openxmlformats.org/drawingml/2006/main">
              <a:ext uri="{FF2B5EF4-FFF2-40B4-BE49-F238E27FC236}">
                <a16:creationId xmlns:a16="http://schemas.microsoft.com/office/drawing/2014/main" id="{421415A9-9DFB-4062-80B8-D83283AE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9478EFC-BB60-48AF-96A4-93F6855D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尺寸约束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91E8F44A-865B-43BC-973F-A126ED98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📏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3FAF952-7233-4B15-8C98-A4AFA4CE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rPr>
              <a:t>模块二  ·  7</a:t>
            </a:r>
          </a:p>
        </p:txBody>
      </p:sp>
      <p:sp>
        <p:nvSpPr>
          <p:cNvPr id="5" name="cards-intro">
            <a:extLst xmlns:a="http://schemas.openxmlformats.org/drawingml/2006/main">
              <a:ext uri="{FF2B5EF4-FFF2-40B4-BE49-F238E27FC236}">
                <a16:creationId xmlns:a16="http://schemas.microsoft.com/office/drawing/2014/main" id="{E95110D9-5F65-4427-B678-B3EBC372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04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rPr>
              <a:t>管具体数值</a:t>
            </a:r>
          </a:p>
        </p:txBody>
      </p:sp>
      <p:sp>
        <p:nvSpPr>
          <p:cNvPr id="6" name="card-1">
            <a:extLst xmlns:a="http://schemas.openxmlformats.org/drawingml/2006/main">
              <a:ext uri="{FF2B5EF4-FFF2-40B4-BE49-F238E27FC236}">
                <a16:creationId xmlns:a16="http://schemas.microsoft.com/office/drawing/2014/main" id="{ADB7254C-DA0D-4985-AF50-9CD7EBEE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529590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7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E54FF0AF-C7E3-4C98-B7DC-1D940CA1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81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↔️ 水平距离</a:t>
            </a:r>
          </a:p>
        </p:txBody>
      </p:sp>
      <p:sp>
        <p:nvSpPr>
          <p:cNvPr id="8" name="card-body-1">
            <a:extLst xmlns:a="http://schemas.openxmlformats.org/drawingml/2006/main">
              <a:ext uri="{FF2B5EF4-FFF2-40B4-BE49-F238E27FC236}">
                <a16:creationId xmlns:a16="http://schemas.microsoft.com/office/drawing/2014/main" id="{ABB23E9E-9CD6-4664-BF9F-B472D4C8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4953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底边长度60mm</a:t>
            </a:r>
          </a:p>
        </p:txBody>
      </p:sp>
      <p:sp>
        <p:nvSpPr>
          <p:cNvPr id="9" name="card-2">
            <a:extLst xmlns:a="http://schemas.openxmlformats.org/drawingml/2006/main">
              <a:ext uri="{FF2B5EF4-FFF2-40B4-BE49-F238E27FC236}">
                <a16:creationId xmlns:a16="http://schemas.microsoft.com/office/drawing/2014/main" id="{44612829-E9C0-4C87-9A14-24A3A64F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47850"/>
            <a:ext cx="529590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10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8FB315AA-F832-4C58-9F7A-9914C4C9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81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↕️ 垂直距离</a:t>
            </a:r>
          </a:p>
        </p:txBody>
      </p:sp>
      <p:sp>
        <p:nvSpPr>
          <p:cNvPr id="11" name="card-body-2">
            <a:extLst xmlns:a="http://schemas.openxmlformats.org/drawingml/2006/main">
              <a:ext uri="{FF2B5EF4-FFF2-40B4-BE49-F238E27FC236}">
                <a16:creationId xmlns:a16="http://schemas.microsoft.com/office/drawing/2014/main" id="{86106182-893B-48A8-BE3F-A954858B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38400"/>
            <a:ext cx="4953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高度18mm</a:t>
            </a:r>
          </a:p>
        </p:txBody>
      </p:sp>
      <p:sp>
        <p:nvSpPr>
          <p:cNvPr id="12" name="card-3">
            <a:extLst xmlns:a="http://schemas.openxmlformats.org/drawingml/2006/main">
              <a:ext uri="{FF2B5EF4-FFF2-40B4-BE49-F238E27FC236}">
                <a16:creationId xmlns:a16="http://schemas.microsoft.com/office/drawing/2014/main" id="{30BB87A0-932E-4FEC-8420-16500346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529590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13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5F404F34-219A-4FA7-99A6-912B0E3C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🔄 角度</a:t>
            </a:r>
          </a:p>
        </p:txBody>
      </p:sp>
      <p:sp>
        <p:nvSpPr>
          <p:cNvPr id="14" name="card-body-3">
            <a:extLst xmlns:a="http://schemas.openxmlformats.org/drawingml/2006/main">
              <a:ext uri="{FF2B5EF4-FFF2-40B4-BE49-F238E27FC236}">
                <a16:creationId xmlns:a16="http://schemas.microsoft.com/office/drawing/2014/main" id="{BC8A3884-33D2-4699-812C-E222E197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38700"/>
            <a:ext cx="4953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两线夹角</a:t>
            </a:r>
          </a:p>
        </p:txBody>
      </p:sp>
      <p:sp>
        <p:nvSpPr>
          <p:cNvPr id="15" name="card-4">
            <a:extLst xmlns:a="http://schemas.openxmlformats.org/drawingml/2006/main">
              <a:ext uri="{FF2B5EF4-FFF2-40B4-BE49-F238E27FC236}">
                <a16:creationId xmlns:a16="http://schemas.microsoft.com/office/drawing/2014/main" id="{35F415E0-B214-4B79-9A35-9533BE59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48150"/>
            <a:ext cx="529590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16" name="card-title-4">
            <a:extLst xmlns:a="http://schemas.openxmlformats.org/drawingml/2006/main">
              <a:ext uri="{FF2B5EF4-FFF2-40B4-BE49-F238E27FC236}">
                <a16:creationId xmlns:a16="http://schemas.microsoft.com/office/drawing/2014/main" id="{3901985B-B755-40BA-85F6-8C28F358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815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⭕ 半径</a:t>
            </a:r>
          </a:p>
        </p:txBody>
      </p:sp>
      <p:sp>
        <p:nvSpPr>
          <p:cNvPr id="17" name="card-body-4">
            <a:extLst xmlns:a="http://schemas.openxmlformats.org/drawingml/2006/main">
              <a:ext uri="{FF2B5EF4-FFF2-40B4-BE49-F238E27FC236}">
                <a16:creationId xmlns:a16="http://schemas.microsoft.com/office/drawing/2014/main" id="{576A814C-C3D4-45ED-8E46-5D48E223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38700"/>
            <a:ext cx="4953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圆半径2.5mm</a:t>
            </a:r>
          </a:p>
        </p:txBody>
      </p:sp>
    </p:spTree>
    <p:extLst>
      <p:ext uri="{BB962C8B-B14F-4D97-AF65-F5344CB8AC3E}">
        <p14:creationId xmlns:p14="http://schemas.microsoft.com/office/powerpoint/2010/main" val="3970546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42637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accent">
            <a:extLst xmlns:a="http://schemas.openxmlformats.org/drawingml/2006/main">
              <a:ext uri="{FF2B5EF4-FFF2-40B4-BE49-F238E27FC236}">
                <a16:creationId xmlns:a16="http://schemas.microsoft.com/office/drawing/2014/main" id="{7520A72F-9FFE-45C0-8F97-A699D394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45A625E-E0E0-484F-964B-20B28FB9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完全约束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2E8160E8-7868-415D-A8DB-5B52441E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✅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D8F0E03-5B0F-458B-82F9-75F2C395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rPr>
              <a:t>模块二  ·  8</a:t>
            </a:r>
          </a:p>
        </p:txBody>
      </p:sp>
      <p:sp>
        <p:nvSpPr>
          <p:cNvPr id="5" name="cards-intro">
            <a:extLst xmlns:a="http://schemas.openxmlformats.org/drawingml/2006/main">
              <a:ext uri="{FF2B5EF4-FFF2-40B4-BE49-F238E27FC236}">
                <a16:creationId xmlns:a16="http://schemas.microsoft.com/office/drawing/2014/main" id="{E0507B02-31B3-4AF8-BE18-C3A0E9A1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04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rPr>
              <a:t>所有自由度被约束，图形不能变形</a:t>
            </a:r>
          </a:p>
        </p:txBody>
      </p:sp>
      <p:sp>
        <p:nvSpPr>
          <p:cNvPr id="6" name="card-1">
            <a:extLst xmlns:a="http://schemas.openxmlformats.org/drawingml/2006/main">
              <a:ext uri="{FF2B5EF4-FFF2-40B4-BE49-F238E27FC236}">
                <a16:creationId xmlns:a16="http://schemas.microsoft.com/office/drawing/2014/main" id="{177A6D5B-693D-4E44-833F-FC983BB5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529590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7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797748D7-84AB-401B-8F56-E08662F8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81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🔴 欠约束</a:t>
            </a:r>
          </a:p>
        </p:txBody>
      </p:sp>
      <p:sp>
        <p:nvSpPr>
          <p:cNvPr id="8" name="card-body-1">
            <a:extLst xmlns:a="http://schemas.openxmlformats.org/drawingml/2006/main">
              <a:ext uri="{FF2B5EF4-FFF2-40B4-BE49-F238E27FC236}">
                <a16:creationId xmlns:a16="http://schemas.microsoft.com/office/drawing/2014/main" id="{5ABDD233-8E5A-444E-BDD2-FBD27297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4953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白色·可变形·需加约束</a:t>
            </a:r>
          </a:p>
        </p:txBody>
      </p:sp>
      <p:sp>
        <p:nvSpPr>
          <p:cNvPr id="9" name="card-2">
            <a:extLst xmlns:a="http://schemas.openxmlformats.org/drawingml/2006/main">
              <a:ext uri="{FF2B5EF4-FFF2-40B4-BE49-F238E27FC236}">
                <a16:creationId xmlns:a16="http://schemas.microsoft.com/office/drawing/2014/main" id="{D272CC5D-B83A-4AA9-A32F-201BA6E1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47850"/>
            <a:ext cx="529590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10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9866C4C3-538E-4228-899B-9900DBDB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81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🟢 完全约束</a:t>
            </a:r>
          </a:p>
        </p:txBody>
      </p:sp>
      <p:sp>
        <p:nvSpPr>
          <p:cNvPr id="11" name="card-body-2">
            <a:extLst xmlns:a="http://schemas.openxmlformats.org/drawingml/2006/main">
              <a:ext uri="{FF2B5EF4-FFF2-40B4-BE49-F238E27FC236}">
                <a16:creationId xmlns:a16="http://schemas.microsoft.com/office/drawing/2014/main" id="{C3B56118-5E4C-422D-B7D2-2E988488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38400"/>
            <a:ext cx="4953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绿色·固定·理想状态</a:t>
            </a:r>
          </a:p>
        </p:txBody>
      </p:sp>
      <p:sp>
        <p:nvSpPr>
          <p:cNvPr id="12" name="card-3">
            <a:extLst xmlns:a="http://schemas.openxmlformats.org/drawingml/2006/main">
              <a:ext uri="{FF2B5EF4-FFF2-40B4-BE49-F238E27FC236}">
                <a16:creationId xmlns:a16="http://schemas.microsoft.com/office/drawing/2014/main" id="{7BDB0897-0F52-4C7D-8388-8CF66CB4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529590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13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8979ACB8-8096-4105-B35F-D61CCE44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🔴 过约束</a:t>
            </a:r>
          </a:p>
        </p:txBody>
      </p:sp>
      <p:sp>
        <p:nvSpPr>
          <p:cNvPr id="14" name="card-body-3">
            <a:extLst xmlns:a="http://schemas.openxmlformats.org/drawingml/2006/main">
              <a:ext uri="{FF2B5EF4-FFF2-40B4-BE49-F238E27FC236}">
                <a16:creationId xmlns:a16="http://schemas.microsoft.com/office/drawing/2014/main" id="{AFAE1EE0-867E-497E-BA32-3E46CAAF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38700"/>
            <a:ext cx="4953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红色·冲突·需删约束</a:t>
            </a:r>
          </a:p>
        </p:txBody>
      </p:sp>
    </p:spTree>
    <p:extLst>
      <p:ext uri="{BB962C8B-B14F-4D97-AF65-F5344CB8AC3E}">
        <p14:creationId xmlns:p14="http://schemas.microsoft.com/office/powerpoint/2010/main" val="14748985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85D7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op-accent">
            <a:extLst xmlns:a="http://schemas.openxmlformats.org/drawingml/2006/main">
              <a:ext uri="{FF2B5EF4-FFF2-40B4-BE49-F238E27FC236}">
                <a16:creationId xmlns:a16="http://schemas.microsoft.com/office/drawing/2014/main" id="{9FF4EA7A-E59A-4D60-A974-26455A14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794A044-C42F-4AEC-A2D4-BA2DE803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约束口诀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5FDAF9AF-F472-4426-A31A-189F51BA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🔑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F950A60-C731-4309-97D3-4B46929F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FF5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5F5"/>
                </a:solidFill>
                <a:latin typeface="Microsoft YaHei"/>
                <a:ea typeface="Microsoft YaHei"/>
                <a:cs typeface="Microsoft YaHei"/>
              </a:rPr>
              <a:t>模块二  ·  9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87B18CE7-1A4E-4285-B8C4-C72945E0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85900"/>
            <a:ext cx="9334500" cy="123825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  <p:txBody>
          <a:bodyPr xmlns:a="http://schemas.openxmlformats.org/drawingml/2006/main" lIns="190500" tIns="114300" rIns="1905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先几何 后尺寸</a:t>
            </a:r>
          </a:p>
        </p:txBody>
      </p:sp>
      <p:sp>
        <p:nvSpPr>
          <p:cNvPr id="6" name="body-2">
            <a:extLst xmlns:a="http://schemas.openxmlformats.org/drawingml/2006/main">
              <a:ext uri="{FF2B5EF4-FFF2-40B4-BE49-F238E27FC236}">
                <a16:creationId xmlns:a16="http://schemas.microsoft.com/office/drawing/2014/main" id="{625CC585-1E6B-4218-8B14-F3CD450B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14650"/>
            <a:ext cx="9334500" cy="123825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  <p:txBody>
          <a:bodyPr xmlns:a="http://schemas.openxmlformats.org/drawingml/2006/main" lIns="190500" tIns="114300" rIns="1905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先形状 后大小</a:t>
            </a:r>
          </a:p>
        </p:txBody>
      </p:sp>
      <p:sp>
        <p:nvSpPr>
          <p:cNvPr id="7" name="body-3">
            <a:extLst xmlns:a="http://schemas.openxmlformats.org/drawingml/2006/main">
              <a:ext uri="{FF2B5EF4-FFF2-40B4-BE49-F238E27FC236}">
                <a16:creationId xmlns:a16="http://schemas.microsoft.com/office/drawing/2014/main" id="{1C2A3C63-21C1-4B21-9C12-9C920CE1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9334500" cy="123825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  <p:txBody>
          <a:bodyPr xmlns:a="http://schemas.openxmlformats.org/drawingml/2006/main" lIns="190500" tIns="114300" rIns="1905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看颜色 判状态</a:t>
            </a:r>
          </a:p>
        </p:txBody>
      </p:sp>
    </p:spTree>
    <p:extLst>
      <p:ext uri="{BB962C8B-B14F-4D97-AF65-F5344CB8AC3E}">
        <p14:creationId xmlns:p14="http://schemas.microsoft.com/office/powerpoint/2010/main" val="5617050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667E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op-accent">
            <a:extLst xmlns:a="http://schemas.openxmlformats.org/drawingml/2006/main">
              <a:ext uri="{FF2B5EF4-FFF2-40B4-BE49-F238E27FC236}">
                <a16:creationId xmlns:a16="http://schemas.microsoft.com/office/drawing/2014/main" id="{E9EDBAEB-4539-494D-9453-37311ED6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A36B342-5FA6-4149-838D-74C47464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Pad拉伸特征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7E5100C2-5B14-4E0C-98E8-B59AE39F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📦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39731DA-B6FE-4344-BCE3-E5D1F73C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rPr>
              <a:t>模块二  ·  10</a:t>
            </a:r>
          </a:p>
        </p:txBody>
      </p:sp>
      <p:sp>
        <p:nvSpPr>
          <p:cNvPr id="5" name="code-intro">
            <a:extLst xmlns:a="http://schemas.openxmlformats.org/drawingml/2006/main">
              <a:ext uri="{FF2B5EF4-FFF2-40B4-BE49-F238E27FC236}">
                <a16:creationId xmlns:a16="http://schemas.microsoft.com/office/drawing/2014/main" id="{C6059E93-EA3C-4C26-BA0F-A11EF202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rPr>
              <a:t>把2D草图拉成3D实体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B7DDAB10-EE84-4C1B-873C-50FEAFC7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667500" cy="485775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 w="9525">
            <a:solidFill>
              <a:srgbClr val="4A5568"/>
            </a:solidFill>
            <a:prstDash val="solid"/>
          </a:ln>
        </p:spPr>
      </p:sp>
      <p:sp>
        <p:nvSpPr>
          <p:cNvPr id="7" name="editable-code">
            <a:extLst xmlns:a="http://schemas.openxmlformats.org/drawingml/2006/main">
              <a:ext uri="{FF2B5EF4-FFF2-40B4-BE49-F238E27FC236}">
                <a16:creationId xmlns:a16="http://schemas.microsoft.com/office/drawing/2014/main" id="{1B84D7D9-0BD7-422B-9E2D-E787FCF1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6286500" cy="451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# 创建Pad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pad = body.newObject('PartDesign::Pad', 'Pad')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pad.Profile = sketch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pad.Length = 3.0 # 拉伸3mm</a:t>
            </a:r>
          </a:p>
          <a:p xmlns:a="http://schemas.openxmlformats.org/drawingml/2006/main"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doc.recompute()</a:t>
            </a:r>
          </a:p>
        </p:txBody>
      </p:sp>
      <p:sp>
        <p:nvSpPr>
          <p:cNvPr id="8" name="explain-1">
            <a:extLst xmlns:a="http://schemas.openxmlformats.org/drawingml/2006/main">
              <a:ext uri="{FF2B5EF4-FFF2-40B4-BE49-F238E27FC236}">
                <a16:creationId xmlns:a16="http://schemas.microsoft.com/office/drawing/2014/main" id="{1039062C-0688-4500-B84F-C85C43C4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466850"/>
            <a:ext cx="4191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9" name="explain-text-1">
            <a:extLst xmlns:a="http://schemas.openxmlformats.org/drawingml/2006/main">
              <a:ext uri="{FF2B5EF4-FFF2-40B4-BE49-F238E27FC236}">
                <a16:creationId xmlns:a16="http://schemas.microsoft.com/office/drawing/2014/main" id="{3449875F-85AC-411E-8E65-D9D8EFE3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524000"/>
            <a:ext cx="396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逐行作用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新建Pad → 指定闭合草图Profile → 设置3mm高度 → recompute生成实体。</a:t>
            </a:r>
          </a:p>
        </p:txBody>
      </p:sp>
      <p:sp>
        <p:nvSpPr>
          <p:cNvPr id="10" name="explain-2">
            <a:extLst xmlns:a="http://schemas.openxmlformats.org/drawingml/2006/main">
              <a:ext uri="{FF2B5EF4-FFF2-40B4-BE49-F238E27FC236}">
                <a16:creationId xmlns:a16="http://schemas.microsoft.com/office/drawing/2014/main" id="{507E9FBD-D858-40A6-91E5-E7220957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57450"/>
            <a:ext cx="4191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11" name="explain-text-2">
            <a:extLst xmlns:a="http://schemas.openxmlformats.org/drawingml/2006/main">
              <a:ext uri="{FF2B5EF4-FFF2-40B4-BE49-F238E27FC236}">
                <a16:creationId xmlns:a16="http://schemas.microsoft.com/office/drawing/2014/main" id="{BEC88285-E6D1-4353-A163-C84A0B17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14600"/>
            <a:ext cx="396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前置条件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body和sketch必须已存在，且sketch是Body内无缺口、无自交的闭合轮廓。</a:t>
            </a:r>
          </a:p>
        </p:txBody>
      </p:sp>
      <p:sp>
        <p:nvSpPr>
          <p:cNvPr id="12" name="explain-3">
            <a:extLst xmlns:a="http://schemas.openxmlformats.org/drawingml/2006/main">
              <a:ext uri="{FF2B5EF4-FFF2-40B4-BE49-F238E27FC236}">
                <a16:creationId xmlns:a16="http://schemas.microsoft.com/office/drawing/2014/main" id="{B2EA6757-4B95-41BA-B62C-2937BCFC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48050"/>
            <a:ext cx="4191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19050">
            <a:solidFill>
              <a:srgbClr val="89B4FA"/>
            </a:solidFill>
            <a:prstDash val="solid"/>
          </a:ln>
        </p:spPr>
      </p:sp>
      <p:sp>
        <p:nvSpPr>
          <p:cNvPr id="13" name="explain-text-3">
            <a:extLst xmlns:a="http://schemas.openxmlformats.org/drawingml/2006/main">
              <a:ext uri="{FF2B5EF4-FFF2-40B4-BE49-F238E27FC236}">
                <a16:creationId xmlns:a16="http://schemas.microsoft.com/office/drawing/2014/main" id="{897C301B-4E86-44F8-A79D-A3E76DA9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505200"/>
            <a:ext cx="396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易错点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草图未闭合或Profile指错时Pad失败；Length单位为mm。</a:t>
            </a:r>
          </a:p>
        </p:txBody>
      </p:sp>
    </p:spTree>
    <p:extLst>
      <p:ext uri="{BB962C8B-B14F-4D97-AF65-F5344CB8AC3E}">
        <p14:creationId xmlns:p14="http://schemas.microsoft.com/office/powerpoint/2010/main" val="16153001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42637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accent">
            <a:extLst xmlns:a="http://schemas.openxmlformats.org/drawingml/2006/main">
              <a:ext uri="{FF2B5EF4-FFF2-40B4-BE49-F238E27FC236}">
                <a16:creationId xmlns:a16="http://schemas.microsoft.com/office/drawing/2014/main" id="{46B9794A-695C-4D2D-99F8-BECD6D06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4187061-4666-4D03-955D-A7EDDE44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Pocket挖孔特征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B5A26373-3144-4392-A11D-8EC951ED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🕳️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2FDC6998-3C87-4462-8B2A-504A16368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rPr>
              <a:t>模块二  ·  11</a:t>
            </a:r>
          </a:p>
        </p:txBody>
      </p:sp>
      <p:sp>
        <p:nvSpPr>
          <p:cNvPr id="5" name="list-intro">
            <a:extLst xmlns:a="http://schemas.openxmlformats.org/drawingml/2006/main">
              <a:ext uri="{FF2B5EF4-FFF2-40B4-BE49-F238E27FC236}">
                <a16:creationId xmlns:a16="http://schemas.microsoft.com/office/drawing/2014/main" id="{D9F6440A-8B7E-4E34-9219-35EE4C1A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04900"/>
            <a:ext cx="10553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rPr>
              <a:t>在实体上挖孔（反向Pad）</a:t>
            </a:r>
          </a:p>
        </p:txBody>
      </p:sp>
      <p:sp>
        <p:nvSpPr>
          <p:cNvPr id="6" name="bullet-list">
            <a:extLst xmlns:a="http://schemas.openxmlformats.org/drawingml/2006/main">
              <a:ext uri="{FF2B5EF4-FFF2-40B4-BE49-F238E27FC236}">
                <a16:creationId xmlns:a16="http://schemas.microsoft.com/office/drawing/2014/main" id="{E765AEE9-5A69-4ABB-A910-D3D59169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76400"/>
            <a:ext cx="9906000" cy="4572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6667"/>
              </a:srgbClr>
            </a:solidFill>
            <a:prstDash val="solid"/>
          </a:ln>
        </p:spPr>
        <p:txBody>
          <a:bodyPr xmlns:a="http://schemas.openxmlformats.org/drawingml/2006/main" lIns="209550" tIns="171450" rIns="190500" bIns="133350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 在实体表面创建新草图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 画孔的形状（圆/矩形）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 点击Pocket按钮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4. 设置深度→确认</a:t>
            </a:r>
          </a:p>
        </p:txBody>
      </p:sp>
    </p:spTree>
    <p:extLst>
      <p:ext uri="{BB962C8B-B14F-4D97-AF65-F5344CB8AC3E}">
        <p14:creationId xmlns:p14="http://schemas.microsoft.com/office/powerpoint/2010/main" val="21240661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9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accent">
            <a:extLst xmlns:a="http://schemas.openxmlformats.org/drawingml/2006/main">
              <a:ext uri="{FF2B5EF4-FFF2-40B4-BE49-F238E27FC236}">
                <a16:creationId xmlns:a16="http://schemas.microsoft.com/office/drawing/2014/main" id="{7C15043A-0A70-4152-B36E-A89E76C7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424D62B-56C4-42EB-97B6-E7E62CDE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实践作业1：钥匙扣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75B1150A-A8DF-4C3B-BDA9-20C6A5E0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🔑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AF928E9-A5FE-43BF-AAA3-493D8BC6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模块二  ·  12</a:t>
            </a:r>
          </a:p>
        </p:txBody>
      </p:sp>
      <p:sp>
        <p:nvSpPr>
          <p:cNvPr id="5" name="cards-intro">
            <a:extLst xmlns:a="http://schemas.openxmlformats.org/drawingml/2006/main">
              <a:ext uri="{FF2B5EF4-FFF2-40B4-BE49-F238E27FC236}">
                <a16:creationId xmlns:a16="http://schemas.microsoft.com/office/drawing/2014/main" id="{DDB5F3AD-950B-4328-B5F6-D687C523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049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设计要求：个性化·完全约束·含穿绳孔</a:t>
            </a:r>
          </a:p>
        </p:txBody>
      </p:sp>
      <p:sp>
        <p:nvSpPr>
          <p:cNvPr id="6" name="card-1">
            <a:extLst xmlns:a="http://schemas.openxmlformats.org/drawingml/2006/main">
              <a:ext uri="{FF2B5EF4-FFF2-40B4-BE49-F238E27FC236}">
                <a16:creationId xmlns:a16="http://schemas.microsoft.com/office/drawing/2014/main" id="{2993954F-3AE5-4F90-88D7-B43B4799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5295900" cy="4629150"/>
          </a:xfrm>
          <a:prstGeom xmlns:a="http://schemas.openxmlformats.org/drawingml/2006/main" prst="roundRect">
            <a:avLst>
              <a:gd name="adj" fmla="val 32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D"/>
            </a:solidFill>
            <a:prstDash val="solid"/>
          </a:ln>
        </p:spPr>
      </p:sp>
      <p:sp>
        <p:nvSpPr>
          <p:cNvPr id="7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09FC81F8-B348-4AA8-B963-15965EFA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81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📐 参数</a:t>
            </a:r>
          </a:p>
        </p:txBody>
      </p:sp>
      <p:sp>
        <p:nvSpPr>
          <p:cNvPr id="8" name="card-body-1">
            <a:extLst xmlns:a="http://schemas.openxmlformats.org/drawingml/2006/main">
              <a:ext uri="{FF2B5EF4-FFF2-40B4-BE49-F238E27FC236}">
                <a16:creationId xmlns:a16="http://schemas.microsoft.com/office/drawing/2014/main" id="{D068F75D-8C26-4C7F-AE21-E56DC535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4953000" cy="388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主体45×20×3mm 挂环R7/R3.5</a:t>
            </a:r>
          </a:p>
        </p:txBody>
      </p:sp>
      <p:sp>
        <p:nvSpPr>
          <p:cNvPr id="9" name="card-2">
            <a:extLst xmlns:a="http://schemas.openxmlformats.org/drawingml/2006/main">
              <a:ext uri="{FF2B5EF4-FFF2-40B4-BE49-F238E27FC236}">
                <a16:creationId xmlns:a16="http://schemas.microsoft.com/office/drawing/2014/main" id="{88DAB7DC-831F-462C-AB44-DE393993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47850"/>
            <a:ext cx="5295900" cy="4629150"/>
          </a:xfrm>
          <a:prstGeom xmlns:a="http://schemas.openxmlformats.org/drawingml/2006/main" prst="roundRect">
            <a:avLst>
              <a:gd name="adj" fmla="val 32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D"/>
            </a:solidFill>
            <a:prstDash val="solid"/>
          </a:ln>
        </p:spPr>
      </p:sp>
      <p:sp>
        <p:nvSpPr>
          <p:cNvPr id="10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CC0CC242-DC98-456F-9797-1F5F0DCE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81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📝 评分</a:t>
            </a:r>
          </a:p>
        </p:txBody>
      </p:sp>
      <p:sp>
        <p:nvSpPr>
          <p:cNvPr id="11" name="card-body-2">
            <a:extLst xmlns:a="http://schemas.openxmlformats.org/drawingml/2006/main">
              <a:ext uri="{FF2B5EF4-FFF2-40B4-BE49-F238E27FC236}">
                <a16:creationId xmlns:a16="http://schemas.microsoft.com/office/drawing/2014/main" id="{78B42916-D799-4858-8934-CC7016FC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38400"/>
            <a:ext cx="4953000" cy="388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完成度40% + 技术性40% + 规范性20%</a:t>
            </a:r>
          </a:p>
        </p:txBody>
      </p:sp>
    </p:spTree>
    <p:extLst>
      <p:ext uri="{BB962C8B-B14F-4D97-AF65-F5344CB8AC3E}">
        <p14:creationId xmlns:p14="http://schemas.microsoft.com/office/powerpoint/2010/main" val="10221743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2026-07-26T04:43:57.2460000Z</dcterms:created>
  <dcterms:modified xsi:type="dcterms:W3CDTF">2026-07-26T04:43:57.2460000Z</dcterms:modified>
</coreProperties>
</file>
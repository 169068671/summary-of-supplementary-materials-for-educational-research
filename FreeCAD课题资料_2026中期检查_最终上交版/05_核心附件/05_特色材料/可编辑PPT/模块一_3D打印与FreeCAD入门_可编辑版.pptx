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23eee9931f4366" /><Relationship Type="http://schemas.openxmlformats.org/officeDocument/2006/relationships/extended-properties" Target="/docProps/app.xml" Id="Rcc42e9063e634457" /><Relationship Type="http://schemas.openxmlformats.org/officeDocument/2006/relationships/officeDocument" Target="/ppt/presentation.xml" Id="R749fe94c4a7a4e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2acc2c8bcd4cc7"/>
  </p:sldMasterIdLst>
  <p:notesMasterIdLst>
    <p:notesMasterId xmlns:r="http://schemas.openxmlformats.org/officeDocument/2006/relationships" r:id="Rb226c55dc75f4d41"/>
  </p:notesMasterIdLst>
  <p:sldIdLst>
    <p:sldId xmlns:r="http://schemas.openxmlformats.org/officeDocument/2006/relationships" id="256" r:id="R8de332b73d2d4b2d"/>
    <p:sldId xmlns:r="http://schemas.openxmlformats.org/officeDocument/2006/relationships" id="257" r:id="Re2254f47ccde48e5"/>
    <p:sldId xmlns:r="http://schemas.openxmlformats.org/officeDocument/2006/relationships" id="258" r:id="R6816d41ed5d049f7"/>
    <p:sldId xmlns:r="http://schemas.openxmlformats.org/officeDocument/2006/relationships" id="259" r:id="Rd3018812c8d74111"/>
    <p:sldId xmlns:r="http://schemas.openxmlformats.org/officeDocument/2006/relationships" id="260" r:id="R1d8572e2bfd34a73"/>
    <p:sldId xmlns:r="http://schemas.openxmlformats.org/officeDocument/2006/relationships" id="261" r:id="Rde586dcb3d5248b6"/>
    <p:sldId xmlns:r="http://schemas.openxmlformats.org/officeDocument/2006/relationships" id="262" r:id="R4d65349ae3014d3f"/>
    <p:sldId xmlns:r="http://schemas.openxmlformats.org/officeDocument/2006/relationships" id="263" r:id="Rffe2777d837d46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d39a47a56e4b81" /><Relationship Type="http://schemas.openxmlformats.org/officeDocument/2006/relationships/slideMaster" Target="/ppt/slideMasters/slideMaster1.xml" Id="R5b2acc2c8bcd4cc7" /><Relationship Type="http://schemas.openxmlformats.org/officeDocument/2006/relationships/notesMaster" Target="/ppt/notesMasters/notesMaster1.xml" Id="Rb226c55dc75f4d41" /><Relationship Type="http://schemas.openxmlformats.org/officeDocument/2006/relationships/presProps" Target="/ppt/presProps.xml" Id="Rb1da430e0b9841f6" /><Relationship Type="http://schemas.openxmlformats.org/officeDocument/2006/relationships/tableStyles" Target="/ppt/tableStyles.xml" Id="R42a27574fd914a8e" /><Relationship Type="http://schemas.openxmlformats.org/officeDocument/2006/relationships/slide" Target="/ppt/slides/slide1.xml" Id="R8de332b73d2d4b2d" /><Relationship Type="http://schemas.openxmlformats.org/officeDocument/2006/relationships/slide" Target="/ppt/slides/slide2.xml" Id="Re2254f47ccde48e5" /><Relationship Type="http://schemas.openxmlformats.org/officeDocument/2006/relationships/slide" Target="/ppt/slides/slide3.xml" Id="R6816d41ed5d049f7" /><Relationship Type="http://schemas.openxmlformats.org/officeDocument/2006/relationships/slide" Target="/ppt/slides/slide4.xml" Id="Rd3018812c8d74111" /><Relationship Type="http://schemas.openxmlformats.org/officeDocument/2006/relationships/slide" Target="/ppt/slides/slide5.xml" Id="R1d8572e2bfd34a73" /><Relationship Type="http://schemas.openxmlformats.org/officeDocument/2006/relationships/slide" Target="/ppt/slides/slide6.xml" Id="Rde586dcb3d5248b6" /><Relationship Type="http://schemas.openxmlformats.org/officeDocument/2006/relationships/slide" Target="/ppt/slides/slide7.xml" Id="R4d65349ae3014d3f" /><Relationship Type="http://schemas.openxmlformats.org/officeDocument/2006/relationships/slide" Target="/ppt/slides/slide8.xml" Id="Rffe2777d837d46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0495a18f444d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32fbd4791e467e" /><Relationship Type="http://schemas.openxmlformats.org/officeDocument/2006/relationships/notesMaster" Target="/ppt/notesMasters/notesMaster1.xml" Id="R854b4a5ad19c45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54161566274730" /><Relationship Type="http://schemas.openxmlformats.org/officeDocument/2006/relationships/notesMaster" Target="/ppt/notesMasters/notesMaster1.xml" Id="Re0fc3f1dcda540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a5a11fea164a05" /><Relationship Type="http://schemas.openxmlformats.org/officeDocument/2006/relationships/notesMaster" Target="/ppt/notesMasters/notesMaster1.xml" Id="Ra29c5e9606a34f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e8e3f3be424b45" /><Relationship Type="http://schemas.openxmlformats.org/officeDocument/2006/relationships/notesMaster" Target="/ppt/notesMasters/notesMaster1.xml" Id="Rda507f16ffdb45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1e62206a1140d4" /><Relationship Type="http://schemas.openxmlformats.org/officeDocument/2006/relationships/notesMaster" Target="/ppt/notesMasters/notesMaster1.xml" Id="R2bdca30574ad4f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4ec9fe3c154d07" /><Relationship Type="http://schemas.openxmlformats.org/officeDocument/2006/relationships/notesMaster" Target="/ppt/notesMasters/notesMaster1.xml" Id="Rfff27797cb2d42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a8675f510a4e0b" /><Relationship Type="http://schemas.openxmlformats.org/officeDocument/2006/relationships/notesMaster" Target="/ppt/notesMasters/notesMaster1.xml" Id="R37590e200a354e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3cb54e5b244f2e" /><Relationship Type="http://schemas.openxmlformats.org/officeDocument/2006/relationships/notesMaster" Target="/ppt/notesMasters/notesMaster1.xml" Id="R3af6048d7b9b41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fbf65fea524f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50174ef469475e" /><Relationship Type="http://schemas.openxmlformats.org/officeDocument/2006/relationships/slideLayout" Target="/ppt/slideLayouts/slideLayout1.xml" Id="R3ffd02e623ac48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fd02e623ac48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9cca94b9345ac" /><Relationship Type="http://schemas.openxmlformats.org/officeDocument/2006/relationships/notesSlide" Target="/ppt/notesSlides/notesSlide1.xml" Id="R8ff7ebff4a2942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e9bf3409f46f3" /><Relationship Type="http://schemas.openxmlformats.org/officeDocument/2006/relationships/notesSlide" Target="/ppt/notesSlides/notesSlide2.xml" Id="R5c9429117eb941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88274e935420f" /><Relationship Type="http://schemas.openxmlformats.org/officeDocument/2006/relationships/notesSlide" Target="/ppt/notesSlides/notesSlide3.xml" Id="Rf6821bf1305c4b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5511748ea4d8f" /><Relationship Type="http://schemas.openxmlformats.org/officeDocument/2006/relationships/notesSlide" Target="/ppt/notesSlides/notesSlide4.xml" Id="R33f0fe66c02d4b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fd1efe12c420a" /><Relationship Type="http://schemas.openxmlformats.org/officeDocument/2006/relationships/notesSlide" Target="/ppt/notesSlides/notesSlide5.xml" Id="R32be39938e7147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9d2592650425e" /><Relationship Type="http://schemas.openxmlformats.org/officeDocument/2006/relationships/notesSlide" Target="/ppt/notesSlides/notesSlide6.xml" Id="R1a2ddf11838c4f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a2e9645454023" /><Relationship Type="http://schemas.openxmlformats.org/officeDocument/2006/relationships/notesSlide" Target="/ppt/notesSlides/notesSlide7.xml" Id="R339a217ba6da48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9aaa0f0ee4451" /><Relationship Type="http://schemas.openxmlformats.org/officeDocument/2006/relationships/notesSlide" Target="/ppt/notesSlides/notesSlide8.xml" Id="R68f35f236e814e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667E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5369F-0B0D-41E7-A8CD-4819A0E8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icon">
            <a:extLst xmlns:a="http://schemas.openxmlformats.org/drawingml/2006/main">
              <a:ext uri="{FF2B5EF4-FFF2-40B4-BE49-F238E27FC236}">
                <a16:creationId xmlns:a16="http://schemas.microsoft.com/office/drawing/2014/main" id="{4F5F7B89-DC6E-4F33-AEF2-9FC708EB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81125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🌍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83D74B60-0ED7-43FB-AF1A-5EB6CB79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模块一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F516E610-2D44-4C22-8EEB-7F9F8A60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3D打印新视界与STEAM启蒙</a:t>
            </a:r>
          </a:p>
        </p:txBody>
      </p:sp>
      <p:sp>
        <p:nvSpPr>
          <p:cNvPr id="5" name="deck-meta">
            <a:extLst xmlns:a="http://schemas.openxmlformats.org/drawingml/2006/main">
              <a:ext uri="{FF2B5EF4-FFF2-40B4-BE49-F238E27FC236}">
                <a16:creationId xmlns:a16="http://schemas.microsoft.com/office/drawing/2014/main" id="{CCC17A23-A601-4DF7-AB80-94CF22A5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2课时 · 第1-2课 · 基础启蒙阶段</a:t>
            </a:r>
          </a:p>
        </p:txBody>
      </p:sp>
      <p:sp>
        <p:nvSpPr>
          <p:cNvPr id="6" name="editable-label">
            <a:extLst xmlns:a="http://schemas.openxmlformats.org/drawingml/2006/main">
              <a:ext uri="{FF2B5EF4-FFF2-40B4-BE49-F238E27FC236}">
                <a16:creationId xmlns:a16="http://schemas.microsoft.com/office/drawing/2014/main" id="{AFDBAF9B-A78C-44D5-9DCF-7F52757F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可编辑PowerPoint课件</a:t>
            </a:r>
          </a:p>
        </p:txBody>
      </p:sp>
    </p:spTree>
    <p:extLst>
      <p:ext uri="{BB962C8B-B14F-4D97-AF65-F5344CB8AC3E}">
        <p14:creationId xmlns:p14="http://schemas.microsoft.com/office/powerpoint/2010/main" val="21266827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85D7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accent">
            <a:extLst xmlns:a="http://schemas.openxmlformats.org/drawingml/2006/main">
              <a:ext uri="{FF2B5EF4-FFF2-40B4-BE49-F238E27FC236}">
                <a16:creationId xmlns:a16="http://schemas.microsoft.com/office/drawing/2014/main" id="{FED8EDC7-8D2D-42D1-A38D-20926F4E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00B9D0-3234-4DE1-ABFE-023732BD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课前预习！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6D0A4E0A-8DBD-41BC-A272-87CFF3A8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⚠️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17F5FB2-3704-40A7-A528-C7D4138F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5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5F5"/>
                </a:solidFill>
                <a:latin typeface="Microsoft YaHei"/>
                <a:ea typeface="Microsoft YaHei"/>
                <a:cs typeface="Microsoft YaHei"/>
              </a:rPr>
              <a:t>模块一  ·  2</a:t>
            </a:r>
          </a:p>
        </p:txBody>
      </p:sp>
      <p:sp>
        <p:nvSpPr>
          <p:cNvPr id="5" name="bullet-list">
            <a:extLst xmlns:a="http://schemas.openxmlformats.org/drawingml/2006/main">
              <a:ext uri="{FF2B5EF4-FFF2-40B4-BE49-F238E27FC236}">
                <a16:creationId xmlns:a16="http://schemas.microsoft.com/office/drawing/2014/main" id="{E4389111-559C-4229-A847-CC133A3C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71600"/>
            <a:ext cx="9906000" cy="457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  <a:prstDash val="solid"/>
          </a:ln>
        </p:spPr>
        <p:txBody>
          <a:bodyPr xmlns:a="http://schemas.openxmlformats.org/drawingml/2006/main" lIns="209550" tIns="171450" rIns="190500" bIns="133350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搜索"3D打印"，了解基本概念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看1个3D打印视频（B站搜索FDM打印过程）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了解STEAM是哪五个学科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安装FreeCAD软件</a:t>
            </a:r>
          </a:p>
        </p:txBody>
      </p:sp>
    </p:spTree>
    <p:extLst>
      <p:ext uri="{BB962C8B-B14F-4D97-AF65-F5344CB8AC3E}">
        <p14:creationId xmlns:p14="http://schemas.microsoft.com/office/powerpoint/2010/main" val="8194205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42637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accent">
            <a:extLst xmlns:a="http://schemas.openxmlformats.org/drawingml/2006/main">
              <a:ext uri="{FF2B5EF4-FFF2-40B4-BE49-F238E27FC236}">
                <a16:creationId xmlns:a16="http://schemas.microsoft.com/office/drawing/2014/main" id="{8F74E521-2964-49F0-989B-84F22B14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598F62-0180-4FBB-9C6B-F860DE69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3D打印原理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B4ABDB17-DA5A-4FFE-A721-336F250E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🔬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545F331-B6F7-42F5-B85D-08E23847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模块一  ·  3</a:t>
            </a:r>
          </a:p>
        </p:txBody>
      </p:sp>
      <p:sp>
        <p:nvSpPr>
          <p:cNvPr id="5" name="cards-intro">
            <a:extLst xmlns:a="http://schemas.openxmlformats.org/drawingml/2006/main">
              <a:ext uri="{FF2B5EF4-FFF2-40B4-BE49-F238E27FC236}">
                <a16:creationId xmlns:a16="http://schemas.microsoft.com/office/drawing/2014/main" id="{0C973039-E331-4299-8AA2-F6EDADB9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04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3D打印 = 增材制造 = 逐层堆积材料</a:t>
            </a:r>
          </a:p>
        </p:txBody>
      </p:sp>
      <p:sp>
        <p:nvSpPr>
          <p:cNvPr id="6" name="card-1">
            <a:extLst xmlns:a="http://schemas.openxmlformats.org/drawingml/2006/main">
              <a:ext uri="{FF2B5EF4-FFF2-40B4-BE49-F238E27FC236}">
                <a16:creationId xmlns:a16="http://schemas.microsoft.com/office/drawing/2014/main" id="{B5EA814D-8CF7-4C4F-878D-811BC44D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5295900" cy="4629150"/>
          </a:xfrm>
          <a:prstGeom xmlns:a="http://schemas.openxmlformats.org/drawingml/2006/main" prst="roundRect">
            <a:avLst>
              <a:gd name="adj" fmla="val 3292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7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6F14F1CF-B101-40C3-B24F-99E3DA11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🔪 传统加工</a:t>
            </a:r>
          </a:p>
        </p:txBody>
      </p:sp>
      <p:sp>
        <p:nvSpPr>
          <p:cNvPr id="8" name="card-body-1">
            <a:extLst xmlns:a="http://schemas.openxmlformats.org/drawingml/2006/main">
              <a:ext uri="{FF2B5EF4-FFF2-40B4-BE49-F238E27FC236}">
                <a16:creationId xmlns:a16="http://schemas.microsoft.com/office/drawing/2014/main" id="{236CC112-3F9A-4BB4-BF5F-E31AA30D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减材制造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从大块材料上切掉多余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像"切豆腐"</a:t>
            </a:r>
          </a:p>
        </p:txBody>
      </p:sp>
      <p:sp>
        <p:nvSpPr>
          <p:cNvPr id="9" name="card-2">
            <a:extLst xmlns:a="http://schemas.openxmlformats.org/drawingml/2006/main">
              <a:ext uri="{FF2B5EF4-FFF2-40B4-BE49-F238E27FC236}">
                <a16:creationId xmlns:a16="http://schemas.microsoft.com/office/drawing/2014/main" id="{09DE6CEC-1456-430C-ACCF-18747C16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5295900" cy="4629150"/>
          </a:xfrm>
          <a:prstGeom xmlns:a="http://schemas.openxmlformats.org/drawingml/2006/main" prst="roundRect">
            <a:avLst>
              <a:gd name="adj" fmla="val 3292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10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27E15F3A-1A6E-43A2-A400-8B6C0A3E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81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🧱 3D打印</a:t>
            </a:r>
          </a:p>
        </p:txBody>
      </p:sp>
      <p:sp>
        <p:nvSpPr>
          <p:cNvPr id="11" name="card-body-2">
            <a:extLst xmlns:a="http://schemas.openxmlformats.org/drawingml/2006/main">
              <a:ext uri="{FF2B5EF4-FFF2-40B4-BE49-F238E27FC236}">
                <a16:creationId xmlns:a16="http://schemas.microsoft.com/office/drawing/2014/main" id="{28BB399C-469D-484C-B55D-F79BD353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38400"/>
            <a:ext cx="495300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增材制造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一层一层往上堆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像"堆乐高"</a:t>
            </a:r>
          </a:p>
        </p:txBody>
      </p:sp>
    </p:spTree>
    <p:extLst>
      <p:ext uri="{BB962C8B-B14F-4D97-AF65-F5344CB8AC3E}">
        <p14:creationId xmlns:p14="http://schemas.microsoft.com/office/powerpoint/2010/main" val="18389490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accent">
            <a:extLst xmlns:a="http://schemas.openxmlformats.org/drawingml/2006/main">
              <a:ext uri="{FF2B5EF4-FFF2-40B4-BE49-F238E27FC236}">
                <a16:creationId xmlns:a16="http://schemas.microsoft.com/office/drawing/2014/main" id="{FAD83225-BD4A-4E1E-B2AD-60703DE1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ABFB81-E23C-43EA-9687-E7BE08EB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3D打印三大类型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B38F9D75-78B3-4950-B07E-5673A7FA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模块一  ·  4</a:t>
            </a:r>
          </a:p>
        </p:txBody>
      </p:sp>
      <p:sp>
        <p:nvSpPr>
          <p:cNvPr id="4" name="card-1">
            <a:extLst xmlns:a="http://schemas.openxmlformats.org/drawingml/2006/main">
              <a:ext uri="{FF2B5EF4-FFF2-40B4-BE49-F238E27FC236}">
                <a16:creationId xmlns:a16="http://schemas.microsoft.com/office/drawing/2014/main" id="{EB9076B9-53E0-4378-8077-577BF696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D"/>
            </a:solidFill>
            <a:prstDash val="solid"/>
          </a:ln>
        </p:spPr>
      </p:sp>
      <p:sp>
        <p:nvSpPr>
          <p:cNvPr id="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0092A0F8-9AD8-4153-98F4-A901DB31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🔴 FDM</a:t>
            </a:r>
          </a:p>
        </p:txBody>
      </p:sp>
      <p:sp>
        <p:nvSpPr>
          <p:cNvPr id="6" name="card-body-1">
            <a:extLst xmlns:a="http://schemas.openxmlformats.org/drawingml/2006/main">
              <a:ext uri="{FF2B5EF4-FFF2-40B4-BE49-F238E27FC236}">
                <a16:creationId xmlns:a16="http://schemas.microsoft.com/office/drawing/2014/main" id="{F7254166-A24C-466F-9F59-B072B8C1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熔融沉积</a:t>
            </a:r>
          </a:p>
        </p:txBody>
      </p:sp>
      <p:sp>
        <p:nvSpPr>
          <p:cNvPr id="7" name="card-2">
            <a:extLst xmlns:a="http://schemas.openxmlformats.org/drawingml/2006/main">
              <a:ext uri="{FF2B5EF4-FFF2-40B4-BE49-F238E27FC236}">
                <a16:creationId xmlns:a16="http://schemas.microsoft.com/office/drawing/2014/main" id="{D203C2F5-674C-4504-B3AB-BFFDDF0F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668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D"/>
            </a:solidFill>
            <a:prstDash val="solid"/>
          </a:ln>
        </p:spPr>
      </p:sp>
      <p:sp>
        <p:nvSpPr>
          <p:cNvPr id="8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7B3EB25E-4F86-4B1C-99A6-64E7A942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00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🔵 SLA</a:t>
            </a:r>
          </a:p>
        </p:txBody>
      </p:sp>
      <p:sp>
        <p:nvSpPr>
          <p:cNvPr id="9" name="card-body-2">
            <a:extLst xmlns:a="http://schemas.openxmlformats.org/drawingml/2006/main">
              <a:ext uri="{FF2B5EF4-FFF2-40B4-BE49-F238E27FC236}">
                <a16:creationId xmlns:a16="http://schemas.microsoft.com/office/drawing/2014/main" id="{CC91F5B6-C504-436F-973F-4B9B6D47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光固化</a:t>
            </a:r>
          </a:p>
        </p:txBody>
      </p:sp>
      <p:sp>
        <p:nvSpPr>
          <p:cNvPr id="10" name="card-3">
            <a:extLst xmlns:a="http://schemas.openxmlformats.org/drawingml/2006/main">
              <a:ext uri="{FF2B5EF4-FFF2-40B4-BE49-F238E27FC236}">
                <a16:creationId xmlns:a16="http://schemas.microsoft.com/office/drawing/2014/main" id="{D4F33276-E9B0-4419-B552-32F2C246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D"/>
            </a:solidFill>
            <a:prstDash val="solid"/>
          </a:ln>
        </p:spPr>
      </p:sp>
      <p:sp>
        <p:nvSpPr>
          <p:cNvPr id="11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2A3FE6E8-DC4D-4B15-9C21-E218564E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🟢 SLS</a:t>
            </a:r>
          </a:p>
        </p:txBody>
      </p:sp>
      <p:sp>
        <p:nvSpPr>
          <p:cNvPr id="12" name="card-body-3">
            <a:extLst xmlns:a="http://schemas.openxmlformats.org/drawingml/2006/main">
              <a:ext uri="{FF2B5EF4-FFF2-40B4-BE49-F238E27FC236}">
                <a16:creationId xmlns:a16="http://schemas.microsoft.com/office/drawing/2014/main" id="{DF0C5DF7-E696-4497-896B-09D65A33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激光烧结</a:t>
            </a:r>
          </a:p>
        </p:txBody>
      </p:sp>
    </p:spTree>
    <p:extLst>
      <p:ext uri="{BB962C8B-B14F-4D97-AF65-F5344CB8AC3E}">
        <p14:creationId xmlns:p14="http://schemas.microsoft.com/office/powerpoint/2010/main" val="4889929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A9D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accent">
            <a:extLst xmlns:a="http://schemas.openxmlformats.org/drawingml/2006/main">
              <a:ext uri="{FF2B5EF4-FFF2-40B4-BE49-F238E27FC236}">
                <a16:creationId xmlns:a16="http://schemas.microsoft.com/office/drawing/2014/main" id="{9B9E85E6-3AD4-4B70-B1B5-FC1D90DC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411FEA-6D78-4C54-B651-F50E8EDF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3D打印能做什么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906A08E5-8D3E-4E78-A5A8-DAE388E5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🚀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5822A97-7A98-4BCA-B561-F9024118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EB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BF8FF"/>
                </a:solidFill>
                <a:latin typeface="Microsoft YaHei"/>
                <a:ea typeface="Microsoft YaHei"/>
                <a:cs typeface="Microsoft YaHei"/>
              </a:rPr>
              <a:t>模块一  ·  5</a:t>
            </a:r>
          </a:p>
        </p:txBody>
      </p:sp>
      <p:sp>
        <p:nvSpPr>
          <p:cNvPr id="5" name="card-1">
            <a:extLst xmlns:a="http://schemas.openxmlformats.org/drawingml/2006/main">
              <a:ext uri="{FF2B5EF4-FFF2-40B4-BE49-F238E27FC236}">
                <a16:creationId xmlns:a16="http://schemas.microsoft.com/office/drawing/2014/main" id="{A03D47F5-90B3-45F5-8A0B-12F3BE91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6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8BBDF7F1-6C30-4347-9106-9B6716EE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🏥 医疗</a:t>
            </a:r>
          </a:p>
        </p:txBody>
      </p:sp>
      <p:sp>
        <p:nvSpPr>
          <p:cNvPr id="7" name="card-body-1">
            <a:extLst xmlns:a="http://schemas.openxmlformats.org/drawingml/2006/main">
              <a:ext uri="{FF2B5EF4-FFF2-40B4-BE49-F238E27FC236}">
                <a16:creationId xmlns:a16="http://schemas.microsoft.com/office/drawing/2014/main" id="{A67A67C4-81D9-43FA-8AE7-C823A8AE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假肢·牙模·手术导板</a:t>
            </a:r>
          </a:p>
        </p:txBody>
      </p:sp>
      <p:sp>
        <p:nvSpPr>
          <p:cNvPr id="8" name="card-2">
            <a:extLst xmlns:a="http://schemas.openxmlformats.org/drawingml/2006/main">
              <a:ext uri="{FF2B5EF4-FFF2-40B4-BE49-F238E27FC236}">
                <a16:creationId xmlns:a16="http://schemas.microsoft.com/office/drawing/2014/main" id="{540A7964-0CAC-49CD-A407-33D094B3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668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11F5B229-89D9-4692-8F80-9D2AAAEC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00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🏗️ 建筑</a:t>
            </a:r>
          </a:p>
        </p:txBody>
      </p:sp>
      <p:sp>
        <p:nvSpPr>
          <p:cNvPr id="10" name="card-body-2">
            <a:extLst xmlns:a="http://schemas.openxmlformats.org/drawingml/2006/main">
              <a:ext uri="{FF2B5EF4-FFF2-40B4-BE49-F238E27FC236}">
                <a16:creationId xmlns:a16="http://schemas.microsoft.com/office/drawing/2014/main" id="{59B4E4C3-CF44-4581-B021-2E4215E8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房屋·建筑模型</a:t>
            </a:r>
          </a:p>
        </p:txBody>
      </p:sp>
      <p:sp>
        <p:nvSpPr>
          <p:cNvPr id="11" name="card-3">
            <a:extLst xmlns:a="http://schemas.openxmlformats.org/drawingml/2006/main">
              <a:ext uri="{FF2B5EF4-FFF2-40B4-BE49-F238E27FC236}">
                <a16:creationId xmlns:a16="http://schemas.microsoft.com/office/drawing/2014/main" id="{BE97479D-5C8F-4F71-9D88-BEFE0845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12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8533E8B2-EA9F-467A-AE35-BDED042C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🏭 制造</a:t>
            </a:r>
          </a:p>
        </p:txBody>
      </p:sp>
      <p:sp>
        <p:nvSpPr>
          <p:cNvPr id="13" name="card-body-3">
            <a:extLst xmlns:a="http://schemas.openxmlformats.org/drawingml/2006/main">
              <a:ext uri="{FF2B5EF4-FFF2-40B4-BE49-F238E27FC236}">
                <a16:creationId xmlns:a16="http://schemas.microsoft.com/office/drawing/2014/main" id="{C181A294-A7DD-4D4D-8827-C9A9CDB7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快速原型·小批量</a:t>
            </a:r>
          </a:p>
        </p:txBody>
      </p:sp>
      <p:sp>
        <p:nvSpPr>
          <p:cNvPr id="14" name="card-4">
            <a:extLst xmlns:a="http://schemas.openxmlformats.org/drawingml/2006/main">
              <a:ext uri="{FF2B5EF4-FFF2-40B4-BE49-F238E27FC236}">
                <a16:creationId xmlns:a16="http://schemas.microsoft.com/office/drawing/2014/main" id="{36DADCE8-9439-49A2-917F-E4DF9FC3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671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15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BB71CF12-07BF-468E-976B-39672A41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📚 教育</a:t>
            </a:r>
          </a:p>
        </p:txBody>
      </p:sp>
      <p:sp>
        <p:nvSpPr>
          <p:cNvPr id="16" name="card-body-4">
            <a:extLst xmlns:a="http://schemas.openxmlformats.org/drawingml/2006/main">
              <a:ext uri="{FF2B5EF4-FFF2-40B4-BE49-F238E27FC236}">
                <a16:creationId xmlns:a16="http://schemas.microsoft.com/office/drawing/2014/main" id="{F2E8F624-F33E-4034-A57C-8CC80AA1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STEAM教学模型（我们在做！）</a:t>
            </a:r>
          </a:p>
        </p:txBody>
      </p:sp>
    </p:spTree>
    <p:extLst>
      <p:ext uri="{BB962C8B-B14F-4D97-AF65-F5344CB8AC3E}">
        <p14:creationId xmlns:p14="http://schemas.microsoft.com/office/powerpoint/2010/main" val="1109471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667E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accent">
            <a:extLst xmlns:a="http://schemas.openxmlformats.org/drawingml/2006/main">
              <a:ext uri="{FF2B5EF4-FFF2-40B4-BE49-F238E27FC236}">
                <a16:creationId xmlns:a16="http://schemas.microsoft.com/office/drawing/2014/main" id="{AE0C2F98-FB37-46E6-A121-E926306D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E1FCAF4-84E9-44E2-BC4C-5E367530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STEAM理念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4D3F6635-0EC0-4EDB-AB35-10C11702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🧩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3C2F011-F256-4F96-863B-6EF3A12E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模块一  ·  6</a:t>
            </a:r>
          </a:p>
        </p:txBody>
      </p:sp>
      <p:sp>
        <p:nvSpPr>
          <p:cNvPr id="5" name="card-1">
            <a:extLst xmlns:a="http://schemas.openxmlformats.org/drawingml/2006/main">
              <a:ext uri="{FF2B5EF4-FFF2-40B4-BE49-F238E27FC236}">
                <a16:creationId xmlns:a16="http://schemas.microsoft.com/office/drawing/2014/main" id="{AAC9C977-8E5D-49F8-BC6D-79B9B862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6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FA718AA8-9897-4930-8932-AEEE37BE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🔬 Science</a:t>
            </a:r>
          </a:p>
        </p:txBody>
      </p:sp>
      <p:sp>
        <p:nvSpPr>
          <p:cNvPr id="7" name="card-body-1">
            <a:extLst xmlns:a="http://schemas.openxmlformats.org/drawingml/2006/main">
              <a:ext uri="{FF2B5EF4-FFF2-40B4-BE49-F238E27FC236}">
                <a16:creationId xmlns:a16="http://schemas.microsoft.com/office/drawing/2014/main" id="{FE1C35E4-457C-442A-BC91-A7FADAE2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材料特性·结构力学</a:t>
            </a:r>
          </a:p>
        </p:txBody>
      </p:sp>
      <p:sp>
        <p:nvSpPr>
          <p:cNvPr id="8" name="card-2">
            <a:extLst xmlns:a="http://schemas.openxmlformats.org/drawingml/2006/main">
              <a:ext uri="{FF2B5EF4-FFF2-40B4-BE49-F238E27FC236}">
                <a16:creationId xmlns:a16="http://schemas.microsoft.com/office/drawing/2014/main" id="{4DD1F0BF-AA41-4DCB-9DA7-CE1C43DA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668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A6F00682-AC12-4543-9A3B-0137E51A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00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💻 Technology</a:t>
            </a:r>
          </a:p>
        </p:txBody>
      </p:sp>
      <p:sp>
        <p:nvSpPr>
          <p:cNvPr id="10" name="card-body-2">
            <a:extLst xmlns:a="http://schemas.openxmlformats.org/drawingml/2006/main">
              <a:ext uri="{FF2B5EF4-FFF2-40B4-BE49-F238E27FC236}">
                <a16:creationId xmlns:a16="http://schemas.microsoft.com/office/drawing/2014/main" id="{300E6B92-DEFB-411F-AA61-3AB32A02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Python编程·FreeCAD</a:t>
            </a:r>
          </a:p>
        </p:txBody>
      </p:sp>
      <p:sp>
        <p:nvSpPr>
          <p:cNvPr id="11" name="card-3">
            <a:extLst xmlns:a="http://schemas.openxmlformats.org/drawingml/2006/main">
              <a:ext uri="{FF2B5EF4-FFF2-40B4-BE49-F238E27FC236}">
                <a16:creationId xmlns:a16="http://schemas.microsoft.com/office/drawing/2014/main" id="{E176FA88-D5AC-488D-92BE-D1A6E538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12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B46914BE-98A2-4F08-8F56-1C7008A7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⚙️ Engineering</a:t>
            </a:r>
          </a:p>
        </p:txBody>
      </p:sp>
      <p:sp>
        <p:nvSpPr>
          <p:cNvPr id="13" name="card-body-3">
            <a:extLst xmlns:a="http://schemas.openxmlformats.org/drawingml/2006/main">
              <a:ext uri="{FF2B5EF4-FFF2-40B4-BE49-F238E27FC236}">
                <a16:creationId xmlns:a16="http://schemas.microsoft.com/office/drawing/2014/main" id="{D5666AD1-7EEC-4C6D-BF54-162DC361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设计→建模→打印→迭代</a:t>
            </a:r>
          </a:p>
        </p:txBody>
      </p:sp>
      <p:sp>
        <p:nvSpPr>
          <p:cNvPr id="14" name="card-4">
            <a:extLst xmlns:a="http://schemas.openxmlformats.org/drawingml/2006/main">
              <a:ext uri="{FF2B5EF4-FFF2-40B4-BE49-F238E27FC236}">
                <a16:creationId xmlns:a16="http://schemas.microsoft.com/office/drawing/2014/main" id="{B3D0C463-2252-4C5A-8BE3-41799CC0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671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15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F00DFEA5-C0FE-4F97-B0C7-D184FC36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🎨 Arts</a:t>
            </a:r>
          </a:p>
        </p:txBody>
      </p:sp>
      <p:sp>
        <p:nvSpPr>
          <p:cNvPr id="16" name="card-body-4">
            <a:extLst xmlns:a="http://schemas.openxmlformats.org/drawingml/2006/main">
              <a:ext uri="{FF2B5EF4-FFF2-40B4-BE49-F238E27FC236}">
                <a16:creationId xmlns:a16="http://schemas.microsoft.com/office/drawing/2014/main" id="{17C39B01-6290-4B95-A3B8-C05D43BF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造型设计·美学</a:t>
            </a:r>
          </a:p>
        </p:txBody>
      </p:sp>
    </p:spTree>
    <p:extLst>
      <p:ext uri="{BB962C8B-B14F-4D97-AF65-F5344CB8AC3E}">
        <p14:creationId xmlns:p14="http://schemas.microsoft.com/office/powerpoint/2010/main" val="16227663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42637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accent">
            <a:extLst xmlns:a="http://schemas.openxmlformats.org/drawingml/2006/main">
              <a:ext uri="{FF2B5EF4-FFF2-40B4-BE49-F238E27FC236}">
                <a16:creationId xmlns:a16="http://schemas.microsoft.com/office/drawing/2014/main" id="{8C4C810B-6CC1-418D-B0F9-29D8ADC2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E6E3A3-7DF2-4B1A-8524-9C7E570C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编程思维启蒙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E9E7F6F3-A2A5-4DA1-8816-55536BA6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💻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F4C0CDE-7B4A-41F3-8593-DB87D37E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模块一  ·  7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A06F5B7C-6079-43AC-833E-A829FBBB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6667500" cy="485775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 w="9525">
            <a:solidFill>
              <a:srgbClr val="4A5568"/>
            </a:solidFill>
            <a:prstDash val="solid"/>
          </a:ln>
        </p:spPr>
      </p:sp>
      <p:sp>
        <p:nvSpPr>
          <p:cNvPr id="6" name="editable-code">
            <a:extLst xmlns:a="http://schemas.openxmlformats.org/drawingml/2006/main">
              <a:ext uri="{FF2B5EF4-FFF2-40B4-BE49-F238E27FC236}">
                <a16:creationId xmlns:a16="http://schemas.microsoft.com/office/drawing/2014/main" id="{DBDBB670-252F-4E40-9E03-36D92748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286500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# 用三步代码创建立方体并读取体积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import Part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box = Part.makeBox(25, 25, 25)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print("体积 =", box.Volume, "mm³")</a:t>
            </a:r>
          </a:p>
        </p:txBody>
      </p:sp>
      <p:sp>
        <p:nvSpPr>
          <p:cNvPr id="7" name="explain-1">
            <a:extLst xmlns:a="http://schemas.openxmlformats.org/drawingml/2006/main">
              <a:ext uri="{FF2B5EF4-FFF2-40B4-BE49-F238E27FC236}">
                <a16:creationId xmlns:a16="http://schemas.microsoft.com/office/drawing/2014/main" id="{40F9E03F-30EE-4C93-AD58-D9952D52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25730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8" name="explain-text-1">
            <a:extLst xmlns:a="http://schemas.openxmlformats.org/drawingml/2006/main">
              <a:ext uri="{FF2B5EF4-FFF2-40B4-BE49-F238E27FC236}">
                <a16:creationId xmlns:a16="http://schemas.microsoft.com/office/drawing/2014/main" id="{CFCF3FE6-96E0-42DB-8C34-548E0EFE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31445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逐行作用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导入Part → 用长、宽、高创建立方体 → 读取Volume并输出。</a:t>
            </a:r>
          </a:p>
        </p:txBody>
      </p:sp>
      <p:sp>
        <p:nvSpPr>
          <p:cNvPr id="9" name="explain-2">
            <a:extLst xmlns:a="http://schemas.openxmlformats.org/drawingml/2006/main">
              <a:ext uri="{FF2B5EF4-FFF2-40B4-BE49-F238E27FC236}">
                <a16:creationId xmlns:a16="http://schemas.microsoft.com/office/drawing/2014/main" id="{BBB19C49-B7DF-44A6-B55E-6F9EB287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4790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0" name="explain-text-2">
            <a:extLst xmlns:a="http://schemas.openxmlformats.org/drawingml/2006/main">
              <a:ext uri="{FF2B5EF4-FFF2-40B4-BE49-F238E27FC236}">
                <a16:creationId xmlns:a16="http://schemas.microsoft.com/office/drawing/2014/main" id="{CCFC8512-3E85-429C-B00D-418304E4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0505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运行结果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体积=25×25×25=15625mm³；本段未show，所以3D视图暂不显示。</a:t>
            </a:r>
          </a:p>
        </p:txBody>
      </p:sp>
      <p:sp>
        <p:nvSpPr>
          <p:cNvPr id="11" name="explain-3">
            <a:extLst xmlns:a="http://schemas.openxmlformats.org/drawingml/2006/main">
              <a:ext uri="{FF2B5EF4-FFF2-40B4-BE49-F238E27FC236}">
                <a16:creationId xmlns:a16="http://schemas.microsoft.com/office/drawing/2014/main" id="{3EFA3833-FCA2-437F-8356-B034934B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3850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2" name="explain-text-3">
            <a:extLst xmlns:a="http://schemas.openxmlformats.org/drawingml/2006/main">
              <a:ext uri="{FF2B5EF4-FFF2-40B4-BE49-F238E27FC236}">
                <a16:creationId xmlns:a16="http://schemas.microsoft.com/office/drawing/2014/main" id="{A21A72E3-5B94-4166-9CFF-EC9D3ABC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9565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易错点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Part和Volume区分大小写；三个尺寸必须为正数。</a:t>
            </a:r>
          </a:p>
        </p:txBody>
      </p:sp>
    </p:spTree>
    <p:extLst>
      <p:ext uri="{BB962C8B-B14F-4D97-AF65-F5344CB8AC3E}">
        <p14:creationId xmlns:p14="http://schemas.microsoft.com/office/powerpoint/2010/main" val="5015335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85D7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accent">
            <a:extLst xmlns:a="http://schemas.openxmlformats.org/drawingml/2006/main">
              <a:ext uri="{FF2B5EF4-FFF2-40B4-BE49-F238E27FC236}">
                <a16:creationId xmlns:a16="http://schemas.microsoft.com/office/drawing/2014/main" id="{4C2C2D98-FCAD-40CE-8B90-CCFA8EB2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9856F1-E4E0-48A8-ADC7-43A9E589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3D打印安全规范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08914EC2-62F0-4F65-A5C5-29F0A6F7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⚠️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34A0A5A-44B2-4650-8F77-46CB634D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5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5F5"/>
                </a:solidFill>
                <a:latin typeface="Microsoft YaHei"/>
                <a:ea typeface="Microsoft YaHei"/>
                <a:cs typeface="Microsoft YaHei"/>
              </a:rPr>
              <a:t>模块一  ·  8</a:t>
            </a:r>
          </a:p>
        </p:txBody>
      </p:sp>
      <p:sp>
        <p:nvSpPr>
          <p:cNvPr id="5" name="card-1">
            <a:extLst xmlns:a="http://schemas.openxmlformats.org/drawingml/2006/main">
              <a:ext uri="{FF2B5EF4-FFF2-40B4-BE49-F238E27FC236}">
                <a16:creationId xmlns:a16="http://schemas.microsoft.com/office/drawing/2014/main" id="{61E5A989-8A33-493D-AF52-6ED34B16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295900" cy="4629150"/>
          </a:xfrm>
          <a:prstGeom xmlns:a="http://schemas.openxmlformats.org/drawingml/2006/main" prst="roundRect">
            <a:avLst>
              <a:gd name="adj" fmla="val 3292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6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C0881967-4D78-4AC0-A8B7-A4C629E3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❌ 禁止</a:t>
            </a:r>
          </a:p>
        </p:txBody>
      </p:sp>
      <p:sp>
        <p:nvSpPr>
          <p:cNvPr id="7" name="card-body-1">
            <a:extLst xmlns:a="http://schemas.openxmlformats.org/drawingml/2006/main">
              <a:ext uri="{FF2B5EF4-FFF2-40B4-BE49-F238E27FC236}">
                <a16:creationId xmlns:a16="http://schemas.microsoft.com/office/drawing/2014/main" id="{C99B8DCC-89F9-41D2-AA07-1A06AB90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495300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触摸喷嘴（200℃+）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打印中开门/移平台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用手直接取热模型</a:t>
            </a:r>
          </a:p>
        </p:txBody>
      </p:sp>
      <p:sp>
        <p:nvSpPr>
          <p:cNvPr id="8" name="card-2">
            <a:extLst xmlns:a="http://schemas.openxmlformats.org/drawingml/2006/main">
              <a:ext uri="{FF2B5EF4-FFF2-40B4-BE49-F238E27FC236}">
                <a16:creationId xmlns:a16="http://schemas.microsoft.com/office/drawing/2014/main" id="{E6C0A349-C802-42D2-87BE-6F50CC6E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66850"/>
            <a:ext cx="5295900" cy="4629150"/>
          </a:xfrm>
          <a:prstGeom xmlns:a="http://schemas.openxmlformats.org/drawingml/2006/main" prst="roundRect">
            <a:avLst>
              <a:gd name="adj" fmla="val 3292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74DD7FE9-A0E1-4A10-9D03-6E472EEE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00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✅ 必须</a:t>
            </a:r>
          </a:p>
        </p:txBody>
      </p:sp>
      <p:sp>
        <p:nvSpPr>
          <p:cNvPr id="10" name="card-body-2">
            <a:extLst xmlns:a="http://schemas.openxmlformats.org/drawingml/2006/main">
              <a:ext uri="{FF2B5EF4-FFF2-40B4-BE49-F238E27FC236}">
                <a16:creationId xmlns:a16="http://schemas.microsoft.com/office/drawing/2014/main" id="{07EC6187-0EBC-4124-9173-A5CB4F40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495300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等冷却后用铲刀取件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异常立即断电报告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保持区域整洁</a:t>
            </a:r>
          </a:p>
        </p:txBody>
      </p:sp>
    </p:spTree>
    <p:extLst>
      <p:ext uri="{BB962C8B-B14F-4D97-AF65-F5344CB8AC3E}">
        <p14:creationId xmlns:p14="http://schemas.microsoft.com/office/powerpoint/2010/main" val="13461321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2026-07-26T04:43:54.2460000Z</dcterms:created>
  <dcterms:modified xsi:type="dcterms:W3CDTF">2026-07-26T04:43:54.2460000Z</dcterms:modified>
</coreProperties>
</file>
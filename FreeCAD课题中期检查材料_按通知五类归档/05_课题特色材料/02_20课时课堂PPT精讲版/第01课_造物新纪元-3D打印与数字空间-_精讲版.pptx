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de2131edf804f53" /><Relationship Type="http://schemas.openxmlformats.org/officeDocument/2006/relationships/extended-properties" Target="/docProps/app.xml" Id="R23ad8cac496f4e2e" /><Relationship Type="http://schemas.openxmlformats.org/officeDocument/2006/relationships/officeDocument" Target="/ppt/presentation.xml" Id="Ra4bdf2cf28c046f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4f90ece9cd542d0"/>
  </p:sldMasterIdLst>
  <p:notesMasterIdLst>
    <p:notesMasterId xmlns:r="http://schemas.openxmlformats.org/officeDocument/2006/relationships" r:id="R18c76e292bff4cf8"/>
  </p:notesMasterIdLst>
  <p:sldIdLst>
    <p:sldId xmlns:r="http://schemas.openxmlformats.org/officeDocument/2006/relationships" id="256" r:id="R4872014ed0234c63"/>
    <p:sldId xmlns:r="http://schemas.openxmlformats.org/officeDocument/2006/relationships" id="257" r:id="R5ebc5ddbd3544094"/>
    <p:sldId xmlns:r="http://schemas.openxmlformats.org/officeDocument/2006/relationships" id="258" r:id="R88edc33624bf42c5"/>
    <p:sldId xmlns:r="http://schemas.openxmlformats.org/officeDocument/2006/relationships" id="259" r:id="Re3be7fcfe7de4120"/>
    <p:sldId xmlns:r="http://schemas.openxmlformats.org/officeDocument/2006/relationships" id="260" r:id="R61f2fa79360948b1"/>
    <p:sldId xmlns:r="http://schemas.openxmlformats.org/officeDocument/2006/relationships" id="261" r:id="Re1e1a6b7975c4508"/>
    <p:sldId xmlns:r="http://schemas.openxmlformats.org/officeDocument/2006/relationships" id="262" r:id="Rf717021c56e447db"/>
    <p:sldId xmlns:r="http://schemas.openxmlformats.org/officeDocument/2006/relationships" id="263" r:id="R29f9499c8f7d4637"/>
    <p:sldId xmlns:r="http://schemas.openxmlformats.org/officeDocument/2006/relationships" id="264" r:id="R1717dd9aa9744327"/>
    <p:sldId xmlns:r="http://schemas.openxmlformats.org/officeDocument/2006/relationships" id="265" r:id="Ra06704d669d049d8"/>
    <p:sldId xmlns:r="http://schemas.openxmlformats.org/officeDocument/2006/relationships" id="266" r:id="R4cc70a5e2fb0492e"/>
    <p:sldId xmlns:r="http://schemas.openxmlformats.org/officeDocument/2006/relationships" id="267" r:id="R189ae6d6124f4774"/>
    <p:sldId xmlns:r="http://schemas.openxmlformats.org/officeDocument/2006/relationships" id="268" r:id="Raf2c1f73025940d5"/>
    <p:sldId xmlns:r="http://schemas.openxmlformats.org/officeDocument/2006/relationships" id="269" r:id="R2018c2052e0c4774"/>
    <p:sldId xmlns:r="http://schemas.openxmlformats.org/officeDocument/2006/relationships" id="270" r:id="Rd8df8238adbb431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abdf82c4553473e" /><Relationship Type="http://schemas.openxmlformats.org/officeDocument/2006/relationships/slideMaster" Target="/ppt/slideMasters/slideMaster1.xml" Id="R44f90ece9cd542d0" /><Relationship Type="http://schemas.openxmlformats.org/officeDocument/2006/relationships/notesMaster" Target="/ppt/notesMasters/notesMaster1.xml" Id="R18c76e292bff4cf8" /><Relationship Type="http://schemas.openxmlformats.org/officeDocument/2006/relationships/presProps" Target="/ppt/presProps.xml" Id="Re69c67e098f44dbe" /><Relationship Type="http://schemas.openxmlformats.org/officeDocument/2006/relationships/tableStyles" Target="/ppt/tableStyles.xml" Id="Ra6aaa28434634fda" /><Relationship Type="http://schemas.openxmlformats.org/officeDocument/2006/relationships/slide" Target="/ppt/slides/slide1.xml" Id="R4872014ed0234c63" /><Relationship Type="http://schemas.openxmlformats.org/officeDocument/2006/relationships/slide" Target="/ppt/slides/slide2.xml" Id="R5ebc5ddbd3544094" /><Relationship Type="http://schemas.openxmlformats.org/officeDocument/2006/relationships/slide" Target="/ppt/slides/slide3.xml" Id="R88edc33624bf42c5" /><Relationship Type="http://schemas.openxmlformats.org/officeDocument/2006/relationships/slide" Target="/ppt/slides/slide4.xml" Id="Re3be7fcfe7de4120" /><Relationship Type="http://schemas.openxmlformats.org/officeDocument/2006/relationships/slide" Target="/ppt/slides/slide5.xml" Id="R61f2fa79360948b1" /><Relationship Type="http://schemas.openxmlformats.org/officeDocument/2006/relationships/slide" Target="/ppt/slides/slide6.xml" Id="Re1e1a6b7975c4508" /><Relationship Type="http://schemas.openxmlformats.org/officeDocument/2006/relationships/slide" Target="/ppt/slides/slide7.xml" Id="Rf717021c56e447db" /><Relationship Type="http://schemas.openxmlformats.org/officeDocument/2006/relationships/slide" Target="/ppt/slides/slide8.xml" Id="R29f9499c8f7d4637" /><Relationship Type="http://schemas.openxmlformats.org/officeDocument/2006/relationships/slide" Target="/ppt/slides/slide9.xml" Id="R1717dd9aa9744327" /><Relationship Type="http://schemas.openxmlformats.org/officeDocument/2006/relationships/slide" Target="/ppt/slides/slide10.xml" Id="Ra06704d669d049d8" /><Relationship Type="http://schemas.openxmlformats.org/officeDocument/2006/relationships/slide" Target="/ppt/slides/slide11.xml" Id="R4cc70a5e2fb0492e" /><Relationship Type="http://schemas.openxmlformats.org/officeDocument/2006/relationships/slide" Target="/ppt/slides/slide12.xml" Id="R189ae6d6124f4774" /><Relationship Type="http://schemas.openxmlformats.org/officeDocument/2006/relationships/slide" Target="/ppt/slides/slide13.xml" Id="Raf2c1f73025940d5" /><Relationship Type="http://schemas.openxmlformats.org/officeDocument/2006/relationships/slide" Target="/ppt/slides/slide14.xml" Id="R2018c2052e0c4774" /><Relationship Type="http://schemas.openxmlformats.org/officeDocument/2006/relationships/slide" Target="/ppt/slides/slide15.xml" Id="Rd8df8238adbb431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97c9f4a4bc549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0432a8b8de94b3a" /><Relationship Type="http://schemas.openxmlformats.org/officeDocument/2006/relationships/notesMaster" Target="/ppt/notesMasters/notesMaster1.xml" Id="R0d157310382f48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951b6c8b50346d6" /><Relationship Type="http://schemas.openxmlformats.org/officeDocument/2006/relationships/notesMaster" Target="/ppt/notesMasters/notesMaster1.xml" Id="Reb08f0e4948447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79e5a4bdee04525" /><Relationship Type="http://schemas.openxmlformats.org/officeDocument/2006/relationships/notesMaster" Target="/ppt/notesMasters/notesMaster1.xml" Id="R4572a847cdb9499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5a2df6953a3433d" /><Relationship Type="http://schemas.openxmlformats.org/officeDocument/2006/relationships/notesMaster" Target="/ppt/notesMasters/notesMaster1.xml" Id="R18da94ae2bd545e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d51a2af955c4be2" /><Relationship Type="http://schemas.openxmlformats.org/officeDocument/2006/relationships/notesMaster" Target="/ppt/notesMasters/notesMaster1.xml" Id="Rb6f161bce9b845d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e626520b6004292" /><Relationship Type="http://schemas.openxmlformats.org/officeDocument/2006/relationships/notesMaster" Target="/ppt/notesMasters/notesMaster1.xml" Id="Rc84b0ed74a49435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37a69dd0fa84e7e" /><Relationship Type="http://schemas.openxmlformats.org/officeDocument/2006/relationships/notesMaster" Target="/ppt/notesMasters/notesMaster1.xml" Id="R966cdf023f4445a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ffada5a06ff4a11" /><Relationship Type="http://schemas.openxmlformats.org/officeDocument/2006/relationships/notesMaster" Target="/ppt/notesMasters/notesMaster1.xml" Id="Rd06c728176f74cea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6c2d5f3df4c4429b" /><Relationship Type="http://schemas.openxmlformats.org/officeDocument/2006/relationships/notesMaster" Target="/ppt/notesMasters/notesMaster1.xml" Id="R057ab1845843408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61b74b529534f37" /><Relationship Type="http://schemas.openxmlformats.org/officeDocument/2006/relationships/notesMaster" Target="/ppt/notesMasters/notesMaster1.xml" Id="Rfd3488f8313743a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9f57ac5b515406b" /><Relationship Type="http://schemas.openxmlformats.org/officeDocument/2006/relationships/notesMaster" Target="/ppt/notesMasters/notesMaster1.xml" Id="R3dce6f18c899460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31229081f784162" /><Relationship Type="http://schemas.openxmlformats.org/officeDocument/2006/relationships/notesMaster" Target="/ppt/notesMasters/notesMaster1.xml" Id="R9f3bcb1f0cca41cf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63b45fe97720449f" /><Relationship Type="http://schemas.openxmlformats.org/officeDocument/2006/relationships/notesMaster" Target="/ppt/notesMasters/notesMaster1.xml" Id="R8e85c9fe30754036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37b8cfc353f4d46" /><Relationship Type="http://schemas.openxmlformats.org/officeDocument/2006/relationships/notesMaster" Target="/ppt/notesMasters/notesMaster1.xml" Id="Rd880a800d9504463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f04e609223204289" /><Relationship Type="http://schemas.openxmlformats.org/officeDocument/2006/relationships/notesMaster" Target="/ppt/notesMasters/notesMaster1.xml" Id="R8c512412358044b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5c37640b5bb458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d541e1ee0941b5" /><Relationship Type="http://schemas.openxmlformats.org/officeDocument/2006/relationships/slideLayout" Target="/ppt/slideLayouts/slideLayout1.xml" Id="R8e4aaeaf690347e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e4aaeaf690347e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710e59a36c4823" /><Relationship Type="http://schemas.openxmlformats.org/officeDocument/2006/relationships/notesSlide" Target="/ppt/notesSlides/notesSlide1.xml" Id="Ra122e5966ffd49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61487ec090451f" /><Relationship Type="http://schemas.openxmlformats.org/officeDocument/2006/relationships/notesSlide" Target="/ppt/notesSlides/notesSlide2.xml" Id="R0fc5ca986101451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b1cadaa44e40ed" /><Relationship Type="http://schemas.openxmlformats.org/officeDocument/2006/relationships/notesSlide" Target="/ppt/notesSlides/notesSlide3.xml" Id="R37b81dbb1b7344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48fdfee5ed4d5a" /><Relationship Type="http://schemas.openxmlformats.org/officeDocument/2006/relationships/notesSlide" Target="/ppt/notesSlides/notesSlide4.xml" Id="R7c593f21f35a448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8d0a7d74124c11" /><Relationship Type="http://schemas.openxmlformats.org/officeDocument/2006/relationships/notesSlide" Target="/ppt/notesSlides/notesSlide5.xml" Id="Raec906ff36b04b8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b8ba7a17b44d02" /><Relationship Type="http://schemas.openxmlformats.org/officeDocument/2006/relationships/notesSlide" Target="/ppt/notesSlides/notesSlide6.xml" Id="R896db1fe36a54af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4b2b390cd74b35" /><Relationship Type="http://schemas.openxmlformats.org/officeDocument/2006/relationships/notesSlide" Target="/ppt/notesSlides/notesSlide7.xml" Id="R80108fed7280465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5e07ad13b04bca" /><Relationship Type="http://schemas.openxmlformats.org/officeDocument/2006/relationships/notesSlide" Target="/ppt/notesSlides/notesSlide8.xml" Id="R7cf3d0f2799c4ed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615e4737b146fc" /><Relationship Type="http://schemas.openxmlformats.org/officeDocument/2006/relationships/notesSlide" Target="/ppt/notesSlides/notesSlide9.xml" Id="R024f1228ef8d40b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b9173a64a740b0" /><Relationship Type="http://schemas.openxmlformats.org/officeDocument/2006/relationships/notesSlide" Target="/ppt/notesSlides/notesSlide10.xml" Id="Ree1ce80c98704d6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d3f2945ea54ae1" /><Relationship Type="http://schemas.openxmlformats.org/officeDocument/2006/relationships/notesSlide" Target="/ppt/notesSlides/notesSlide11.xml" Id="R1d9841c64a52481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4123ab37594144" /><Relationship Type="http://schemas.openxmlformats.org/officeDocument/2006/relationships/notesSlide" Target="/ppt/notesSlides/notesSlide12.xml" Id="R9a62d9e5ea6949f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826148d2e8494d" /><Relationship Type="http://schemas.openxmlformats.org/officeDocument/2006/relationships/notesSlide" Target="/ppt/notesSlides/notesSlide13.xml" Id="R5c05323742c5477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721cef5bd84472" /><Relationship Type="http://schemas.openxmlformats.org/officeDocument/2006/relationships/notesSlide" Target="/ppt/notesSlides/notesSlide14.xml" Id="Rd3d84ea5dc454c82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2e5b5e6e2f4d12" /><Relationship Type="http://schemas.openxmlformats.org/officeDocument/2006/relationships/notesSlide" Target="/ppt/notesSlides/notesSlide15.xml" Id="R3cca37b358c44b5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DB7F007-5D46-4731-96C8-2A265DC66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19100"/>
            <a:ext cx="666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模块1  STEAM与数字造物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D7E0B0D-FF4E-4A76-A7F7-580F5161F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428750"/>
            <a:ext cx="10763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第 1 课：造物新纪元（3D打印与数字空间）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244117-CE7C-48BF-B863-6900B14A0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524250"/>
            <a:ext cx="99060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363D1"/>
                </a:solidFill>
                <a:latin typeface="Arial"/>
                <a:ea typeface="Arial"/>
                <a:cs typeface="Arial"/>
              </a:rPr>
              <a:t>"在比特与原子的交界处，用代码定义万物。"</a:t>
            </a:r>
          </a:p>
        </p:txBody>
      </p:sp>
      <p:cxnSp>
        <p:nvCxnSpPr>
          <p:cNvPr id="14" name=""/>
          <p:cNvCxnSpPr/>
          <p:nvPr/>
        </p:nvCxnSpPr>
        <p:spPr>
          <a:xfrm xmlns:a="http://schemas.openxmlformats.org/drawingml/2006/main">
            <a:off x="476250" y="4857750"/>
            <a:ext cx="11239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BFAB87-92C9-4E92-8586-71CF1D09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191125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FreeCAD三维设计与3D打印校本课程 · 精讲版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72EAD7-791B-4297-BC06-2D7A14821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902712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F63D8D-7CE4-4AE9-98D9-F64C71F6E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先观察，再猜一猜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F263DC-9F49-4910-8562-2F1767438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第01课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329DB4-11C2-4B0F-92CB-35EC5B91C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3742F2-38C7-4C9B-B0BD-607993C33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238250"/>
            <a:ext cx="11277600" cy="1809750"/>
          </a:xfrm>
          <a:prstGeom xmlns:a="http://schemas.openxmlformats.org/drawingml/2006/main" prst="roundRect">
            <a:avLst>
              <a:gd name="adj" fmla="val 3158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C6E2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4931DD-6060-4AE1-A199-B743D5AED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76375"/>
            <a:ext cx="107061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3D打印像搭积木：材料一层一层叠加，最后形成实体。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07B2AD-BFF2-402E-B157-53393D9C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71875"/>
            <a:ext cx="1524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想一想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62DD1A-C1C4-4838-A544-FDF8C006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481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E6850D-0CCF-4399-81E4-0DC85EC07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0481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这个现象中，哪些量可以改变？</a:t>
            </a:r>
          </a:p>
        </p:txBody>
      </p:sp>
      <p:cxnSp>
        <p:nvCxnSpPr>
          <p:cNvPr id="35" name=""/>
          <p:cNvCxnSpPr/>
          <p:nvPr/>
        </p:nvCxnSpPr>
        <p:spPr>
          <a:xfrm xmlns:a="http://schemas.openxmlformats.org/drawingml/2006/main">
            <a:off x="1162050" y="45370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A291E8-7C93-48CA-B9F7-F6137C38D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6513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CFC407-E707-45F0-9515-B56430FB9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6513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如果把关键参数扩大一倍，结果会怎样？</a:t>
            </a:r>
          </a:p>
        </p:txBody>
      </p:sp>
      <p:cxnSp>
        <p:nvCxnSpPr>
          <p:cNvPr id="38" name=""/>
          <p:cNvCxnSpPr/>
          <p:nvPr/>
        </p:nvCxnSpPr>
        <p:spPr>
          <a:xfrm xmlns:a="http://schemas.openxmlformats.org/drawingml/2006/main">
            <a:off x="1162050" y="51403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5EFD19-7C41-4025-A079-12577FC1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2546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79A6DB-DD4A-49D6-BC16-9565C769D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2546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我们能否把规律写成一条清晰的计算规则？</a:t>
            </a:r>
          </a:p>
        </p:txBody>
      </p:sp>
    </p:spTree>
    <p:extLst>
      <p:ext uri="{BB962C8B-B14F-4D97-AF65-F5344CB8AC3E}">
        <p14:creationId xmlns:p14="http://schemas.microsoft.com/office/powerpoint/2010/main" val="188970955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77A9A98-6CCF-45D7-B34D-179C6F8B2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完成本课后，你应该能做到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32DD7F-5D84-4B53-AEA4-507490BE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第01课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67CBAED-DBE4-4D10-9322-38EF099A8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211852-03A8-4995-9608-0C4C8CB61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3429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665F4F-98A1-42DB-91DF-B635415AB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E60D15-8A10-4E12-9D24-A209E2FC1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说清楚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BBB3EE-9F6A-49BF-A7A4-457E57E7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95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3D打印像搭积木：材料一层一层叠加，最后形成实体。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4A91B5-F5FF-417E-8FEA-B2900ABCF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76375"/>
            <a:ext cx="3429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9420FAA-4EE7-49B6-91E3-0AE78FE63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62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229FD6-3E42-4B9A-A50E-09F30BF44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算明白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20F12E-A2E6-4DE5-86E3-9CCFE0BE2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95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模型高度 = 打印层数 × 单层厚度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5D584A9-9AF1-484A-9BB1-A60E5F7D8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76375"/>
            <a:ext cx="3429000" cy="3333750"/>
          </a:xfrm>
          <a:prstGeom xmlns:a="http://schemas.openxmlformats.org/drawingml/2006/main" prst="roundRect">
            <a:avLst>
              <a:gd name="adj" fmla="val 1714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CE81AB-D3ED-42B5-A409-A22AFD21D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571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CF1386-6DB5-4C18-8443-532D9B82A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285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做出来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E5CB60-2CC3-4DB5-8F05-06CF3A6B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0956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在控制台创建新文档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670DE2-5B2A-4A41-8412-857595798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286375"/>
            <a:ext cx="10953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目标不是“看懂”，而是能够解释、修改、验证。</a:t>
            </a:r>
          </a:p>
        </p:txBody>
      </p:sp>
    </p:spTree>
    <p:extLst>
      <p:ext uri="{BB962C8B-B14F-4D97-AF65-F5344CB8AC3E}">
        <p14:creationId xmlns:p14="http://schemas.microsoft.com/office/powerpoint/2010/main" val="205043538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EEB6FB-976E-4A60-B361-237A9C7D8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用熟悉的经验理解新概念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7357D5A-8453-4A42-A9E6-264CB9D62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第01课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EDA519-F8EF-4FCD-8CB5-6B79DCFD6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E431F8-A2BD-4BCF-B14C-76BD6EA59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24000"/>
            <a:ext cx="10858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5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打印机沿X、Y方向画一层，再沿Z方向上升一点。</a:t>
            </a:r>
          </a:p>
        </p:txBody>
      </p:sp>
      <p:cxnSp>
        <p:nvCxnSpPr>
          <p:cNvPr id="21" name=""/>
          <p:cNvCxnSpPr/>
          <p:nvPr/>
        </p:nvCxnSpPr>
        <p:spPr>
          <a:xfrm xmlns:a="http://schemas.openxmlformats.org/drawingml/2006/main">
            <a:off x="1143000" y="3238500"/>
            <a:ext cx="99060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C9D3D9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63364C-4A11-4E08-91F6-1E89D91F7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571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现实经验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46223E-1483-40D4-8D0F-DCA9838C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571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转成数学关系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E0CA64-4C83-495D-BD42-298BDC17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3571875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再变成代码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0F6D04-466E-4D0C-BFBE-0FD8DA8CA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观察与测量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830548-0555-4780-94BA-0F040F670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明确变量和计算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0E8878-D220-449B-B3CE-D97ED2756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42386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让FreeCAD生成结果</a:t>
            </a:r>
          </a:p>
        </p:txBody>
      </p:sp>
    </p:spTree>
    <p:extLst>
      <p:ext uri="{BB962C8B-B14F-4D97-AF65-F5344CB8AC3E}">
        <p14:creationId xmlns:p14="http://schemas.microsoft.com/office/powerpoint/2010/main" val="12938648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127C3B4-0CF4-41AC-B0C4-E299E15B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把公式翻译成一句人话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F9326B-3AB2-4985-9C7E-3FD7A51D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第01课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26F8DE-A714-4CB4-9C8E-198B96DDD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6B0BD2F-027D-41F0-BAD4-3AB5E7E22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11049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7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模型高度 = 打印层数 × 单层厚度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5BA013-45EB-4BA8-B7A6-FE12F4653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52750"/>
            <a:ext cx="10477500" cy="1143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C6E2E2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0D976F-A34B-461B-BBBA-CB6F79A0E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143250"/>
            <a:ext cx="98107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先确定每层有多厚，再计算需要叠多少层。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8FD555-64D5-43B1-9E1C-2C0D0F9F8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10125"/>
            <a:ext cx="11049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读公式时依次说出：求什么 → 已知什么 → 用什么运算。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966CF7-5753-4137-BAE1-68F422DB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381625"/>
            <a:ext cx="11049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42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本课不要求记住复杂符号，要求能把数量关系讲清楚。</a:t>
            </a:r>
          </a:p>
        </p:txBody>
      </p:sp>
    </p:spTree>
    <p:extLst>
      <p:ext uri="{BB962C8B-B14F-4D97-AF65-F5344CB8AC3E}">
        <p14:creationId xmlns:p14="http://schemas.microsoft.com/office/powerpoint/2010/main" val="81298254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C89BD6E-8B36-495A-ADA1-4EEAFED93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代入一个具体数字，就不抽象了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248747-E38B-40AF-89CC-6B973CB81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第01课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715AF0-A72A-4B90-BD7B-A947BA73B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18A0AE-8B20-4DA1-8708-98E090920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381125"/>
            <a:ext cx="11049000" cy="1524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6C89A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A94E8E-F043-4A6C-B9D9-5718D1CF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00200"/>
            <a:ext cx="104775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模型高20毫米，层高0.2毫米：20 ÷ 0.2 = 100层。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E3BE7E-B04A-46F7-AD42-783E89607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14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140136-BABF-4382-A8E9-6AEE08BE2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36195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模型高20毫米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D49DE8-4705-4A5F-B869-56D98F47C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3714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800B76B-6E30-41A8-8C81-0D68FBCE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6195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层高0.2毫米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3A20809-CA7B-4356-B726-7265F34E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14750"/>
            <a:ext cx="47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9DE287-44D1-436A-AF1B-42F116A62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619500"/>
            <a:ext cx="2667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20 ÷ 0.2 = 100层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C3311E-E25D-4E47-A816-C8D670AB6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86375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请换一组数字，口头完成一次同样的计算。</a:t>
            </a:r>
          </a:p>
        </p:txBody>
      </p:sp>
    </p:spTree>
    <p:extLst>
      <p:ext uri="{BB962C8B-B14F-4D97-AF65-F5344CB8AC3E}">
        <p14:creationId xmlns:p14="http://schemas.microsoft.com/office/powerpoint/2010/main" val="182488477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FDBF376-AB0D-41F1-B37D-0DBB1A8AB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先画出程序的三段结构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18514D-263D-41D4-87F3-C9611E2DB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第01课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3DB6B9-E9DC-46DA-86B4-4C18EC001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1238250" y="3143250"/>
            <a:ext cx="966787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C9D3D9"/>
            </a:solidFill>
            <a:prstDash val="solid"/>
          </a:ln>
        </p:spPr>
      </p:cxn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5D80A3-5BB3-43C8-B1F4-46CF2E4E2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990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363D1"/>
          </a:solidFill>
          <a:ln xmlns:a="http://schemas.openxmlformats.org/drawingml/2006/main" w="9525">
            <a:solidFill>
              <a:srgbClr val="2363D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5B8CA2-887F-435C-8E5E-EC2A23105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47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输入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F5CD6D-FA2C-49C6-A38C-C0FA968CE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尺寸、坐标、数量或用户操作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343E75-B61F-4EDD-8C51-1EAE89512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90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0B9096"/>
          </a:solidFill>
          <a:ln xmlns:a="http://schemas.openxmlformats.org/drawingml/2006/main" w="9525">
            <a:solidFill>
              <a:srgbClr val="0B909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48ACCD-1FA7-4C9C-9770-6E9AC7AA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47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处理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715EFE9-BD83-430D-B091-81183893A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6195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按本课规则计算、判断或重复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19B2EBE-55E1-4A43-B3BC-8E6DB28AE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90850"/>
            <a:ext cx="304800" cy="304800"/>
          </a:xfrm>
          <a:prstGeom xmlns:a="http://schemas.openxmlformats.org/drawingml/2006/main" prst="roundRect">
            <a:avLst>
              <a:gd name="adj" fmla="val 18750"/>
            </a:avLst>
          </a:prstGeom>
          <a:solidFill xmlns:a="http://schemas.openxmlformats.org/drawingml/2006/main">
            <a:srgbClr val="2363D1"/>
          </a:solidFill>
          <a:ln xmlns:a="http://schemas.openxmlformats.org/drawingml/2006/main" w="9525">
            <a:solidFill>
              <a:srgbClr val="2363D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39F7C0-49B9-4B2E-B09E-77E9F37FE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2047875"/>
            <a:ext cx="285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输出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57D2BC3-5C64-42BC-A434-EFE34C27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3619500"/>
            <a:ext cx="28575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模型、位置、界面、动画或文件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0BB537-9681-4756-AF82-524F19707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10858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写代码前能说清这三段，调试会容易很多。</a:t>
            </a:r>
          </a:p>
        </p:txBody>
      </p:sp>
    </p:spTree>
    <p:extLst>
      <p:ext uri="{BB962C8B-B14F-4D97-AF65-F5344CB8AC3E}">
        <p14:creationId xmlns:p14="http://schemas.microsoft.com/office/powerpoint/2010/main" val="77843094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2514D5-D03E-4F7A-BA63-17A12DF5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整段代码先看地图，再看细节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D1A7C0-5519-4F2C-862D-16362B8CF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第01课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B924A6-2B63-4ACA-A225-3805A63CD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8BAB7E-3A65-42AB-B210-7B546088C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811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A4267C-2E66-481D-8F8E-C543CF62D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3811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导入：准备FreeCAD、Part或界面模块</a:t>
            </a:r>
          </a:p>
        </p:txBody>
      </p:sp>
      <p:cxnSp>
        <p:nvCxnSpPr>
          <p:cNvPr id="22" name=""/>
          <p:cNvCxnSpPr/>
          <p:nvPr/>
        </p:nvCxnSpPr>
        <p:spPr>
          <a:xfrm xmlns:a="http://schemas.openxmlformats.org/drawingml/2006/main">
            <a:off x="1162050" y="20478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1F762F-1303-4CBE-932C-C064C49CA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621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8AD92C5-F0F9-4D53-811B-C70090A02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1621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文档：取得当前文档，没有则新建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62F8C9-0570-44EF-97ED-6F4E75ECE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524500"/>
            <a:ext cx="105727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7E8"/>
          </a:solidFill>
          <a:ln xmlns:a="http://schemas.openxmlformats.org/drawingml/2006/main" w="9525">
            <a:solidFill>
              <a:srgbClr val="E6C89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9B43B10-B773-49AA-A5D6-5F2D5A7E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91175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本页代码已按教学目标、运行结果和分层任务完成复核。</a:t>
            </a:r>
          </a:p>
        </p:txBody>
      </p:sp>
    </p:spTree>
    <p:extLst>
      <p:ext uri="{BB962C8B-B14F-4D97-AF65-F5344CB8AC3E}">
        <p14:creationId xmlns:p14="http://schemas.microsoft.com/office/powerpoint/2010/main" val="194062243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FE87F5-BFBC-4001-905B-CC271ED2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代码分段 1/1：跟着注释逐行运行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E08BAA-59E6-461B-97E8-C3AC6FAF0F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第01课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51FAAA-8FAF-4D2A-B4E5-416731011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62F48E-5068-4C4D-8FE7-1B6E2F085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23950"/>
            <a:ext cx="11277600" cy="4953000"/>
          </a:xfrm>
          <a:prstGeom xmlns:a="http://schemas.openxmlformats.org/drawingml/2006/main" prst="roundRect">
            <a:avLst>
              <a:gd name="adj" fmla="val 1154"/>
            </a:avLst>
          </a:prstGeom>
          <a:solidFill xmlns:a="http://schemas.openxmlformats.org/drawingml/2006/main">
            <a:srgbClr val="15232D"/>
          </a:solidFill>
          <a:ln xmlns:a="http://schemas.openxmlformats.org/drawingml/2006/main" w="9525">
            <a:solidFill>
              <a:srgbClr val="15232D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B88B82-E4AE-41C5-A494-AF4E7280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52550"/>
            <a:ext cx="10763250" cy="447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import FreeCAD as App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doc = App.newDocument("MyProject")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EAF1F4"/>
                </a:solidFill>
                <a:latin typeface="Menlo"/>
                <a:ea typeface="Menlo"/>
                <a:cs typeface="Menlo"/>
              </a:defRPr>
            </a:pPr>
            <a:r>
              <a:rPr sz="1350" b="0">
                <a:solidFill>
                  <a:srgbClr val="EAF1F4"/>
                </a:solidFill>
                <a:latin typeface="Menlo"/>
                <a:ea typeface="Menlo"/>
                <a:cs typeface="Menlo"/>
              </a:rPr>
              <a:t>print("文档名称：", doc.Name)</a:t>
            </a:r>
          </a:p>
        </p:txBody>
      </p:sp>
    </p:spTree>
    <p:extLst>
      <p:ext uri="{BB962C8B-B14F-4D97-AF65-F5344CB8AC3E}">
        <p14:creationId xmlns:p14="http://schemas.microsoft.com/office/powerpoint/2010/main" val="29621647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CD071E1-ECC6-4637-BA91-F7BB4A05C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运行时按这六步检查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791A97-F846-4920-8A6A-0415521C7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第01课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484D7B-5C28-450B-BAC8-DCF7DEE2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64DAE3-979E-423B-A3A1-C275DC013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1906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E89DFE-B37C-4994-ADC7-7FDB96283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1906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新建或确认当前FreeCAD文档</a:t>
            </a:r>
          </a:p>
        </p:txBody>
      </p:sp>
      <p:cxnSp>
        <p:nvCxnSpPr>
          <p:cNvPr id="44" name=""/>
          <p:cNvCxnSpPr/>
          <p:nvPr/>
        </p:nvCxnSpPr>
        <p:spPr>
          <a:xfrm xmlns:a="http://schemas.openxmlformats.org/drawingml/2006/main">
            <a:off x="1162050" y="18573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D1D73F-22FE-4514-A2F4-5C8004DB4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9716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304494-F1FC-4A20-8EA8-E7B3CA82C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9716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打开菜单：视图 → 面板 → Python控制台</a:t>
            </a:r>
          </a:p>
        </p:txBody>
      </p:sp>
      <p:cxnSp>
        <p:nvCxnSpPr>
          <p:cNvPr id="47" name=""/>
          <p:cNvCxnSpPr/>
          <p:nvPr/>
        </p:nvCxnSpPr>
        <p:spPr>
          <a:xfrm xmlns:a="http://schemas.openxmlformats.org/drawingml/2006/main">
            <a:off x="1162050" y="26384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A046B28-2F21-4989-9B12-0E3FE142F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7527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3ABE80-5368-4F76-92BB-78EB728C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7527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先运行原始代码，确认基准结果</a:t>
            </a:r>
          </a:p>
        </p:txBody>
      </p:sp>
      <p:cxnSp>
        <p:nvCxnSpPr>
          <p:cNvPr id="50" name=""/>
          <p:cNvCxnSpPr/>
          <p:nvPr/>
        </p:nvCxnSpPr>
        <p:spPr>
          <a:xfrm xmlns:a="http://schemas.openxmlformats.org/drawingml/2006/main">
            <a:off x="1162050" y="34194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4FE92B-2F47-4E20-8D89-22BE6A441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5337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96D35D-7F2A-4576-AFCB-9A3B9AEC0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337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一次只修改一个参数，再重新运行</a:t>
            </a:r>
          </a:p>
        </p:txBody>
      </p:sp>
      <p:cxnSp>
        <p:nvCxnSpPr>
          <p:cNvPr id="53" name=""/>
          <p:cNvCxnSpPr/>
          <p:nvPr/>
        </p:nvCxnSpPr>
        <p:spPr>
          <a:xfrm xmlns:a="http://schemas.openxmlformats.org/drawingml/2006/main">
            <a:off x="1162050" y="42005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4C6D56-0373-4796-A4F8-32234CFC3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3148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EB7D0F-8BF3-438E-8B5D-808D62DBE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148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用前视、俯视和轴测图观察变化</a:t>
            </a:r>
          </a:p>
        </p:txBody>
      </p:sp>
      <p:cxnSp>
        <p:nvCxnSpPr>
          <p:cNvPr id="56" name=""/>
          <p:cNvCxnSpPr/>
          <p:nvPr/>
        </p:nvCxnSpPr>
        <p:spPr>
          <a:xfrm xmlns:a="http://schemas.openxmlformats.org/drawingml/2006/main">
            <a:off x="1162050" y="49815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A41298-F00C-48FC-BFED-B88D3FA6E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0958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D8472E-D1E4-4D0E-B58A-5D2A9D38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958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保存FCStd文件、截图和实验记录</a:t>
            </a:r>
          </a:p>
        </p:txBody>
      </p:sp>
    </p:spTree>
    <p:extLst>
      <p:ext uri="{BB962C8B-B14F-4D97-AF65-F5344CB8AC3E}">
        <p14:creationId xmlns:p14="http://schemas.microsoft.com/office/powerpoint/2010/main" val="205030814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FAF2CB6-4F83-4403-B666-BEEBDBB94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预测—观察—解释：不要只看结果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F8598F-3BE1-4C3A-9778-429AC6FB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第01课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A5399E-C98E-42E6-9BFE-CD9D39D3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CD382E4-16E7-4178-978C-5019DE494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52400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469CC4-5DE1-47B8-AC7A-3187E93D8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57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预测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C4161BB-614B-4F34-AAFA-0134756EE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14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运行前写下你认为会发生什么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DA1577-939E-44A4-9200-2608F86FA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2400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369557-7EBE-4AF0-BB80-9B63B244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857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观察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F53DC2-B616-4126-821B-D31880556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714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记录对象数量、位置、形状和颜色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5A3721-737E-4E3C-BDC2-38BC887E5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524000"/>
            <a:ext cx="3429000" cy="3143250"/>
          </a:xfrm>
          <a:prstGeom xmlns:a="http://schemas.openxmlformats.org/drawingml/2006/main" prst="roundRect">
            <a:avLst>
              <a:gd name="adj" fmla="val 1818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D63111F-57BC-40C6-BE75-799C7595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57375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解释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4033AD-933E-46DC-9DA9-2DCECC3206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14625"/>
            <a:ext cx="2952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用本课公式或代码说明原因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A0FDC9-077D-41CF-8C12-98C3390C7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2387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如果结果与预测不同，差异就是最有价值的学习线索。</a:t>
            </a:r>
          </a:p>
        </p:txBody>
      </p:sp>
    </p:spTree>
    <p:extLst>
      <p:ext uri="{BB962C8B-B14F-4D97-AF65-F5344CB8AC3E}">
        <p14:creationId xmlns:p14="http://schemas.microsoft.com/office/powerpoint/2010/main" val="707624067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207492F-13EB-4F9F-9C80-193D39F4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出错并不可怕，先按顺序排查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DCDB7B-62EF-4397-AB53-DA780287E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第01课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B983EA-8941-4118-BDB3-4C41DB599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EDE997-77E1-42EA-82BB-CE9C7E654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763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03C340-2666-4FD2-A074-BB41EFB5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4763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把层高当成模型高度</a:t>
            </a:r>
          </a:p>
        </p:txBody>
      </p:sp>
      <p:cxnSp>
        <p:nvCxnSpPr>
          <p:cNvPr id="28" name=""/>
          <p:cNvCxnSpPr/>
          <p:nvPr/>
        </p:nvCxnSpPr>
        <p:spPr>
          <a:xfrm xmlns:a="http://schemas.openxmlformats.org/drawingml/2006/main">
            <a:off x="1162050" y="214312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B4AC8F-BC52-47D3-8BDC-4752726B1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5742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2E95B0-84C5-4170-804A-B699B2E20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5742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忘记毫米是常用单位</a:t>
            </a:r>
          </a:p>
        </p:txBody>
      </p:sp>
      <p:cxnSp>
        <p:nvCxnSpPr>
          <p:cNvPr id="31" name=""/>
          <p:cNvCxnSpPr/>
          <p:nvPr/>
        </p:nvCxnSpPr>
        <p:spPr>
          <a:xfrm xmlns:a="http://schemas.openxmlformats.org/drawingml/2006/main">
            <a:off x="1162050" y="2924175"/>
            <a:ext cx="100012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5D7E4CC-53A0-40CD-912C-C43BDB8C4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38475"/>
            <a:ext cx="438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F955E4-7AE1-4678-9F8B-B365DB920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38475"/>
            <a:ext cx="1000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4212B"/>
                </a:solidFill>
                <a:latin typeface="Arial"/>
                <a:ea typeface="Arial"/>
                <a:cs typeface="Arial"/>
              </a:rPr>
              <a:t>只看外形，不观察坐标方向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B9133E3-E481-42EE-BDEC-C9DB08418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4767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通用排查顺序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14EC53D-6528-4F8F-9E96-8BDBBDFA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953000"/>
            <a:ext cx="1057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看报错最后一行 → 检查拼写与缩进 → 检查参数范围 → 检查文档和对象 → 重新运行</a:t>
            </a:r>
          </a:p>
        </p:txBody>
      </p:sp>
    </p:spTree>
    <p:extLst>
      <p:ext uri="{BB962C8B-B14F-4D97-AF65-F5344CB8AC3E}">
        <p14:creationId xmlns:p14="http://schemas.microsoft.com/office/powerpoint/2010/main" val="1853913724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855920D-CA34-4C1C-BB9D-941A722C4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分层挑战：每个人都能向前一步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9895D27-D753-4331-BB7C-99F36B65C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第01课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708DE9-46E2-4943-897A-923889121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0B1D5F-8F2B-439F-A696-A7FA947F5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476375"/>
            <a:ext cx="3429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0E0D97-F124-49B4-B03E-5A15DA400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62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基础任务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AC06C6-F933-4AAE-B648-9E5B2CF4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在控制台创建新文档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E7E0B9-2E11-43F7-9053-5F003FD75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完成即可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13912A-9B6D-40CC-8211-FFB4BC7A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476375"/>
            <a:ext cx="3429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79BF22-B70B-4A57-B7E5-9D14D81D7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762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进阶任务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5BD467-7624-43CD-9993-5560FA11E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241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把项目名称改成自己的编号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9FD0A5-B114-464A-B360-65DF946D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4095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说明修改理由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39CEC7F-2B93-42B9-A450-55A650117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476375"/>
            <a:ext cx="3429000" cy="3429000"/>
          </a:xfrm>
          <a:prstGeom xmlns:a="http://schemas.openxmlformats.org/drawingml/2006/main" prst="roundRect">
            <a:avLst>
              <a:gd name="adj" fmla="val 1667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F548F2-18E4-46E8-BD7D-F7EAB0C5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62125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创意任务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9E091CE-3C76-4CAD-A8B7-68670D575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24125"/>
            <a:ext cx="285750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预测层高变小时打印层数如何变化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684796-DC65-41A5-8C09-489AFAC98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957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形成自己的设计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900CB2-BB77-4755-98BB-F768784FF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381625"/>
            <a:ext cx="1095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先完成基础任务，再选择更高层级；不要跳过文件保存。</a:t>
            </a:r>
          </a:p>
        </p:txBody>
      </p:sp>
    </p:spTree>
    <p:extLst>
      <p:ext uri="{BB962C8B-B14F-4D97-AF65-F5344CB8AC3E}">
        <p14:creationId xmlns:p14="http://schemas.microsoft.com/office/powerpoint/2010/main" val="132929307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120436B-46E6-4F0E-A2EF-99BA98B66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10810875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625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作品评价看四件事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238011-E534-43F1-AE89-EFCBE7036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19850"/>
            <a:ext cx="952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第01课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6A4303-6957-4D55-BF3D-51C01A85C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419850"/>
            <a:ext cx="3429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D9A825-BAC5-4028-BE86-7B1A6D023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2875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AFA855-03BC-43E2-90DB-CDC41A72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638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可运行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5421D5-1EAE-46CD-A891-30C291A01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717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代码或操作能稳定得到结果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09C558-5A16-49ED-A9A2-6DA23620B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142875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062525-61D6-47A5-9A87-EEBE38C2D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3830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可解释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1BF5C3-5576-47B7-9BB0-2FB256E4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17170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能说出关键参数与变化原因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FD7BC8-7969-44F9-A250-26382E03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42900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F1F4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5CCB1E-F129-4BEF-AB97-A608CCDFA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385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可修改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37FC1D-DDDF-4617-8D37-41B3A3020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能按任务要求完成一次有效迭代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002476-0CB1-46F7-A4E7-EB4612F8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8375" y="3429000"/>
            <a:ext cx="5143500" cy="1619250"/>
          </a:xfrm>
          <a:prstGeom xmlns:a="http://schemas.openxmlformats.org/drawingml/2006/main" prst="roundRect">
            <a:avLst>
              <a:gd name="adj" fmla="val 3529"/>
            </a:avLst>
          </a:prstGeom>
          <a:solidFill xmlns:a="http://schemas.openxmlformats.org/drawingml/2006/main">
            <a:srgbClr val="E8F5F5"/>
          </a:solidFill>
          <a:ln xmlns:a="http://schemas.openxmlformats.org/drawingml/2006/main" w="9525">
            <a:solidFill>
              <a:srgbClr val="DDE4E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3B6B7E-BA5E-4667-B402-7446E139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6385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可归档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6143A2-D764-4D36-84FE-F2D2EF36F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171950"/>
            <a:ext cx="4572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源文件、截图和记录命名规范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AEBD71-272A-4F39-A895-A109ED8E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6197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B85A17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B85A17"/>
                </a:solidFill>
                <a:latin typeface="Arial"/>
                <a:ea typeface="Arial"/>
                <a:cs typeface="Arial"/>
              </a:rPr>
              <a:t>自评后请同桌复核一次，再提交教师检查。</a:t>
            </a:r>
          </a:p>
        </p:txBody>
      </p:sp>
    </p:spTree>
    <p:extLst>
      <p:ext uri="{BB962C8B-B14F-4D97-AF65-F5344CB8AC3E}">
        <p14:creationId xmlns:p14="http://schemas.microsoft.com/office/powerpoint/2010/main" val="1042234686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F20146-53BA-413B-9ECF-A026E81F6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457200"/>
            <a:ext cx="990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85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下课前，完成四项自检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7BCB26-8FEF-47F4-84AF-1E00338A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716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CF785F-91D4-4B12-87B8-01B8FC2DC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5716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我能用一句话解释本课原理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A40ED2-8029-47BB-9082-4A73396D7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717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29C3B3-B19C-4883-B288-FCF9FDAB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3717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我能把公式读成中文并代入数字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ABD58E-32A9-4FA4-B523-B2EB6308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718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85E70E-6A51-470B-813C-9C58292FF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718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我能指出代码中的关键参数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AABA4A-DC89-459F-949C-523957E13F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71925"/>
            <a:ext cx="4000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175" b="1">
                <a:solidFill>
                  <a:srgbClr val="0B9096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B9096"/>
                </a:solidFill>
                <a:latin typeface="Arial"/>
                <a:ea typeface="Arial"/>
                <a:cs typeface="Arial"/>
              </a:rPr>
              <a:t>□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AEAA23-847F-4799-9643-E2E23546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71925"/>
            <a:ext cx="933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14212B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4212B"/>
                </a:solidFill>
                <a:latin typeface="Arial"/>
                <a:ea typeface="Arial"/>
                <a:cs typeface="Arial"/>
              </a:rPr>
              <a:t>我已完成作品、截图和实验记录</a:t>
            </a:r>
          </a:p>
        </p:txBody>
      </p:sp>
      <p:cxnSp>
        <p:nvCxnSpPr>
          <p:cNvPr id="32" name=""/>
          <p:cNvCxnSpPr/>
          <p:nvPr/>
        </p:nvCxnSpPr>
        <p:spPr>
          <a:xfrm xmlns:a="http://schemas.openxmlformats.org/drawingml/2006/main">
            <a:off x="495300" y="5238750"/>
            <a:ext cx="11125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C9D3D9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21268D-CD84-4837-A8FD-E2BEB066D2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5524500"/>
            <a:ext cx="876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2363D1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363D1"/>
                </a:solidFill>
                <a:latin typeface="Arial"/>
                <a:ea typeface="Arial"/>
                <a:cs typeface="Arial"/>
              </a:rPr>
              <a:t>保存文件：第01课_班级_匿名编号.FCStd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4691CB-2841-410B-9017-C275E412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4750" y="6419850"/>
            <a:ext cx="3238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0">
                <a:solidFill>
                  <a:srgbClr val="64727E"/>
                </a:solidFill>
                <a:latin typeface="Arial"/>
                <a:ea typeface="Arial"/>
                <a:cs typeface="Arial"/>
              </a:defRPr>
            </a:pPr>
            <a:r>
              <a:rPr sz="900" b="0">
                <a:solidFill>
                  <a:srgbClr val="64727E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57399330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2026-07-12T00:12:07.9150000Z</dcterms:created>
  <dcterms:modified xsi:type="dcterms:W3CDTF">2026-07-12T00:12:07.9150000Z</dcterms:modified>
</coreProperties>
</file>
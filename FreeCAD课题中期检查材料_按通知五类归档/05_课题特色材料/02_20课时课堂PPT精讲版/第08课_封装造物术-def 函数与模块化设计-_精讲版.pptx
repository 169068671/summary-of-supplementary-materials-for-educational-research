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d3017fe0b24ed7" /><Relationship Type="http://schemas.openxmlformats.org/officeDocument/2006/relationships/extended-properties" Target="/docProps/app.xml" Id="R20f4ef5207df47b8" /><Relationship Type="http://schemas.openxmlformats.org/officeDocument/2006/relationships/officeDocument" Target="/ppt/presentation.xml" Id="R27a3ea83580c42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fee848bf6749f4"/>
  </p:sldMasterIdLst>
  <p:notesMasterIdLst>
    <p:notesMasterId xmlns:r="http://schemas.openxmlformats.org/officeDocument/2006/relationships" r:id="Rb589253146d94084"/>
  </p:notesMasterIdLst>
  <p:sldIdLst>
    <p:sldId xmlns:r="http://schemas.openxmlformats.org/officeDocument/2006/relationships" id="256" r:id="R302414b83eff4f90"/>
    <p:sldId xmlns:r="http://schemas.openxmlformats.org/officeDocument/2006/relationships" id="257" r:id="Rb88a1fed0f114a2c"/>
    <p:sldId xmlns:r="http://schemas.openxmlformats.org/officeDocument/2006/relationships" id="258" r:id="R5ae7bee167604573"/>
    <p:sldId xmlns:r="http://schemas.openxmlformats.org/officeDocument/2006/relationships" id="259" r:id="Ree53c308fc584f93"/>
    <p:sldId xmlns:r="http://schemas.openxmlformats.org/officeDocument/2006/relationships" id="260" r:id="R75184558f0044b40"/>
    <p:sldId xmlns:r="http://schemas.openxmlformats.org/officeDocument/2006/relationships" id="261" r:id="R753da5fa8ff6474f"/>
    <p:sldId xmlns:r="http://schemas.openxmlformats.org/officeDocument/2006/relationships" id="262" r:id="R0b6a33a634b34a35"/>
    <p:sldId xmlns:r="http://schemas.openxmlformats.org/officeDocument/2006/relationships" id="263" r:id="R5dc55db240e04804"/>
    <p:sldId xmlns:r="http://schemas.openxmlformats.org/officeDocument/2006/relationships" id="264" r:id="Reccd4f9fa8924971"/>
    <p:sldId xmlns:r="http://schemas.openxmlformats.org/officeDocument/2006/relationships" id="265" r:id="R8fc47d81b8544ad9"/>
    <p:sldId xmlns:r="http://schemas.openxmlformats.org/officeDocument/2006/relationships" id="266" r:id="Rba5a9a8c203d4b6c"/>
    <p:sldId xmlns:r="http://schemas.openxmlformats.org/officeDocument/2006/relationships" id="267" r:id="R33f4c75684564b38"/>
    <p:sldId xmlns:r="http://schemas.openxmlformats.org/officeDocument/2006/relationships" id="268" r:id="R482fe4236581442b"/>
    <p:sldId xmlns:r="http://schemas.openxmlformats.org/officeDocument/2006/relationships" id="269" r:id="R0f4b2f91d88d49aa"/>
    <p:sldId xmlns:r="http://schemas.openxmlformats.org/officeDocument/2006/relationships" id="270" r:id="R05378abfe3e4406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e7fbcf2ddb488e" /><Relationship Type="http://schemas.openxmlformats.org/officeDocument/2006/relationships/slideMaster" Target="/ppt/slideMasters/slideMaster1.xml" Id="R2dfee848bf6749f4" /><Relationship Type="http://schemas.openxmlformats.org/officeDocument/2006/relationships/notesMaster" Target="/ppt/notesMasters/notesMaster1.xml" Id="Rb589253146d94084" /><Relationship Type="http://schemas.openxmlformats.org/officeDocument/2006/relationships/presProps" Target="/ppt/presProps.xml" Id="R18158a7041224bb8" /><Relationship Type="http://schemas.openxmlformats.org/officeDocument/2006/relationships/tableStyles" Target="/ppt/tableStyles.xml" Id="R0eedb32f2c57428d" /><Relationship Type="http://schemas.openxmlformats.org/officeDocument/2006/relationships/slide" Target="/ppt/slides/slide1.xml" Id="R302414b83eff4f90" /><Relationship Type="http://schemas.openxmlformats.org/officeDocument/2006/relationships/slide" Target="/ppt/slides/slide2.xml" Id="Rb88a1fed0f114a2c" /><Relationship Type="http://schemas.openxmlformats.org/officeDocument/2006/relationships/slide" Target="/ppt/slides/slide3.xml" Id="R5ae7bee167604573" /><Relationship Type="http://schemas.openxmlformats.org/officeDocument/2006/relationships/slide" Target="/ppt/slides/slide4.xml" Id="Ree53c308fc584f93" /><Relationship Type="http://schemas.openxmlformats.org/officeDocument/2006/relationships/slide" Target="/ppt/slides/slide5.xml" Id="R75184558f0044b40" /><Relationship Type="http://schemas.openxmlformats.org/officeDocument/2006/relationships/slide" Target="/ppt/slides/slide6.xml" Id="R753da5fa8ff6474f" /><Relationship Type="http://schemas.openxmlformats.org/officeDocument/2006/relationships/slide" Target="/ppt/slides/slide7.xml" Id="R0b6a33a634b34a35" /><Relationship Type="http://schemas.openxmlformats.org/officeDocument/2006/relationships/slide" Target="/ppt/slides/slide8.xml" Id="R5dc55db240e04804" /><Relationship Type="http://schemas.openxmlformats.org/officeDocument/2006/relationships/slide" Target="/ppt/slides/slide9.xml" Id="Reccd4f9fa8924971" /><Relationship Type="http://schemas.openxmlformats.org/officeDocument/2006/relationships/slide" Target="/ppt/slides/slide10.xml" Id="R8fc47d81b8544ad9" /><Relationship Type="http://schemas.openxmlformats.org/officeDocument/2006/relationships/slide" Target="/ppt/slides/slide11.xml" Id="Rba5a9a8c203d4b6c" /><Relationship Type="http://schemas.openxmlformats.org/officeDocument/2006/relationships/slide" Target="/ppt/slides/slide12.xml" Id="R33f4c75684564b38" /><Relationship Type="http://schemas.openxmlformats.org/officeDocument/2006/relationships/slide" Target="/ppt/slides/slide13.xml" Id="R482fe4236581442b" /><Relationship Type="http://schemas.openxmlformats.org/officeDocument/2006/relationships/slide" Target="/ppt/slides/slide14.xml" Id="R0f4b2f91d88d49aa" /><Relationship Type="http://schemas.openxmlformats.org/officeDocument/2006/relationships/slide" Target="/ppt/slides/slide15.xml" Id="R05378abfe3e440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96d22eec8f4d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c3b7cd94f0465b" /><Relationship Type="http://schemas.openxmlformats.org/officeDocument/2006/relationships/notesMaster" Target="/ppt/notesMasters/notesMaster1.xml" Id="R8c6cb3bf075d4c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cebf8dbc3f4030" /><Relationship Type="http://schemas.openxmlformats.org/officeDocument/2006/relationships/notesMaster" Target="/ppt/notesMasters/notesMaster1.xml" Id="R96ae1b08031e40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1335fb4b5640a0" /><Relationship Type="http://schemas.openxmlformats.org/officeDocument/2006/relationships/notesMaster" Target="/ppt/notesMasters/notesMaster1.xml" Id="Rc59e98c26a0646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255ce89cab480e" /><Relationship Type="http://schemas.openxmlformats.org/officeDocument/2006/relationships/notesMaster" Target="/ppt/notesMasters/notesMaster1.xml" Id="R804e00f9e8014d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db7f5669ed405e" /><Relationship Type="http://schemas.openxmlformats.org/officeDocument/2006/relationships/notesMaster" Target="/ppt/notesMasters/notesMaster1.xml" Id="R9e1b32b1920f49a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7f8a5394f94630" /><Relationship Type="http://schemas.openxmlformats.org/officeDocument/2006/relationships/notesMaster" Target="/ppt/notesMasters/notesMaster1.xml" Id="R1b0db82c8acc48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981ca5a3794a45" /><Relationship Type="http://schemas.openxmlformats.org/officeDocument/2006/relationships/notesMaster" Target="/ppt/notesMasters/notesMaster1.xml" Id="R5dd2778df72346c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59832dba274ca9" /><Relationship Type="http://schemas.openxmlformats.org/officeDocument/2006/relationships/notesMaster" Target="/ppt/notesMasters/notesMaster1.xml" Id="R9924cba8dca24e2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d713d3de5e4e92" /><Relationship Type="http://schemas.openxmlformats.org/officeDocument/2006/relationships/notesMaster" Target="/ppt/notesMasters/notesMaster1.xml" Id="R51ae91792d6540f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9a18de56d3b41f2" /><Relationship Type="http://schemas.openxmlformats.org/officeDocument/2006/relationships/notesMaster" Target="/ppt/notesMasters/notesMaster1.xml" Id="R3e771bb622e842c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5b0a45bef9f4d64" /><Relationship Type="http://schemas.openxmlformats.org/officeDocument/2006/relationships/notesMaster" Target="/ppt/notesMasters/notesMaster1.xml" Id="R7972333835584c1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242042600bf4146" /><Relationship Type="http://schemas.openxmlformats.org/officeDocument/2006/relationships/notesMaster" Target="/ppt/notesMasters/notesMaster1.xml" Id="R1279d0e1fdfa493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4ea607272cb49ba" /><Relationship Type="http://schemas.openxmlformats.org/officeDocument/2006/relationships/notesMaster" Target="/ppt/notesMasters/notesMaster1.xml" Id="R21d2cd892a4c465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4922b94d9974b4b" /><Relationship Type="http://schemas.openxmlformats.org/officeDocument/2006/relationships/notesMaster" Target="/ppt/notesMasters/notesMaster1.xml" Id="Ra076a70d931e4a0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f89b1dfe8994b3a" /><Relationship Type="http://schemas.openxmlformats.org/officeDocument/2006/relationships/notesMaster" Target="/ppt/notesMasters/notesMaster1.xml" Id="Rce553e14da6f44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c13d0ff01442c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c6d35387514ed9" /><Relationship Type="http://schemas.openxmlformats.org/officeDocument/2006/relationships/slideLayout" Target="/ppt/slideLayouts/slideLayout1.xml" Id="Re2a43da5df54433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a43da5df54433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a92c3b327b4c2f" /><Relationship Type="http://schemas.openxmlformats.org/officeDocument/2006/relationships/notesSlide" Target="/ppt/notesSlides/notesSlide1.xml" Id="R8205c579429f47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ee22c791f74496" /><Relationship Type="http://schemas.openxmlformats.org/officeDocument/2006/relationships/notesSlide" Target="/ppt/notesSlides/notesSlide2.xml" Id="R95c33b69ff7c46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30b17904ec4012" /><Relationship Type="http://schemas.openxmlformats.org/officeDocument/2006/relationships/notesSlide" Target="/ppt/notesSlides/notesSlide3.xml" Id="R54126415d6d3439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cb71f98bc149f7" /><Relationship Type="http://schemas.openxmlformats.org/officeDocument/2006/relationships/notesSlide" Target="/ppt/notesSlides/notesSlide4.xml" Id="Rd2a4ef98728b4e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1910bb2e0349a5" /><Relationship Type="http://schemas.openxmlformats.org/officeDocument/2006/relationships/notesSlide" Target="/ppt/notesSlides/notesSlide5.xml" Id="R564760c56b184f8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ff97c6f5534354" /><Relationship Type="http://schemas.openxmlformats.org/officeDocument/2006/relationships/notesSlide" Target="/ppt/notesSlides/notesSlide6.xml" Id="Rdb3eaf5e2d2749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770cc1d4f44f36" /><Relationship Type="http://schemas.openxmlformats.org/officeDocument/2006/relationships/notesSlide" Target="/ppt/notesSlides/notesSlide7.xml" Id="R83e01ab23f384e8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52520640d40cb" /><Relationship Type="http://schemas.openxmlformats.org/officeDocument/2006/relationships/notesSlide" Target="/ppt/notesSlides/notesSlide8.xml" Id="Rfe88050a1aee43e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2c5bef377847b8" /><Relationship Type="http://schemas.openxmlformats.org/officeDocument/2006/relationships/notesSlide" Target="/ppt/notesSlides/notesSlide9.xml" Id="Rfaf4e685c7a6455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c5c6d8eff74cb1" /><Relationship Type="http://schemas.openxmlformats.org/officeDocument/2006/relationships/notesSlide" Target="/ppt/notesSlides/notesSlide10.xml" Id="Rbd501b66948b487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34ef9c92bc4ae3" /><Relationship Type="http://schemas.openxmlformats.org/officeDocument/2006/relationships/notesSlide" Target="/ppt/notesSlides/notesSlide11.xml" Id="R1b69049cf9854ae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d5b644f02447df" /><Relationship Type="http://schemas.openxmlformats.org/officeDocument/2006/relationships/notesSlide" Target="/ppt/notesSlides/notesSlide12.xml" Id="R59371fb64a3b418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b7201515724622" /><Relationship Type="http://schemas.openxmlformats.org/officeDocument/2006/relationships/notesSlide" Target="/ppt/notesSlides/notesSlide13.xml" Id="R4ceab07a153f433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aa346d09af490f" /><Relationship Type="http://schemas.openxmlformats.org/officeDocument/2006/relationships/notesSlide" Target="/ppt/notesSlides/notesSlide14.xml" Id="R8f6b320a1eba46a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7f55a0f4284103" /><Relationship Type="http://schemas.openxmlformats.org/officeDocument/2006/relationships/notesSlide" Target="/ppt/notesSlides/notesSlide15.xml" Id="Rf1b00b5cc54e4b1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14ABBC-3FC4-4148-BB2A-82899EC4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模块3  数学之美与算法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8BDFF3-973F-43EB-A478-A8DC77EB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1076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第 8 课：封装造物术（def 函数与模块化设计）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B41B74-9C82-4F0B-8C51-32FEA0FF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242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63D1"/>
                </a:solidFill>
                <a:latin typeface="Arial"/>
                <a:ea typeface="Arial"/>
                <a:cs typeface="Arial"/>
              </a:rPr>
              <a:t>"将复杂的机械结构封装成一个具有输入参数的黑盒，提高复用率。"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476250" y="4857750"/>
            <a:ext cx="11239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CE665D-7421-486C-AB96-E32A00BC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9112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FreeCAD三维设计与3D打印校本课程 · 精讲版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2F9708-8642-4070-AB64-F45D8EE7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901719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23F3DD-8851-4736-BB9E-EAE2E83C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先观察，再猜一猜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3AD986-9758-47AD-994C-4848A707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第08课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F18162-F5E0-4C91-9314-64443687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28C0F0-9E35-411C-8F33-BEB7DA19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C6E2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4202F2-3FAC-40DF-AF54-BAE59A9F8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107061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函数把一组步骤封装成可重复调用的造物工具。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CDD7D-70C2-440F-B543-6A5FF40E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想一想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6D1886-3A3B-449D-8A46-55D413BB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B02A84-3D93-4702-8651-BEA548E6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481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这个现象中，哪些量可以改变？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1162050" y="45370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B8A2C8-C2CF-47E9-B266-2615299A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513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BB23B2-EACD-4F67-AE51-7D48A60FB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513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如果把关键参数扩大一倍，结果会怎样？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1162050" y="51403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8AC43C-ABED-4884-9C43-2A4250CD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546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536EF3-430B-4998-81B8-001C4003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546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我们能否把规律写成一条清晰的计算规则？</a:t>
            </a:r>
          </a:p>
        </p:txBody>
      </p:sp>
    </p:spTree>
    <p:extLst>
      <p:ext uri="{BB962C8B-B14F-4D97-AF65-F5344CB8AC3E}">
        <p14:creationId xmlns:p14="http://schemas.microsoft.com/office/powerpoint/2010/main" val="3683136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C43BDC-2E08-4020-BCF2-5DBCAF8A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完成本课后，你应该能做到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F624DA-5931-4CBC-B045-52C147B1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第08课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04D02A-84A3-4FF2-BFE2-FC7374E6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262FAF-3156-43F4-AF63-CC7918A2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34290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993523-7E1F-4EC2-A22E-FA77AD10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E07857-BC9C-4352-92F8-F0C4263D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说清楚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C9CBED-1FD5-4F88-96AA-E5B12749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956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函数把一组步骤封装成可重复调用的造物工具。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17051F-8556-479D-A8DA-A034C707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76375"/>
            <a:ext cx="34290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7F29CF-F667-417B-8480-B3D4694A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62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2C7915-7ABA-4A04-B051-39E5CA86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算明白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142E27-3A5D-4B56-B617-C1BA8931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956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输出模型 = 函数（输入参数）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6322DF-0A58-4D29-8AFB-EE7687CA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76375"/>
            <a:ext cx="34290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76D3F3-4E36-4C42-B454-68497401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755EA8-8D4D-426F-BE3A-4883F8F4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做出来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642703-0B06-4C60-AB68-DB3E6B0C9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956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调用函数创建一个带孔方块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119529-E024-4645-9B32-3F6280B71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86375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目标不是“看懂”，而是能够解释、修改、验证。</a:t>
            </a:r>
          </a:p>
        </p:txBody>
      </p:sp>
    </p:spTree>
    <p:extLst>
      <p:ext uri="{BB962C8B-B14F-4D97-AF65-F5344CB8AC3E}">
        <p14:creationId xmlns:p14="http://schemas.microsoft.com/office/powerpoint/2010/main" val="5631631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7D679E-C4C3-4CF0-BBB4-9752670C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用熟悉的经验理解新概念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B76D10-316D-4F28-A2EA-E5B363F35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第08课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215BAB-FA20-4228-BDEC-7E222309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B52F3B-A120-4209-B48E-C79F0FC0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函数像模具：换参数，不换制造流程。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1143000" y="3238500"/>
            <a:ext cx="990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3D9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C2927C-63A0-4B43-A523-5A97F79D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现实经验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628842-4746-47BF-A004-9CD48887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571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转成数学关系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B30DF3-56E4-4278-B30D-E896E2EF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571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再变成代码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78CCF6-8F26-4DB6-83C8-12BFD2B73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38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观察与测量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FD51BB-A6F6-4A7D-8860-3C38A881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238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明确变量和计算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B62C1C-6CA5-498A-BC3E-703A7135C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38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让FreeCAD生成结果</a:t>
            </a:r>
          </a:p>
        </p:txBody>
      </p:sp>
    </p:spTree>
    <p:extLst>
      <p:ext uri="{BB962C8B-B14F-4D97-AF65-F5344CB8AC3E}">
        <p14:creationId xmlns:p14="http://schemas.microsoft.com/office/powerpoint/2010/main" val="20992756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E6E4B5-F1B8-4261-B741-30E8CFE9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把公式翻译成一句人话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91F0B5-9E76-4350-8A6F-C7B9970B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第08课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DF5C7D-F7DD-40E8-984E-2F83D3F9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B8D395-88C3-4393-A608-F1B2CB35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输出模型 = 函数（输入参数）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296779-F3AF-4F66-BDA8-6D3193F3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0477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C6E2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686E61-FA41-42F0-9098-D0F8212D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43250"/>
            <a:ext cx="981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参数决定尺寸，函数负责按固定流程创建模型。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EDB426-EDA1-4363-BC58-CAE4EB00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012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读公式时依次说出：求什么 → 已知什么 → 用什么运算。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E23E23-6ECA-44A2-9893-853F6FE1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81625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本课不要求记住复杂符号，要求能把数量关系讲清楚。</a:t>
            </a:r>
          </a:p>
        </p:txBody>
      </p:sp>
    </p:spTree>
    <p:extLst>
      <p:ext uri="{BB962C8B-B14F-4D97-AF65-F5344CB8AC3E}">
        <p14:creationId xmlns:p14="http://schemas.microsoft.com/office/powerpoint/2010/main" val="13788518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EE1680-E55E-453D-8563-09B6B834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代入一个具体数字，就不抽象了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93401A-4158-4586-B4AA-EC37ED778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第08课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3524F7-CB67-47D4-A6D7-A51CB5E8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D04592-59EA-49BB-9892-950C44BA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1524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6C89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B60D20-5932-48F9-B67B-A68BB34D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make_hollow_box(40,5)表示创建边长40、孔半径5的空心方块。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DBA49C-E6ED-4C9A-9904-0C75003C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D9DAE6-0975-4BE0-979E-48E56612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61950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make_hollow_box(40,5)表示创建边长40、孔半径5的空心方块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FAC8FD-E860-48EF-A933-8268363C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请换一组数字，口头完成一次同样的计算。</a:t>
            </a:r>
          </a:p>
        </p:txBody>
      </p:sp>
    </p:spTree>
    <p:extLst>
      <p:ext uri="{BB962C8B-B14F-4D97-AF65-F5344CB8AC3E}">
        <p14:creationId xmlns:p14="http://schemas.microsoft.com/office/powerpoint/2010/main" val="18373646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72D927-95E8-4DBF-B26F-20806123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先画出程序的三段结构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587CD1-46C0-41A8-B7EC-0594FE1A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第08课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8CCD88-4A37-4B9D-885F-BF51E9A6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1238250" y="3143250"/>
            <a:ext cx="9667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D3D9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4755C7-3E09-4349-8E4F-9BBBB003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363D1"/>
          </a:solidFill>
          <a:ln xmlns:a="http://schemas.openxmlformats.org/drawingml/2006/main" w="9525">
            <a:solidFill>
              <a:srgbClr val="2363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4DB3ED-62BA-4AD3-A0A6-49DE6DBB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47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2A4108-DD98-447A-B658-1631DEB0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尺寸、坐标、数量或用户操作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AA5103-77EC-4ECB-B05D-A6AB8FBA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90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B9096"/>
          </a:solidFill>
          <a:ln xmlns:a="http://schemas.openxmlformats.org/drawingml/2006/main" w="9525">
            <a:solidFill>
              <a:srgbClr val="0B909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5B8E01-AED8-4148-B7B7-EF2F4CEC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47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C3CF9C-5FD2-45E3-8234-10A8E0FA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1950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按本课规则计算、判断或重复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CF2998-8954-49E4-AA8C-13BECDDA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90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363D1"/>
          </a:solidFill>
          <a:ln xmlns:a="http://schemas.openxmlformats.org/drawingml/2006/main" w="9525">
            <a:solidFill>
              <a:srgbClr val="2363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F25AD8-1AAB-441E-B30E-5F8F0FB0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47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输出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87F35F-6B57-4EED-82D5-B235B934F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1950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模型、位置、界面、动画或文件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E63B10-D0CB-40F0-83E6-D8F0ED84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写代码前能说清这三段，调试会容易很多。</a:t>
            </a:r>
          </a:p>
        </p:txBody>
      </p:sp>
    </p:spTree>
    <p:extLst>
      <p:ext uri="{BB962C8B-B14F-4D97-AF65-F5344CB8AC3E}">
        <p14:creationId xmlns:p14="http://schemas.microsoft.com/office/powerpoint/2010/main" val="13623382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0308B9-5D42-44F0-86BF-09FD0582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整段代码先看地图，再看细节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62F582-60D8-4C42-AE54-93EB12AB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第08课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E41422-467A-434A-A0A5-642B0044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41AEB3-8C1F-4E5E-8D07-234AECD77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D68402-58DB-458B-8059-7EE5E665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3811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导入：准备FreeCAD、Part或界面模块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1162050" y="20478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F12FBC-56B5-43EF-999D-99FB5FC9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621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AE2AF8-8F3E-491B-BC4D-66CDA682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621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文档：取得当前文档，没有则新建</a:t>
            </a:r>
          </a:p>
        </p:txBody>
      </p:sp>
      <p:cxnSp>
        <p:nvCxnSpPr>
          <p:cNvPr id="43" name=""/>
          <p:cNvCxnSpPr/>
          <p:nvPr/>
        </p:nvCxnSpPr>
        <p:spPr>
          <a:xfrm xmlns:a="http://schemas.openxmlformats.org/drawingml/2006/main">
            <a:off x="1162050" y="28289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FE4754-8717-44B8-B1CF-A78956161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432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A47354-146D-4BD2-8472-650565D7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432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建模：创建几何体并加入文档</a:t>
            </a:r>
          </a:p>
        </p:txBody>
      </p:sp>
      <p:cxnSp>
        <p:nvCxnSpPr>
          <p:cNvPr id="46" name=""/>
          <p:cNvCxnSpPr/>
          <p:nvPr/>
        </p:nvCxnSpPr>
        <p:spPr>
          <a:xfrm xmlns:a="http://schemas.openxmlformats.org/drawingml/2006/main">
            <a:off x="1162050" y="36099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2F3CB4-6010-439A-B7AC-910A39B5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242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56A2EF-773E-4947-8F25-F452F659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242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封装：函数把步骤组合成可重复工具</a:t>
            </a:r>
          </a:p>
        </p:txBody>
      </p:sp>
      <p:cxnSp>
        <p:nvCxnSpPr>
          <p:cNvPr id="49" name=""/>
          <p:cNvCxnSpPr/>
          <p:nvPr/>
        </p:nvCxnSpPr>
        <p:spPr>
          <a:xfrm xmlns:a="http://schemas.openxmlformats.org/drawingml/2006/main">
            <a:off x="1162050" y="43910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F49454-E1C8-4495-A287-7514E824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053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74E32D-1CD6-49A3-8FA3-BDD19875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053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刷新：重新计算并更新三维视图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3DE7FE-9607-4FC1-BACE-B97B2E00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10572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6C89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AEAB07-384F-4D9D-B0C4-E884EE22A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91175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本页代码已按教学目标、运行结果和分层任务完成复核。</a:t>
            </a:r>
          </a:p>
        </p:txBody>
      </p:sp>
    </p:spTree>
    <p:extLst>
      <p:ext uri="{BB962C8B-B14F-4D97-AF65-F5344CB8AC3E}">
        <p14:creationId xmlns:p14="http://schemas.microsoft.com/office/powerpoint/2010/main" val="7090230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C131FA-5F44-4938-878B-1BFD3408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代码分段 1/1：跟着注释逐行运行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90D76A-4FFD-420F-970C-93AA3C19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第08课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90D692-3EF9-4DA8-AF14-8FE878C6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85F498-5502-4C06-9983-242A69378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1277600" cy="4953000"/>
          </a:xfrm>
          <a:prstGeom xmlns:a="http://schemas.openxmlformats.org/drawingml/2006/main" prst="roundRect">
            <a:avLst>
              <a:gd name="adj" fmla="val 1154"/>
            </a:avLst>
          </a:prstGeom>
          <a:solidFill xmlns:a="http://schemas.openxmlformats.org/drawingml/2006/main">
            <a:srgbClr val="15232D"/>
          </a:solidFill>
          <a:ln xmlns:a="http://schemas.openxmlformats.org/drawingml/2006/main" w="9525">
            <a:solidFill>
              <a:srgbClr val="15232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DF52F7-46AF-4097-A020-6069A97D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632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import FreeCAD as App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import Part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doc = App.newDocument("Lesson08")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def make_hollow_box(size, hole_radius):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    outer = Part.makeBox(size, size, size)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    center = App.Vector(size/2, size/2, 0)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    hole = Part.makeCylinder(hole_radius, size, center)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    result = doc.addObject("Part::Feature", "HollowBox")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    result.Shape = outer.cut(hole)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    return result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make_hollow_box(40, 5)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doc.recompute()</a:t>
            </a:r>
          </a:p>
        </p:txBody>
      </p:sp>
    </p:spTree>
    <p:extLst>
      <p:ext uri="{BB962C8B-B14F-4D97-AF65-F5344CB8AC3E}">
        <p14:creationId xmlns:p14="http://schemas.microsoft.com/office/powerpoint/2010/main" val="2347202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854DA6-6098-40E7-82C9-89D62416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运行时按这六步检查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CABA28-DAEF-4A9C-9B9B-A32C9C46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第08课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BB148F-1827-4715-A533-36F92228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2D4C81-DC55-4696-BD95-60A57D02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906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25A594-B3AD-43B4-BFF2-81B4B6E9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1906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新建或确认当前FreeCAD文档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1162050" y="18573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8C000E-4725-4DEA-8E15-9B3175FB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118560-FF0F-4269-9A87-B8177D2F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716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打开菜单：视图 → 面板 → Python控制台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1162050" y="26384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DE52D6-6E4E-4CB0-BB53-1F67140C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88D161-F773-41EF-9D3B-83570F8F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527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先运行原始代码，确认基准结果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1162050" y="34194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8F766F-F9B9-4B44-8A0E-49E961A7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337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F173AD-8319-498F-914B-2998295D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337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一次只修改一个参数，再重新运行</a:t>
            </a:r>
          </a:p>
        </p:txBody>
      </p:sp>
      <p:cxnSp>
        <p:nvCxnSpPr>
          <p:cNvPr id="53" name=""/>
          <p:cNvCxnSpPr/>
          <p:nvPr/>
        </p:nvCxnSpPr>
        <p:spPr>
          <a:xfrm xmlns:a="http://schemas.openxmlformats.org/drawingml/2006/main">
            <a:off x="1162050" y="42005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2E8D4A-94A8-43B3-A23B-B3FB0003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148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7D2E14-BD63-47AC-919B-3634E48F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148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用前视、俯视和轴测图观察变化</a:t>
            </a:r>
          </a:p>
        </p:txBody>
      </p:sp>
      <p:cxnSp>
        <p:nvCxnSpPr>
          <p:cNvPr id="56" name=""/>
          <p:cNvCxnSpPr/>
          <p:nvPr/>
        </p:nvCxnSpPr>
        <p:spPr>
          <a:xfrm xmlns:a="http://schemas.openxmlformats.org/drawingml/2006/main">
            <a:off x="1162050" y="49815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337A39-8D30-470D-8B3F-E81FD0ED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958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6E2575-15D3-461E-97B5-BE9796F8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958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保存FCStd文件、截图和实验记录</a:t>
            </a:r>
          </a:p>
        </p:txBody>
      </p:sp>
    </p:spTree>
    <p:extLst>
      <p:ext uri="{BB962C8B-B14F-4D97-AF65-F5344CB8AC3E}">
        <p14:creationId xmlns:p14="http://schemas.microsoft.com/office/powerpoint/2010/main" val="14926906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150CD9-013A-4E96-83D5-5F91B99B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预测—观察—解释：不要只看结果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DEF5C6-EE7D-4CF8-9D69-02B27BEA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第08课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33C0B6-0699-4819-9537-50DBCC62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3FD652-8F81-45D0-AA38-CEE41B5D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760DB1-421B-4092-A3E4-9CEEFF7C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57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预测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56FCD3-C07A-4F3B-9895-5F5EFC8C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146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运行前写下你认为会发生什么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146BC0-34BB-42D4-B8C9-00A2722B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2400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7A36F9-58FC-44B7-BB61-11C642B31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57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观察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AC21D2-C56B-468F-8E87-FE46B1BC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146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记录对象数量、位置、形状和颜色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4B428F-43AB-4D6C-A84B-94991F2F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2400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D8F5ED-10D3-4CE3-870E-1500340B6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57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解释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1CC6C9-3903-4DE9-95E5-691DB2DA4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146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用本课公式或代码说明原因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483A98-7C87-4DAB-ACC9-1B6703A3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如果结果与预测不同，差异就是最有价值的学习线索。</a:t>
            </a:r>
          </a:p>
        </p:txBody>
      </p:sp>
    </p:spTree>
    <p:extLst>
      <p:ext uri="{BB962C8B-B14F-4D97-AF65-F5344CB8AC3E}">
        <p14:creationId xmlns:p14="http://schemas.microsoft.com/office/powerpoint/2010/main" val="9836943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021BB9-DA0B-45AA-BCB8-209D4F97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出错并不可怕，先按顺序排查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7A18BC-A30A-4A6E-B1A5-C42B8C96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第08课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E0807B-E847-4E32-82B6-EC3AE122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CD8896-435B-4060-A5AD-8234891A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31ED11-3DDA-4E3B-91D5-5EBB2000B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763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定义函数后没有调用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1162050" y="21431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C38776-24E5-4CCA-BAF7-1AD63A7A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574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07DB67-C333-490C-95B4-DED509AC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574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return缩进位置错误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1162050" y="29241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3C1B4E-1943-4844-8B11-E1B49F51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106C5A-39C3-4934-A3ED-AEE01FFA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384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参数顺序与调用不一致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8C7D35-C674-485A-B75D-B66E6736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通用排查顺序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307929-C4EF-4FF4-9D72-6C1D17FA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看报错最后一行 → 检查拼写与缩进 → 检查参数范围 → 检查文档和对象 → 重新运行</a:t>
            </a:r>
          </a:p>
        </p:txBody>
      </p:sp>
    </p:spTree>
    <p:extLst>
      <p:ext uri="{BB962C8B-B14F-4D97-AF65-F5344CB8AC3E}">
        <p14:creationId xmlns:p14="http://schemas.microsoft.com/office/powerpoint/2010/main" val="201638814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AE0278-5C0B-458C-84FB-61577987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分层挑战：每个人都能向前一步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794BD6-30EE-4B7D-871C-2B969E0B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第08课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9E3525-A182-49B9-8F53-8619C61C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B60A5F-1E96-4A68-9B3B-6B17F4E6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34290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6A4DD5-4FD7-4F6D-89CB-89217BB9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基础任务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948E31-494D-46F7-93B9-7CE24478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调用函数创建一个带孔方块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F41BEA-BA4C-431D-A78B-BA795D2C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完成即可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63142F-0A15-46F1-81A0-51DAD65F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76375"/>
            <a:ext cx="34290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37F377-FE30-43E9-BB31-61B86D23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62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进阶任务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F36D58-5A76-4A0E-9FEA-2BC96C2F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241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用不同参数创建3个版本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83CCE3-0966-451C-9B51-F8677857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95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说明修改理由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290DE0-7760-4504-998E-B10B413F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76375"/>
            <a:ext cx="34290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3369BA-1F15-4C47-AD28-336CEA11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创意任务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B728E9-B3A5-4489-993A-9A9102B8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241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给函数增加高度参数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C89A28-0E51-4CDA-A790-17B39D52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95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形成自己的设计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3FC345-0ED8-48CB-B179-1C3C12A2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8162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先完成基础任务，再选择更高层级；不要跳过文件保存。</a:t>
            </a:r>
          </a:p>
        </p:txBody>
      </p:sp>
    </p:spTree>
    <p:extLst>
      <p:ext uri="{BB962C8B-B14F-4D97-AF65-F5344CB8AC3E}">
        <p14:creationId xmlns:p14="http://schemas.microsoft.com/office/powerpoint/2010/main" val="102708505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EDFAA9-AA31-4A36-A58E-3D21D890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作品评价看四件事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7BE956-0B67-4CD6-ACBE-836070BD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第08课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CAC653-A92E-4699-AE31-57C3C599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23C69C-0E6A-4F70-A555-F9DD54C0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0646EF-CFF5-4EF1-971A-A3CA3B9A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可运行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DEA6AD-17F6-4CC1-A666-B41DA413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代码或操作能稳定得到结果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042AB6-49EB-48D0-9387-71D586BC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42875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C7DCFF-9339-4330-BC34-69D5809E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38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可解释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960285-7D44-45C9-B84A-B13CDE5C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7170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能说出关键参数与变化原因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A4B182-4E4C-4F3E-88A0-10EE0746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2900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126845-D948-488B-A5F6-13F702C4C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可修改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B2C683-E887-4DB3-BEE2-FBE544EC5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能按任务要求完成一次有效迭代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BB5D04-BC16-4032-A14D-8755C7D05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42900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C2520C-3E9A-4420-91A1-E2D4F043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385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可归档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03334F-D8E7-47EB-ADA7-658CDBFA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源文件、截图和记录命名规范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BD47F3-D0D6-4ADF-B689-9D6DC07C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197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自评后请同桌复核一次，再提交教师检查。</a:t>
            </a:r>
          </a:p>
        </p:txBody>
      </p:sp>
    </p:spTree>
    <p:extLst>
      <p:ext uri="{BB962C8B-B14F-4D97-AF65-F5344CB8AC3E}">
        <p14:creationId xmlns:p14="http://schemas.microsoft.com/office/powerpoint/2010/main" val="27960157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0C0043-A740-4802-AD8D-5248723C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下课前，完成四项自检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18B080-C6D0-4109-9839-5CA95FEA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0A16CF-89F3-40A7-AD1D-E9AA023A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716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我能用一句话解释本课原理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7637E3-9B9A-4DD4-91A2-F45375B8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717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A7A98E-DFDB-4ADE-8509-5A2C63CE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717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我能把公式读成中文并代入数字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4A9FC1-933C-4FD0-8D3A-AFA4E2701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5F15C5-10F6-40DD-9F25-675FDBD7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718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我能指出代码中的关键参数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5F7B43-E4AE-4FAB-838B-FB281EB7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719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FEA9F6-CD9F-492A-97D2-59B1DE07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719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我已完成作品、截图和实验记录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495300" y="52387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8D0198-F6D7-4DF3-93B4-F144CEAB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保存文件：第08课_班级_匿名编号.FCStd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7D4352-009A-4C28-AC80-13FCFA48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443075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2026-07-12T00:12:10.3340000Z</dcterms:created>
  <dcterms:modified xsi:type="dcterms:W3CDTF">2026-07-12T00:12:10.3340000Z</dcterms:modified>
</coreProperties>
</file>
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3a2905c4641da" /><Relationship Type="http://schemas.openxmlformats.org/officeDocument/2006/relationships/extended-properties" Target="/docProps/app.xml" Id="Ra7754e5c92d945b6" /><Relationship Type="http://schemas.openxmlformats.org/officeDocument/2006/relationships/officeDocument" Target="/ppt/presentation.xml" Id="Rbbfb0bc4554b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803dd25ae640b0"/>
  </p:sldMasterIdLst>
  <p:notesMasterIdLst>
    <p:notesMasterId xmlns:r="http://schemas.openxmlformats.org/officeDocument/2006/relationships" r:id="R4a484218d7ec41ac"/>
  </p:notesMasterIdLst>
  <p:sldIdLst>
    <p:sldId xmlns:r="http://schemas.openxmlformats.org/officeDocument/2006/relationships" id="256" r:id="Rde7f750293434244"/>
    <p:sldId xmlns:r="http://schemas.openxmlformats.org/officeDocument/2006/relationships" id="257" r:id="R561c784856734c88"/>
    <p:sldId xmlns:r="http://schemas.openxmlformats.org/officeDocument/2006/relationships" id="258" r:id="R0e8edad162f6488f"/>
    <p:sldId xmlns:r="http://schemas.openxmlformats.org/officeDocument/2006/relationships" id="259" r:id="Rcd702ed7f0714a3f"/>
    <p:sldId xmlns:r="http://schemas.openxmlformats.org/officeDocument/2006/relationships" id="260" r:id="R0d7c0a8387be40f3"/>
    <p:sldId xmlns:r="http://schemas.openxmlformats.org/officeDocument/2006/relationships" id="261" r:id="R46aaa8cdc5404c59"/>
    <p:sldId xmlns:r="http://schemas.openxmlformats.org/officeDocument/2006/relationships" id="262" r:id="R1e43eb3d65d74249"/>
    <p:sldId xmlns:r="http://schemas.openxmlformats.org/officeDocument/2006/relationships" id="263" r:id="Rb327de59adca4023"/>
    <p:sldId xmlns:r="http://schemas.openxmlformats.org/officeDocument/2006/relationships" id="264" r:id="R7fe2ef829f9942ba"/>
    <p:sldId xmlns:r="http://schemas.openxmlformats.org/officeDocument/2006/relationships" id="265" r:id="R0f44cecdb1584c35"/>
    <p:sldId xmlns:r="http://schemas.openxmlformats.org/officeDocument/2006/relationships" id="266" r:id="R511dceaf8d714b89"/>
    <p:sldId xmlns:r="http://schemas.openxmlformats.org/officeDocument/2006/relationships" id="267" r:id="R0e5ba71c7fe84a4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824d7a11004f82" /><Relationship Type="http://schemas.openxmlformats.org/officeDocument/2006/relationships/slideMaster" Target="/ppt/slideMasters/slideMaster1.xml" Id="R93803dd25ae640b0" /><Relationship Type="http://schemas.openxmlformats.org/officeDocument/2006/relationships/notesMaster" Target="/ppt/notesMasters/notesMaster1.xml" Id="R4a484218d7ec41ac" /><Relationship Type="http://schemas.openxmlformats.org/officeDocument/2006/relationships/presProps" Target="/ppt/presProps.xml" Id="R0758a516588c4447" /><Relationship Type="http://schemas.openxmlformats.org/officeDocument/2006/relationships/tableStyles" Target="/ppt/tableStyles.xml" Id="R57a19f357c3e4fdd" /><Relationship Type="http://schemas.openxmlformats.org/officeDocument/2006/relationships/slide" Target="/ppt/slides/slide1.xml" Id="Rde7f750293434244" /><Relationship Type="http://schemas.openxmlformats.org/officeDocument/2006/relationships/slide" Target="/ppt/slides/slide2.xml" Id="R561c784856734c88" /><Relationship Type="http://schemas.openxmlformats.org/officeDocument/2006/relationships/slide" Target="/ppt/slides/slide3.xml" Id="R0e8edad162f6488f" /><Relationship Type="http://schemas.openxmlformats.org/officeDocument/2006/relationships/slide" Target="/ppt/slides/slide4.xml" Id="Rcd702ed7f0714a3f" /><Relationship Type="http://schemas.openxmlformats.org/officeDocument/2006/relationships/slide" Target="/ppt/slides/slide5.xml" Id="R0d7c0a8387be40f3" /><Relationship Type="http://schemas.openxmlformats.org/officeDocument/2006/relationships/slide" Target="/ppt/slides/slide6.xml" Id="R46aaa8cdc5404c59" /><Relationship Type="http://schemas.openxmlformats.org/officeDocument/2006/relationships/slide" Target="/ppt/slides/slide7.xml" Id="R1e43eb3d65d74249" /><Relationship Type="http://schemas.openxmlformats.org/officeDocument/2006/relationships/slide" Target="/ppt/slides/slide8.xml" Id="Rb327de59adca4023" /><Relationship Type="http://schemas.openxmlformats.org/officeDocument/2006/relationships/slide" Target="/ppt/slides/slide9.xml" Id="R7fe2ef829f9942ba" /><Relationship Type="http://schemas.openxmlformats.org/officeDocument/2006/relationships/slide" Target="/ppt/slides/slide10.xml" Id="R0f44cecdb1584c35" /><Relationship Type="http://schemas.openxmlformats.org/officeDocument/2006/relationships/slide" Target="/ppt/slides/slide11.xml" Id="R511dceaf8d714b89" /><Relationship Type="http://schemas.openxmlformats.org/officeDocument/2006/relationships/slide" Target="/ppt/slides/slide12.xml" Id="R0e5ba71c7fe84a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a66aae2284d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2cae01bb74da3" /><Relationship Type="http://schemas.openxmlformats.org/officeDocument/2006/relationships/notesMaster" Target="/ppt/notesMasters/notesMaster1.xml" Id="R98635c393a9140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89189a9b5c4103" /><Relationship Type="http://schemas.openxmlformats.org/officeDocument/2006/relationships/notesMaster" Target="/ppt/notesMasters/notesMaster1.xml" Id="R63811778dc5144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a23a3ce90a427e" /><Relationship Type="http://schemas.openxmlformats.org/officeDocument/2006/relationships/notesMaster" Target="/ppt/notesMasters/notesMaster1.xml" Id="R5fdc4c73919c4c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9f84e4f57d455f" /><Relationship Type="http://schemas.openxmlformats.org/officeDocument/2006/relationships/notesMaster" Target="/ppt/notesMasters/notesMaster1.xml" Id="Rf028025d9e7a4e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7980f6f9fa4ab1" /><Relationship Type="http://schemas.openxmlformats.org/officeDocument/2006/relationships/notesMaster" Target="/ppt/notesMasters/notesMaster1.xml" Id="R4009c16a83b94e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0c2b949c92487e" /><Relationship Type="http://schemas.openxmlformats.org/officeDocument/2006/relationships/notesMaster" Target="/ppt/notesMasters/notesMaster1.xml" Id="Re143ad9f6f504d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9087fb57c34e4f" /><Relationship Type="http://schemas.openxmlformats.org/officeDocument/2006/relationships/notesMaster" Target="/ppt/notesMasters/notesMaster1.xml" Id="R578f9f106fc2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13741c3a848ba" /><Relationship Type="http://schemas.openxmlformats.org/officeDocument/2006/relationships/notesMaster" Target="/ppt/notesMasters/notesMaster1.xml" Id="Rf6a4a54815c747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fade29f46c46a0" /><Relationship Type="http://schemas.openxmlformats.org/officeDocument/2006/relationships/notesMaster" Target="/ppt/notesMasters/notesMaster1.xml" Id="R5ebbf4eb05644e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0d51f04c2e46fe" /><Relationship Type="http://schemas.openxmlformats.org/officeDocument/2006/relationships/notesMaster" Target="/ppt/notesMasters/notesMaster1.xml" Id="Rfd53a73037ec45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8a05132a64060" /><Relationship Type="http://schemas.openxmlformats.org/officeDocument/2006/relationships/notesMaster" Target="/ppt/notesMasters/notesMaster1.xml" Id="Reb8d815ab2f74b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b05a2c7027435f" /><Relationship Type="http://schemas.openxmlformats.org/officeDocument/2006/relationships/notesMaster" Target="/ppt/notesMasters/notesMaster1.xml" Id="R2c11ddc15723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2949b37ed45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5eb0ec6c3496d" /><Relationship Type="http://schemas.openxmlformats.org/officeDocument/2006/relationships/slideLayout" Target="/ppt/slideLayouts/slideLayout1.xml" Id="Ree72fe292bf44a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72fe292bf44a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3c737454a4a0b" /><Relationship Type="http://schemas.openxmlformats.org/officeDocument/2006/relationships/notesSlide" Target="/ppt/notesSlides/notesSlide1.xml" Id="Rdf430de1d06a4c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88328e0c64f11" /><Relationship Type="http://schemas.openxmlformats.org/officeDocument/2006/relationships/notesSlide" Target="/ppt/notesSlides/notesSlide2.xml" Id="R77249a7d4912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cc36f60884226" /><Relationship Type="http://schemas.openxmlformats.org/officeDocument/2006/relationships/notesSlide" Target="/ppt/notesSlides/notesSlide3.xml" Id="Re5bbb1bb4c1d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ae5195f4f4b1a" /><Relationship Type="http://schemas.openxmlformats.org/officeDocument/2006/relationships/notesSlide" Target="/ppt/notesSlides/notesSlide4.xml" Id="Rcb3933b4a9b74a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15aa39f954268" /><Relationship Type="http://schemas.openxmlformats.org/officeDocument/2006/relationships/notesSlide" Target="/ppt/notesSlides/notesSlide5.xml" Id="R9946175d075540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7fbd2189244ee" /><Relationship Type="http://schemas.openxmlformats.org/officeDocument/2006/relationships/notesSlide" Target="/ppt/notesSlides/notesSlide6.xml" Id="Rf6a6ae61768f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6e021342343df" /><Relationship Type="http://schemas.openxmlformats.org/officeDocument/2006/relationships/notesSlide" Target="/ppt/notesSlides/notesSlide7.xml" Id="R3ca8e5aba6a9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f8d2b2924382" /><Relationship Type="http://schemas.openxmlformats.org/officeDocument/2006/relationships/image" Target="/ppt/media/image.png" Id="R498912c7fcb94bd2" /><Relationship Type="http://schemas.openxmlformats.org/officeDocument/2006/relationships/notesSlide" Target="/ppt/notesSlides/notesSlide8.xml" Id="Rf141ecaf45c54d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2ae1f367b4b8f" /><Relationship Type="http://schemas.openxmlformats.org/officeDocument/2006/relationships/notesSlide" Target="/ppt/notesSlides/notesSlide9.xml" Id="R65e489c6d63b45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978b875049d4" /><Relationship Type="http://schemas.openxmlformats.org/officeDocument/2006/relationships/notesSlide" Target="/ppt/notesSlides/notesSlide10.xml" Id="R2731dd8b2e6440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67cf0ea914d4e" /><Relationship Type="http://schemas.openxmlformats.org/officeDocument/2006/relationships/notesSlide" Target="/ppt/notesSlides/notesSlide11.xml" Id="Rd12eadddf30a4d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3a1f00c954cf4" /><Relationship Type="http://schemas.openxmlformats.org/officeDocument/2006/relationships/notesSlide" Target="/ppt/notesSlides/notesSlide12.xml" Id="Ra26487df5a68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AF8D83-D7BA-49C5-8920-77CAF46B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盐城市教育学会2024年度“十四五”教育科研规划课题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F9483-430C-4271-9551-861330DD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STEAM理念下基于编程建模的高中3D打印校本课程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FB498-34D1-4CAF-A223-7E61177D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中期建设与实践汇报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552450" y="42672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C1529-B30F-4847-B247-E55E1386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课题编号  2024B-178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FB229-1790-4246-A118-C449FCAC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主持人  王华军、吴海燕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A59E3-D70E-4633-9410-E3501409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江苏省东台中学  ·  2026年7月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0324B-D4EA-4E6F-A534-8A582895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8098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E45DC-7888-418B-8931-547683D3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课题已从课程构想进入实践验证阶段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4DD31-43ED-4EB8-81D5-0D6CB49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A8317-C955-40C0-BBCC-9997280E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课程建设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D618C-7E0D-4078-B113-103F9ED1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课堂实施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31CA2-44BE-48ED-BBCB-91C343A1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证据研究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1047750" y="2419350"/>
            <a:ext cx="895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2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B33AA-DD3C-47D8-AC8E-337685A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7BD21-8192-4930-9402-211D246E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050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B0FB0-B286-473C-9450-CB6732B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85A17"/>
          </a:solidFill>
          <a:ln xmlns:a="http://schemas.openxmlformats.org/drawingml/2006/main" w="9525">
            <a:solidFill>
              <a:srgbClr val="B85A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1647D-D5B9-4A2E-BA3C-31CAE192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方案、大纲、框架、评价方案和七个模块教学设计基本成形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153EC-4099-4F6F-9940-7CCD471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课程进入高一年级校本选修体系，形成工作手册与开课记录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1F17D-6510-49D8-9A0A-B34F6E8D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下一阶段聚焦专项前后测、作品档案、研究课与论文成果</a:t>
            </a:r>
          </a:p>
        </p:txBody>
      </p:sp>
    </p:spTree>
    <p:extLst>
      <p:ext uri="{BB962C8B-B14F-4D97-AF65-F5344CB8AC3E}">
        <p14:creationId xmlns:p14="http://schemas.microsoft.com/office/powerpoint/2010/main" val="139040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E959E2-5A98-45F2-A4F3-DF542CE3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一门面向高一学生的32学时项目化课程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C6E7D-D097-41CF-A604-C78156D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DD3DD-478E-473D-BC33-A7C97D3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24765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C6446-7A5E-4E71-ABED-6EBD44EB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C4C13-17E1-40BC-8F96-E04556B3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学时 / 16周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6F63F-B775-4548-B209-3EB8244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76375"/>
            <a:ext cx="24765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2E4D4-9B62-4F93-AFEF-25D16AFB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4782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987EF-3843-4989-B29A-6550879D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717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计划选课人数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9F851-D12E-45C1-938F-A836196E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76375"/>
            <a:ext cx="24765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DA602-FA86-4207-B3DD-AAA7DA9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47825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2-11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9B6AA-D4D0-45F7-992F-089FB00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7172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课程代码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D964F-1171-4F31-AC20-DF96D89C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76375"/>
            <a:ext cx="26479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E76B-D3B2-44C7-B8AD-E2FBF64E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2228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60%+40%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7F51C-7B8C-46BB-B643-29D0464C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71725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过程性与终结性评价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E5DB8-C620-43D0-B7AA-92FFF5D2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工具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71140-B734-419F-A8EE-6E69FA57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76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 · Ultimaker Cura · Python编程建模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7735-0AAD-47B8-A242-BAE70F5B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实施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E8CE46-48B1-4E12-A084-1A0787DF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196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周六下午第1、2节 · 高一（18）班 · 王华军</a:t>
            </a:r>
          </a:p>
        </p:txBody>
      </p:sp>
    </p:spTree>
    <p:extLst>
      <p:ext uri="{BB962C8B-B14F-4D97-AF65-F5344CB8AC3E}">
        <p14:creationId xmlns:p14="http://schemas.microsoft.com/office/powerpoint/2010/main" val="1982263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C3D8F0-B1EB-43AF-8A83-375E189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七个模块构成从数字模型到实体作品的学习路径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80A48-04B9-4386-BB84-C69157D6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D92E1-9B6F-40DB-8F69-234BE9EF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7820B-DC64-4D1B-996A-36E8A48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B2193-4573-480E-8817-05FF052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走进三维世界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05F81-8DA5-44F7-A76A-C7B1F936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A52F4-159E-460D-BBEA-9610C82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19E5F-7D85-4B4A-BCDA-A09AADA4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二维是基础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46D63-EBBA-4523-91CC-89C6B04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E48A73-2CB1-48E9-A158-7708EAFA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DB5D2-86E7-40D7-9160-23C4DC00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从平面到立体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315B4-924F-4E9E-A03F-EF812B72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16AD9-C617-47F6-91DE-CE121BAC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6C958-1A10-48EB-842C-A104BF1B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让模型更精致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0A1CA-B1C9-4873-BF35-EB0DFC5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C7840-9760-4A68-AB83-1450B48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4881B-CD5E-48C3-88ED-E1FC88E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组合的力量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E8BD1-B253-4178-8803-72D0D91C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3554B-1851-4D70-91E4-B62CECBC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AB27A4-870E-42FC-8C5F-AB487C2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从虚拟到现实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88BC0-D123-4A4B-A875-57CBA5D6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09750"/>
            <a:ext cx="1390650" cy="24765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25C09-6C60-4A04-9673-5020083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0002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31798-7F60-47EA-BC8C-F41F7A91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647950"/>
            <a:ext cx="108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毕业项目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DC244-F64C-4AB2-BD42-815641B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草图约束 → 特征建模 → 模型优化 → 装配 → 切片打印 → 展示答辩</a:t>
            </a:r>
          </a:p>
        </p:txBody>
      </p:sp>
    </p:spTree>
    <p:extLst>
      <p:ext uri="{BB962C8B-B14F-4D97-AF65-F5344CB8AC3E}">
        <p14:creationId xmlns:p14="http://schemas.microsoft.com/office/powerpoint/2010/main" val="1231726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032E2-5FC2-42DD-89BB-BB0774A8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真实项目把数学、技术、工程与表达连接起来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EFC1E-5E8D-45C8-B791-9CAF574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D7F94-74CC-4DCD-A873-9DE5DD0A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689BB-198E-429C-969E-633D2E6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任务驱动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686E1-FC79-4A45-9FD1-2066085A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书签、笔筒、手机支架、储物盒和毕业项目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1428750" y="220980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6B1D6-2A34-4540-B2D9-EDAD899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EBDC8-E002-43D6-8B5E-7E3DE173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参数思维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F85A3-B8FA-4A4E-8963-55F692EA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用尺寸、约束和特征树表达设计意图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428750" y="33337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65254-3140-4F72-8763-1149A97F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35720-AC16-4414-A9DA-02E50A5C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工程验证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B6E22-9F9F-49F4-B7DF-77F1D9D3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检查壁厚、公差、支撑、层高和打印质量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428750" y="445770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49870-76BA-4385-970B-4DB7005E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783CE-794E-472B-A991-B2474F39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00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迭代评价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02B4F-53B9-4DDA-8DFC-C55B4717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006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自评、互评、教师评价与展示答辩相结合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428750" y="55816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54134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B9114-026E-42D6-A4E4-15DA38F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阶段成果形成了课程文本、数字资源与实施证据链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2C27C-0D6D-40F9-AF54-E43CCA1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73BA4-C063-4232-A064-B5AB1DFB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3333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44B79-AF96-4E2F-ADEE-8DA0DB9B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课程文本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3A539-FDF6-4BDC-A3A0-92C5A19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课程方案、大纲、框架、评估方案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4F45-F8F0-4E98-8F46-6CE29540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28750"/>
            <a:ext cx="3333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3B10-9DE7-4A69-9782-CC89BB0A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教学资源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81F05-B0CE-4772-BEF5-8FDFEBD4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模块一至模块七教学设计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A5F4F-4474-4057-9EBC-0EEBFBAD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28750"/>
            <a:ext cx="3333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079C0-2C7D-423B-8FA3-4F9E5DFB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数字资源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5229F-FD3C-42D9-A619-2E768899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代码造物网站与20课时资源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5D3C3-3484-48C2-B71F-2473EEA9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3333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5671E3-36F4-446C-9B44-9A4CA5BA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过程证据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7EF70-97B0-4B81-B892-E6ADE7B6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课程表、工作手册、校本测评报告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A2CBB-0D16-4042-AC8C-391FDB0C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33337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C71E7-808F-4E70-AA0A-5D6342F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195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教师发展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799F78-2C84-4AF9-8408-22DBD85C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人工智能培训与FreeCAD教学研究</a:t>
            </a:r>
          </a:p>
        </p:txBody>
      </p:sp>
    </p:spTree>
    <p:extLst>
      <p:ext uri="{BB962C8B-B14F-4D97-AF65-F5344CB8AC3E}">
        <p14:creationId xmlns:p14="http://schemas.microsoft.com/office/powerpoint/2010/main" val="7909323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50BFA-286C-404A-B6AF-C02229E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现有校本课程反馈较好，但还需补齐本课程专项数据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09E17-AD0E-44BE-89F5-AC45B903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BD2AD-6A11-4BEB-BC50-69D47A61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31432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05CA6-FD1E-4563-BA24-7402D5E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787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BD9BB-48F7-4C63-BA21-23747C8E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有效样本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EF816-5573-4818-A73F-BCC2CD6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66850"/>
            <a:ext cx="31432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F2BA5-202A-466D-A03F-6D5BF37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383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90.47%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1A0E3-E6C3-4E6A-A79E-96A9D041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622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满意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00BB9-7F25-4445-9F6B-5CE553A8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66850"/>
            <a:ext cx="314325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E2E7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F30C6-0CC4-489D-9F79-FC49F1E6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383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0.64%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421CF-C25A-4A9F-A3F8-5733F68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不满意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B7075-0C74-4D31-A52E-E8BE35F3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105727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E8C7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20CE4-E293-437D-A95B-66FB48C8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研究判断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549F0-21E0-46C2-823A-410FC4E8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学校总体测评只能说明校本课程整体认可度。结题前必须形成FreeCAD课程专项前后测、作品量表、访谈与课堂观察数据。</a:t>
            </a:r>
          </a:p>
        </p:txBody>
      </p:sp>
    </p:spTree>
    <p:extLst>
      <p:ext uri="{BB962C8B-B14F-4D97-AF65-F5344CB8AC3E}">
        <p14:creationId xmlns:p14="http://schemas.microsoft.com/office/powerpoint/2010/main" val="457213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F0F76-C3C1-4B1B-BDDE-26166298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数据平台把前后测、作品评价和分析报告连成一体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25290-5F05-4B4F-94D1-5107182E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912c7fcb94bd2"/>
          <a:stretch xmlns:a="http://schemas.openxmlformats.org/drawingml/2006/main"/>
        </p:blipFill>
        <p:spPr>
          <a:xfrm xmlns:a="http://schemas.openxmlformats.org/drawingml/2006/main">
            <a:off x="1630997" y="1162050"/>
            <a:ext cx="5672457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AEF10-7C00-41D5-AD55-F6803274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可用功能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68D80-4700-497B-8ADC-984D25D8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571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前测与后测录入</a:t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六维能力图表</a:t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匿名学生档案</a:t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自动分析报告</a:t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CSV导入与导出</a:t>
            </a:r>
          </a:p>
          <a:p xmlns:a="http://schemas.openxmlformats.org/drawingml/2006/main">
            <a:pPr algn="l">
              <a:defRPr sz="1500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• 演示数据全流程测试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B3CB8-68B9-4F6D-9EB1-685D5FB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5717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9525">
            <a:solidFill>
              <a:srgbClr val="E8C7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BD419-0F6E-472E-9D36-CADCFBE1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48250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正式结论须替换为真实测量数据</a:t>
            </a:r>
          </a:p>
        </p:txBody>
      </p:sp>
    </p:spTree>
    <p:extLst>
      <p:ext uri="{BB962C8B-B14F-4D97-AF65-F5344CB8AC3E}">
        <p14:creationId xmlns:p14="http://schemas.microsoft.com/office/powerpoint/2010/main" val="1525170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7018C-EE50-42A1-BD75-781EFA8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发表文章单列：已有研究稿，正式发表证明仍待补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D33B5-6C41-47B0-A7EC-0EEDDDD9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8BE34-9290-46F7-99C5-B4F9B4DF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858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FDAEE-F964-4AC8-AD90-99AE8828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已撰写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7841B-EB03-4924-8339-85D5B98C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FreeCAD软件特性和教学应用研究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6524F-5111-470F-A65C-5570D723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现有PDF正文，尚未发现刊物封面、目录、版面、录用通知或获奖证明。规范表述为“已撰写，暂未发表”。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49C3A-04FB-44FA-8000-E1E118B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拟发表方向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ACA12-61D8-4677-9CEB-6998BE6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01  跨学科项目设计策略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02  过程性评价在编程建模教学中的实践</a:t>
            </a:r>
          </a:p>
        </p:txBody>
      </p:sp>
    </p:spTree>
    <p:extLst>
      <p:ext uri="{BB962C8B-B14F-4D97-AF65-F5344CB8AC3E}">
        <p14:creationId xmlns:p14="http://schemas.microsoft.com/office/powerpoint/2010/main" val="1682219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6F444-2E3E-4514-A091-51EC6A0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中期之后，五类证据决定课题能否顺利结题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5DCB6-DD6C-47FC-A7CA-D77D7107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2C159-2EA8-4A0A-8DF5-6820AE7B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2BEF2-2E89-4024-9F7F-243D3D9E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81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专项数据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3559B-10AA-4698-BA29-D2CCFC48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前后测、问卷、访谈、作品评分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381125" y="1971675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4794D-4557-47F1-9B95-5E45B4B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86AD2-3B96-45D8-BC9E-2BE553CF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研究课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AD5BE-2CDE-45D2-874C-1A20BACA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2节完整教案、照片、听评课与反思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381125" y="2847975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8B1E2-8FFF-47BF-85C3-AF9AD9B3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337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11465-B978-4BEE-A414-A471CA89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337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学生作品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02CEF-C78B-4212-9241-F5A4696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FCStd、STL、切片、实物、说明书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381125" y="3724275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5152E-BE74-4353-9232-0C180C4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513AD-7DAE-4033-B4F0-6F1A1F2E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论文成果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C83D0-069D-44E2-9B6D-583F117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投稿稿、修改记录、投稿或录用证明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381125" y="4600575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52501-2D40-4BFF-AD89-D1EA5BE9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8632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56A9C-6824-4B30-96BB-75410E9A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86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规范归档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634C46-E320-40AB-B9CC-E5AB2904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863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申报书、签章、版本号、附件索引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381125" y="5476875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87599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B49B5-0214-40D7-9E83-2ACE974D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按三个阶段倒排到2027年6月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FDD68-18E4-4897-B061-22B87DE4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1047750" y="304800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2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1249F-B84B-4F96-A548-98E77317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68ACB-952D-4772-B241-72592C8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2026.07—12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2B18F-77F3-4EFE-9497-A92FA298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实践验证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68B69-AF26-4EEB-98AE-DBC3B3E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完成两节研究课、前后测、作品归档与数据分析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1E0C6-5433-4278-BB48-4CC80C1C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241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B0084-8FD4-4A6A-90E8-5ECD418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2027.01—04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7A5BD-7E89-40C6-8DB5-33C9D22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24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成果提炼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6E896-E5EF-44D4-9D0A-AF33B74D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4812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完成两篇论文、案例集、工具包和网站定稿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051BD-16D2-4220-94E7-C84EAC1C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241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FDAAF-AED0-4AC3-A75A-CE7BAA1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2027.05—06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1417E-AF4D-47FE-A298-9A45E78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结题固化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5C747-EC73-4617-AC33-F421550B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形成结题报告、成果总目录、PPT与正式装订卷</a:t>
            </a:r>
          </a:p>
        </p:txBody>
      </p:sp>
    </p:spTree>
    <p:extLst>
      <p:ext uri="{BB962C8B-B14F-4D97-AF65-F5344CB8AC3E}">
        <p14:creationId xmlns:p14="http://schemas.microsoft.com/office/powerpoint/2010/main" val="18566447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F3FFB-0336-4E4C-AFB3-679222F4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下一步不是继续堆材料，</a:t>
            </a:r>
          </a:p>
          <a:p xmlns:a="http://schemas.openxmlformats.org/drawingml/2006/main">
            <a:pPr algn="l">
              <a:defRPr sz="36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而是让每个结论都有证据。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C9293-DC0B-4FFF-96A6-88DF8095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课程实施 · 专项数据 · 学生作品 · 论文成果 · 规范归档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552450" y="4619625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2D9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74405-1383-4559-BF2B-1E2375C3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课题2024B-178  |  江苏省东台中学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7EF3B-3C7E-4C1D-90A3-006CF98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781975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2026-07-11T15:31:16.8240000Z</dcterms:created>
  <dcterms:modified xsi:type="dcterms:W3CDTF">2026-07-11T15:31:16.8240000Z</dcterms:modified>
</coreProperties>
</file>
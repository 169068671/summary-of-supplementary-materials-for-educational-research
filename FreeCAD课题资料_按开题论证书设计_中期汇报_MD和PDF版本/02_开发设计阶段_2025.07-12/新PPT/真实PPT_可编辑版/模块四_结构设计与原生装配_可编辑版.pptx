
<file path=[Content_Types].xml><?xml version="1.0" encoding="utf-8"?>
<Types xmlns="http://schemas.openxmlformats.org/package/2006/content-types">
  <Default Extension="xml" ContentType="application/vnd.openxmlformats-package.core-properties+xml"/>
  <Default Extension="gif" ContentType="image/gif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f4cd36621a4399" /><Relationship Type="http://schemas.openxmlformats.org/officeDocument/2006/relationships/extended-properties" Target="/docProps/app.xml" Id="R5a699cc2fd234135" /><Relationship Type="http://schemas.openxmlformats.org/officeDocument/2006/relationships/officeDocument" Target="/ppt/presentation.xml" Id="R9a1fd41199af4f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b7698879de4fdb"/>
  </p:sldMasterIdLst>
  <p:notesMasterIdLst>
    <p:notesMasterId xmlns:r="http://schemas.openxmlformats.org/officeDocument/2006/relationships" r:id="R51313154d30748fb"/>
  </p:notesMasterIdLst>
  <p:sldIdLst>
    <p:sldId xmlns:r="http://schemas.openxmlformats.org/officeDocument/2006/relationships" id="256" r:id="R9917f26ac9da47a1"/>
    <p:sldId xmlns:r="http://schemas.openxmlformats.org/officeDocument/2006/relationships" id="257" r:id="R947568955e3448fa"/>
    <p:sldId xmlns:r="http://schemas.openxmlformats.org/officeDocument/2006/relationships" id="258" r:id="Rc4cf496a7e8c481b"/>
    <p:sldId xmlns:r="http://schemas.openxmlformats.org/officeDocument/2006/relationships" id="259" r:id="R18e6190b216a4734"/>
    <p:sldId xmlns:r="http://schemas.openxmlformats.org/officeDocument/2006/relationships" id="260" r:id="Rb4c03f6abbc745b5"/>
    <p:sldId xmlns:r="http://schemas.openxmlformats.org/officeDocument/2006/relationships" id="261" r:id="R71576223432e4046"/>
    <p:sldId xmlns:r="http://schemas.openxmlformats.org/officeDocument/2006/relationships" id="262" r:id="R34f4c5ce90b446e6"/>
    <p:sldId xmlns:r="http://schemas.openxmlformats.org/officeDocument/2006/relationships" id="263" r:id="R5ee2ea73305c4162"/>
    <p:sldId xmlns:r="http://schemas.openxmlformats.org/officeDocument/2006/relationships" id="264" r:id="R6fa49f7d23da49ff"/>
    <p:sldId xmlns:r="http://schemas.openxmlformats.org/officeDocument/2006/relationships" id="265" r:id="Rd49f6a4855bb4d22"/>
    <p:sldId xmlns:r="http://schemas.openxmlformats.org/officeDocument/2006/relationships" id="266" r:id="R1381dceb43bc4d9f"/>
    <p:sldId xmlns:r="http://schemas.openxmlformats.org/officeDocument/2006/relationships" id="267" r:id="Re85c5a1a1c3e448c"/>
    <p:sldId xmlns:r="http://schemas.openxmlformats.org/officeDocument/2006/relationships" id="268" r:id="R91759752b9d743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cd90803c3244ad" /><Relationship Type="http://schemas.openxmlformats.org/officeDocument/2006/relationships/slideMaster" Target="/ppt/slideMasters/slideMaster1.xml" Id="Rdcb7698879de4fdb" /><Relationship Type="http://schemas.openxmlformats.org/officeDocument/2006/relationships/notesMaster" Target="/ppt/notesMasters/notesMaster1.xml" Id="R51313154d30748fb" /><Relationship Type="http://schemas.openxmlformats.org/officeDocument/2006/relationships/presProps" Target="/ppt/presProps.xml" Id="R6e54c517fbcf4ba7" /><Relationship Type="http://schemas.openxmlformats.org/officeDocument/2006/relationships/tableStyles" Target="/ppt/tableStyles.xml" Id="Rb89092d276544e70" /><Relationship Type="http://schemas.openxmlformats.org/officeDocument/2006/relationships/slide" Target="/ppt/slides/slide1.xml" Id="R9917f26ac9da47a1" /><Relationship Type="http://schemas.openxmlformats.org/officeDocument/2006/relationships/slide" Target="/ppt/slides/slide2.xml" Id="R947568955e3448fa" /><Relationship Type="http://schemas.openxmlformats.org/officeDocument/2006/relationships/slide" Target="/ppt/slides/slide3.xml" Id="Rc4cf496a7e8c481b" /><Relationship Type="http://schemas.openxmlformats.org/officeDocument/2006/relationships/slide" Target="/ppt/slides/slide4.xml" Id="R18e6190b216a4734" /><Relationship Type="http://schemas.openxmlformats.org/officeDocument/2006/relationships/slide" Target="/ppt/slides/slide5.xml" Id="Rb4c03f6abbc745b5" /><Relationship Type="http://schemas.openxmlformats.org/officeDocument/2006/relationships/slide" Target="/ppt/slides/slide6.xml" Id="R71576223432e4046" /><Relationship Type="http://schemas.openxmlformats.org/officeDocument/2006/relationships/slide" Target="/ppt/slides/slide7.xml" Id="R34f4c5ce90b446e6" /><Relationship Type="http://schemas.openxmlformats.org/officeDocument/2006/relationships/slide" Target="/ppt/slides/slide8.xml" Id="R5ee2ea73305c4162" /><Relationship Type="http://schemas.openxmlformats.org/officeDocument/2006/relationships/slide" Target="/ppt/slides/slide9.xml" Id="R6fa49f7d23da49ff" /><Relationship Type="http://schemas.openxmlformats.org/officeDocument/2006/relationships/slide" Target="/ppt/slides/slide10.xml" Id="Rd49f6a4855bb4d22" /><Relationship Type="http://schemas.openxmlformats.org/officeDocument/2006/relationships/slide" Target="/ppt/slides/slide11.xml" Id="R1381dceb43bc4d9f" /><Relationship Type="http://schemas.openxmlformats.org/officeDocument/2006/relationships/slide" Target="/ppt/slides/slide12.xml" Id="Re85c5a1a1c3e448c" /><Relationship Type="http://schemas.openxmlformats.org/officeDocument/2006/relationships/slide" Target="/ppt/slides/slide13.xml" Id="R91759752b9d743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bb79b3ba4f4f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05dc70411046fe" /><Relationship Type="http://schemas.openxmlformats.org/officeDocument/2006/relationships/notesMaster" Target="/ppt/notesMasters/notesMaster1.xml" Id="Rc8c46d478f2a49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30a5b4fdee4859" /><Relationship Type="http://schemas.openxmlformats.org/officeDocument/2006/relationships/notesMaster" Target="/ppt/notesMasters/notesMaster1.xml" Id="Rf587a01dd3a543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4e73a60d214a0c" /><Relationship Type="http://schemas.openxmlformats.org/officeDocument/2006/relationships/notesMaster" Target="/ppt/notesMasters/notesMaster1.xml" Id="R81656677461a41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c1783322f64388" /><Relationship Type="http://schemas.openxmlformats.org/officeDocument/2006/relationships/notesMaster" Target="/ppt/notesMasters/notesMaster1.xml" Id="R05842d871b4a4e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79cf1305884e01" /><Relationship Type="http://schemas.openxmlformats.org/officeDocument/2006/relationships/notesMaster" Target="/ppt/notesMasters/notesMaster1.xml" Id="R1c3ddef527f54c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ef375e989d44f0" /><Relationship Type="http://schemas.openxmlformats.org/officeDocument/2006/relationships/notesMaster" Target="/ppt/notesMasters/notesMaster1.xml" Id="Rd580ba5ddb2440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babf242b494aa8" /><Relationship Type="http://schemas.openxmlformats.org/officeDocument/2006/relationships/notesMaster" Target="/ppt/notesMasters/notesMaster1.xml" Id="R770f94db9a4d41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a352a5a10f45fc" /><Relationship Type="http://schemas.openxmlformats.org/officeDocument/2006/relationships/notesMaster" Target="/ppt/notesMasters/notesMaster1.xml" Id="R32d1664d559640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fc0fb058b64989" /><Relationship Type="http://schemas.openxmlformats.org/officeDocument/2006/relationships/notesMaster" Target="/ppt/notesMasters/notesMaster1.xml" Id="R8d4b7be180b444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c5b2eaee874684" /><Relationship Type="http://schemas.openxmlformats.org/officeDocument/2006/relationships/notesMaster" Target="/ppt/notesMasters/notesMaster1.xml" Id="Rf89912eb914240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f32cea6714478e" /><Relationship Type="http://schemas.openxmlformats.org/officeDocument/2006/relationships/notesMaster" Target="/ppt/notesMasters/notesMaster1.xml" Id="R717a3cfb679949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412a9e9af044ca" /><Relationship Type="http://schemas.openxmlformats.org/officeDocument/2006/relationships/notesMaster" Target="/ppt/notesMasters/notesMaster1.xml" Id="R8d3c0d90ee4b40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3f75e0abc548c6" /><Relationship Type="http://schemas.openxmlformats.org/officeDocument/2006/relationships/notesMaster" Target="/ppt/notesMasters/notesMaster1.xml" Id="Rf478d76d11ac40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7b8fee9fd24d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d65debec794f4c" /><Relationship Type="http://schemas.openxmlformats.org/officeDocument/2006/relationships/slideLayout" Target="/ppt/slideLayouts/slideLayout1.xml" Id="R37e0794a539943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e0794a539943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afc737a4d4c1e" /><Relationship Type="http://schemas.openxmlformats.org/officeDocument/2006/relationships/notesSlide" Target="/ppt/notesSlides/notesSlide1.xml" Id="Rb37d5893452549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809208c404274" /><Relationship Type="http://schemas.openxmlformats.org/officeDocument/2006/relationships/notesSlide" Target="/ppt/notesSlides/notesSlide2.xml" Id="Rddbafe0229c94e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c8370eef54eb7" /><Relationship Type="http://schemas.openxmlformats.org/officeDocument/2006/relationships/notesSlide" Target="/ppt/notesSlides/notesSlide3.xml" Id="Re17747bfc80b47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a145bba4b4105" /><Relationship Type="http://schemas.openxmlformats.org/officeDocument/2006/relationships/notesSlide" Target="/ppt/notesSlides/notesSlide4.xml" Id="Rbe456405a41845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e92e70ebd45ab" /><Relationship Type="http://schemas.openxmlformats.org/officeDocument/2006/relationships/notesSlide" Target="/ppt/notesSlides/notesSlide5.xml" Id="Rd96b9c1ea0fe4f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9b3b5811d4241" /><Relationship Type="http://schemas.openxmlformats.org/officeDocument/2006/relationships/notesSlide" Target="/ppt/notesSlides/notesSlide6.xml" Id="R67a0a8a7d59d41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5ab632a72464b" /><Relationship Type="http://schemas.openxmlformats.org/officeDocument/2006/relationships/image" Target="/ppt/media/image.gif" Id="R90d20357d1c4478b" /><Relationship Type="http://schemas.openxmlformats.org/officeDocument/2006/relationships/notesSlide" Target="/ppt/notesSlides/notesSlide7.xml" Id="R116069b98a8940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01d50dc0840cc" /><Relationship Type="http://schemas.openxmlformats.org/officeDocument/2006/relationships/notesSlide" Target="/ppt/notesSlides/notesSlide8.xml" Id="Rab105f4249fe43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27df768014a95" /><Relationship Type="http://schemas.openxmlformats.org/officeDocument/2006/relationships/notesSlide" Target="/ppt/notesSlides/notesSlide9.xml" Id="R79701c22795947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02c3ae9cd48fd" /><Relationship Type="http://schemas.openxmlformats.org/officeDocument/2006/relationships/image" Target="/ppt/media/image2.gif" Id="R5632f66be8fe43b4" /><Relationship Type="http://schemas.openxmlformats.org/officeDocument/2006/relationships/notesSlide" Target="/ppt/notesSlides/notesSlide10.xml" Id="R13a46c07120443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542a505b74a3b" /><Relationship Type="http://schemas.openxmlformats.org/officeDocument/2006/relationships/image" Target="/ppt/media/image.png" Id="R4fe21322f9c54e02" /><Relationship Type="http://schemas.openxmlformats.org/officeDocument/2006/relationships/notesSlide" Target="/ppt/notesSlides/notesSlide11.xml" Id="Rbe2c9b86728f4b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9783ff0f24107" /><Relationship Type="http://schemas.openxmlformats.org/officeDocument/2006/relationships/notesSlide" Target="/ppt/notesSlides/notesSlide12.xml" Id="R137cd347d99740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773acc90d4f73" /><Relationship Type="http://schemas.openxmlformats.org/officeDocument/2006/relationships/notesSlide" Target="/ppt/notesSlides/notesSlide13.xml" Id="Rc05349d21eaa4b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667E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6EC7C-4BBE-4191-99E8-F4DF7FB9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icon">
            <a:extLst xmlns:a="http://schemas.openxmlformats.org/drawingml/2006/main">
              <a:ext uri="{FF2B5EF4-FFF2-40B4-BE49-F238E27FC236}">
                <a16:creationId xmlns:a16="http://schemas.microsoft.com/office/drawing/2014/main" id="{F77969A7-9CFE-4A0D-BCA8-34831309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⚙️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D12DD59B-08FB-4E6B-94C5-AF3A1CDB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模块四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E0452DB4-A708-403F-9D06-081122EC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结构设计、装配间隙与运动验证</a:t>
            </a:r>
          </a:p>
        </p:txBody>
      </p:sp>
      <p:sp>
        <p:nvSpPr>
          <p:cNvPr id="5" name="deck-meta">
            <a:extLst xmlns:a="http://schemas.openxmlformats.org/drawingml/2006/main">
              <a:ext uri="{FF2B5EF4-FFF2-40B4-BE49-F238E27FC236}">
                <a16:creationId xmlns:a16="http://schemas.microsoft.com/office/drawing/2014/main" id="{C00D8582-C794-4A2E-B609-3571A623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4课时 · 第10-13课 · 技术实践</a:t>
            </a:r>
          </a:p>
        </p:txBody>
      </p:sp>
      <p:sp>
        <p:nvSpPr>
          <p:cNvPr id="6" name="editable-label">
            <a:extLst xmlns:a="http://schemas.openxmlformats.org/drawingml/2006/main">
              <a:ext uri="{FF2B5EF4-FFF2-40B4-BE49-F238E27FC236}">
                <a16:creationId xmlns:a16="http://schemas.microsoft.com/office/drawing/2014/main" id="{080E7CBF-257A-4C07-865C-18D8EDC7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可编辑PowerPoint课件</a:t>
            </a:r>
          </a:p>
        </p:txBody>
      </p:sp>
    </p:spTree>
    <p:extLst>
      <p:ext uri="{BB962C8B-B14F-4D97-AF65-F5344CB8AC3E}">
        <p14:creationId xmlns:p14="http://schemas.microsoft.com/office/powerpoint/2010/main" val="9829969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5D7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accent">
            <a:extLst xmlns:a="http://schemas.openxmlformats.org/drawingml/2006/main">
              <a:ext uri="{FF2B5EF4-FFF2-40B4-BE49-F238E27FC236}">
                <a16:creationId xmlns:a16="http://schemas.microsoft.com/office/drawing/2014/main" id="{B2096F41-70EB-4FCF-818C-C10CD7B7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F4C9A7-A308-487A-A500-B6012FF6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课前预习！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063EDAC4-9567-4AB9-8FC6-3C519A51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⚠️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1AFC290-E4AF-466B-A04B-9687BD43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5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5F5"/>
                </a:solidFill>
                <a:latin typeface="Microsoft YaHei"/>
                <a:ea typeface="Microsoft YaHei"/>
                <a:cs typeface="Microsoft YaHei"/>
              </a:rPr>
              <a:t>模块四  ·  2</a:t>
            </a:r>
          </a:p>
        </p:txBody>
      </p:sp>
      <p:sp>
        <p:nvSpPr>
          <p:cNvPr id="5" name="bullet-list">
            <a:extLst xmlns:a="http://schemas.openxmlformats.org/drawingml/2006/main">
              <a:ext uri="{FF2B5EF4-FFF2-40B4-BE49-F238E27FC236}">
                <a16:creationId xmlns:a16="http://schemas.microsoft.com/office/drawing/2014/main" id="{E1E2595E-05E4-44C0-94B7-C415E6AD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71600"/>
            <a:ext cx="99060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  <p:txBody>
          <a:bodyPr xmlns:a="http://schemas.openxmlformats.org/drawingml/2006/main" lIns="209550" tIns="171450" rIns="190500" bIns="13335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复习for循环和def函数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了解『参数化』：变量控制尺寸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了解布尔运算：fuse合并/cut挖空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构思手机支架和带盖储物盒设计</a:t>
            </a:r>
          </a:p>
        </p:txBody>
      </p:sp>
    </p:spTree>
    <p:extLst>
      <p:ext uri="{BB962C8B-B14F-4D97-AF65-F5344CB8AC3E}">
        <p14:creationId xmlns:p14="http://schemas.microsoft.com/office/powerpoint/2010/main" val="7385125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42637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accent">
            <a:extLst xmlns:a="http://schemas.openxmlformats.org/drawingml/2006/main">
              <a:ext uri="{FF2B5EF4-FFF2-40B4-BE49-F238E27FC236}">
                <a16:creationId xmlns:a16="http://schemas.microsoft.com/office/drawing/2014/main" id="{416E2CF1-3ED1-432F-A0DF-13F3F25A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D0F029-D5B6-4D03-848D-A1249B38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参数化设计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9D63548D-8FEC-46D9-A620-29822015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📐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F0243BE-4ED0-440E-B56A-BA6E19A8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模块四  ·  3</a:t>
            </a:r>
          </a:p>
        </p:txBody>
      </p:sp>
      <p:sp>
        <p:nvSpPr>
          <p:cNvPr id="5" name="code-intro">
            <a:extLst xmlns:a="http://schemas.openxmlformats.org/drawingml/2006/main">
              <a:ext uri="{FF2B5EF4-FFF2-40B4-BE49-F238E27FC236}">
                <a16:creationId xmlns:a16="http://schemas.microsoft.com/office/drawing/2014/main" id="{F07402E0-6E22-4D3F-8FB9-3F50C119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所有尺寸用变量，改变量就改模型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40566032-6201-470D-B145-5FDDA5C6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667500" cy="485775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 w="9525">
            <a:solidFill>
              <a:srgbClr val="4A5568"/>
            </a:solidFill>
            <a:prstDash val="solid"/>
          </a:ln>
        </p:spPr>
      </p:sp>
      <p:sp>
        <p:nvSpPr>
          <p:cNvPr id="7" name="editable-code">
            <a:extLst xmlns:a="http://schemas.openxmlformats.org/drawingml/2006/main">
              <a:ext uri="{FF2B5EF4-FFF2-40B4-BE49-F238E27FC236}">
                <a16:creationId xmlns:a16="http://schemas.microsoft.com/office/drawing/2014/main" id="{559D09ED-D4BB-4D66-8FC7-D9AE33EE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628650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box_L = 60 # 盒体长度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wall_T = 2.5 # 盒体壁厚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groove_W = 3.2 # 盒盖环形槽宽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clearance = 0.35 # 单侧装配间隙</a:t>
            </a:r>
          </a:p>
        </p:txBody>
      </p:sp>
      <p:sp>
        <p:nvSpPr>
          <p:cNvPr id="8" name="explain-1">
            <a:extLst xmlns:a="http://schemas.openxmlformats.org/drawingml/2006/main">
              <a:ext uri="{FF2B5EF4-FFF2-40B4-BE49-F238E27FC236}">
                <a16:creationId xmlns:a16="http://schemas.microsoft.com/office/drawing/2014/main" id="{5B783FD8-E9C5-4600-BA83-8CEC2B4F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668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9" name="explain-text-1">
            <a:extLst xmlns:a="http://schemas.openxmlformats.org/drawingml/2006/main">
              <a:ext uri="{FF2B5EF4-FFF2-40B4-BE49-F238E27FC236}">
                <a16:creationId xmlns:a16="http://schemas.microsoft.com/office/drawing/2014/main" id="{E712B190-475F-472F-97C9-F9AEBFF1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240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把关键尺寸集中为变量，后续几何只引用变量，修改参数即可更新模型。</a:t>
            </a:r>
          </a:p>
        </p:txBody>
      </p:sp>
      <p:sp>
        <p:nvSpPr>
          <p:cNvPr id="10" name="explain-2">
            <a:extLst xmlns:a="http://schemas.openxmlformats.org/drawingml/2006/main">
              <a:ext uri="{FF2B5EF4-FFF2-40B4-BE49-F238E27FC236}">
                <a16:creationId xmlns:a16="http://schemas.microsoft.com/office/drawing/2014/main" id="{B12F7229-AA19-49FA-8FA8-F4915D24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574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1" name="explain-text-2">
            <a:extLst xmlns:a="http://schemas.openxmlformats.org/drawingml/2006/main">
              <a:ext uri="{FF2B5EF4-FFF2-40B4-BE49-F238E27FC236}">
                <a16:creationId xmlns:a16="http://schemas.microsoft.com/office/drawing/2014/main" id="{86FB0D80-0B27-4357-B860-F4922532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146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长度统一使用mm；clearance=0.35表示单侧间隙。</a:t>
            </a:r>
          </a:p>
        </p:txBody>
      </p:sp>
      <p:sp>
        <p:nvSpPr>
          <p:cNvPr id="12" name="explain-3">
            <a:extLst xmlns:a="http://schemas.openxmlformats.org/drawingml/2006/main">
              <a:ext uri="{FF2B5EF4-FFF2-40B4-BE49-F238E27FC236}">
                <a16:creationId xmlns:a16="http://schemas.microsoft.com/office/drawing/2014/main" id="{B61396C2-FC53-4AEB-9158-AB2C3CCB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480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3" name="explain-text-3">
            <a:extLst xmlns:a="http://schemas.openxmlformats.org/drawingml/2006/main">
              <a:ext uri="{FF2B5EF4-FFF2-40B4-BE49-F238E27FC236}">
                <a16:creationId xmlns:a16="http://schemas.microsoft.com/office/drawing/2014/main" id="{A32ECB15-100F-448A-8FC0-0BF36389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052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易错点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变量名要前后一致；槽宽必须由壁厚和两侧间隙联动计算。</a:t>
            </a:r>
          </a:p>
        </p:txBody>
      </p:sp>
    </p:spTree>
    <p:extLst>
      <p:ext uri="{BB962C8B-B14F-4D97-AF65-F5344CB8AC3E}">
        <p14:creationId xmlns:p14="http://schemas.microsoft.com/office/powerpoint/2010/main" val="9217557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667E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accent">
            <a:extLst xmlns:a="http://schemas.openxmlformats.org/drawingml/2006/main">
              <a:ext uri="{FF2B5EF4-FFF2-40B4-BE49-F238E27FC236}">
                <a16:creationId xmlns:a16="http://schemas.microsoft.com/office/drawing/2014/main" id="{5BC342B2-9801-4F20-A49A-60FEC7EE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3A3051-4F56-48C9-A742-AAF5B38D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fuse布尔并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9D3B3441-AF5B-46EA-86B8-CAB32595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➕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408776C-A914-4692-84CF-7091C2BC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模块四  ·  4</a:t>
            </a:r>
          </a:p>
        </p:txBody>
      </p:sp>
      <p:sp>
        <p:nvSpPr>
          <p:cNvPr id="5" name="code-intro">
            <a:extLst xmlns:a="http://schemas.openxmlformats.org/drawingml/2006/main">
              <a:ext uri="{FF2B5EF4-FFF2-40B4-BE49-F238E27FC236}">
                <a16:creationId xmlns:a16="http://schemas.microsoft.com/office/drawing/2014/main" id="{7F80657E-0327-4244-944A-7CD0C937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合并两个几何体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228BAABD-258D-46E6-BB86-CE48F653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667500" cy="485775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 w="9525">
            <a:solidFill>
              <a:srgbClr val="4A5568"/>
            </a:solidFill>
            <a:prstDash val="solid"/>
          </a:ln>
        </p:spPr>
      </p:sp>
      <p:sp>
        <p:nvSpPr>
          <p:cNvPr id="7" name="editable-code">
            <a:extLst xmlns:a="http://schemas.openxmlformats.org/drawingml/2006/main">
              <a:ext uri="{FF2B5EF4-FFF2-40B4-BE49-F238E27FC236}">
                <a16:creationId xmlns:a16="http://schemas.microsoft.com/office/drawing/2014/main" id="{1CCFE979-E35D-4FF0-8502-6F50AF19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628650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import FreeCAD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import Part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box = Part.makeBox(45, 20, 3)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ring = Part.makeCylinder(7, 3, FreeCAD.Vector(45, 10, 0))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body = box.fuse(ring) # 合并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Part.show(body)</a:t>
            </a:r>
          </a:p>
        </p:txBody>
      </p:sp>
      <p:sp>
        <p:nvSpPr>
          <p:cNvPr id="8" name="explain-1">
            <a:extLst xmlns:a="http://schemas.openxmlformats.org/drawingml/2006/main">
              <a:ext uri="{FF2B5EF4-FFF2-40B4-BE49-F238E27FC236}">
                <a16:creationId xmlns:a16="http://schemas.microsoft.com/office/drawing/2014/main" id="{CDEC951B-09EA-47C0-B267-44D6C54C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668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9" name="explain-text-1">
            <a:extLst xmlns:a="http://schemas.openxmlformats.org/drawingml/2006/main">
              <a:ext uri="{FF2B5EF4-FFF2-40B4-BE49-F238E27FC236}">
                <a16:creationId xmlns:a16="http://schemas.microsoft.com/office/drawing/2014/main" id="{0673C784-F186-4EBF-9F9E-494EA711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240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逐行作用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创建矩形主体和圆柱挂环，Vector把圆柱移到主体端部，fuse执行布尔并。</a:t>
            </a:r>
          </a:p>
        </p:txBody>
      </p:sp>
      <p:sp>
        <p:nvSpPr>
          <p:cNvPr id="10" name="explain-2">
            <a:extLst xmlns:a="http://schemas.openxmlformats.org/drawingml/2006/main">
              <a:ext uri="{FF2B5EF4-FFF2-40B4-BE49-F238E27FC236}">
                <a16:creationId xmlns:a16="http://schemas.microsoft.com/office/drawing/2014/main" id="{1D89C3FB-C26C-44BB-99A7-3BEFE2DC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574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1" name="explain-text-2">
            <a:extLst xmlns:a="http://schemas.openxmlformats.org/drawingml/2006/main">
              <a:ext uri="{FF2B5EF4-FFF2-40B4-BE49-F238E27FC236}">
                <a16:creationId xmlns:a16="http://schemas.microsoft.com/office/drawing/2014/main" id="{DC49ADDA-DDEA-41CD-BA52-9B2B6C29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146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运行结果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两个相交几何体合成body；Part.show()将结果显示到3D视图。</a:t>
            </a:r>
          </a:p>
        </p:txBody>
      </p:sp>
      <p:sp>
        <p:nvSpPr>
          <p:cNvPr id="12" name="explain-3">
            <a:extLst xmlns:a="http://schemas.openxmlformats.org/drawingml/2006/main">
              <a:ext uri="{FF2B5EF4-FFF2-40B4-BE49-F238E27FC236}">
                <a16:creationId xmlns:a16="http://schemas.microsoft.com/office/drawing/2014/main" id="{DA0ABFF2-9D15-4EC7-BCB9-721B2F71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480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3" name="explain-text-3">
            <a:extLst xmlns:a="http://schemas.openxmlformats.org/drawingml/2006/main">
              <a:ext uri="{FF2B5EF4-FFF2-40B4-BE49-F238E27FC236}">
                <a16:creationId xmlns:a16="http://schemas.microsoft.com/office/drawing/2014/main" id="{68664BED-2B9D-48EF-9737-D21D79C2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052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易错点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几何体必须接触或重叠；若分离，结果可能包含多个Solid。</a:t>
            </a:r>
          </a:p>
        </p:txBody>
      </p:sp>
    </p:spTree>
    <p:extLst>
      <p:ext uri="{BB962C8B-B14F-4D97-AF65-F5344CB8AC3E}">
        <p14:creationId xmlns:p14="http://schemas.microsoft.com/office/powerpoint/2010/main" val="13110552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667E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accent">
            <a:extLst xmlns:a="http://schemas.openxmlformats.org/drawingml/2006/main">
              <a:ext uri="{FF2B5EF4-FFF2-40B4-BE49-F238E27FC236}">
                <a16:creationId xmlns:a16="http://schemas.microsoft.com/office/drawing/2014/main" id="{09E1B988-9E5A-4CB7-B25C-AC11532A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99A58E-A296-4CBB-981F-624DAC89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cut布尔差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B76B84DD-9E37-49F6-A470-FF81BFAF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➖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91540E2-FD79-47A8-A7D2-67513593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模块四  ·  5</a:t>
            </a:r>
          </a:p>
        </p:txBody>
      </p:sp>
      <p:sp>
        <p:nvSpPr>
          <p:cNvPr id="5" name="code-intro">
            <a:extLst xmlns:a="http://schemas.openxmlformats.org/drawingml/2006/main">
              <a:ext uri="{FF2B5EF4-FFF2-40B4-BE49-F238E27FC236}">
                <a16:creationId xmlns:a16="http://schemas.microsoft.com/office/drawing/2014/main" id="{34337B7E-4C04-46B5-A685-3ECE3C9F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从一个几何体减去另一个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1646F741-189C-4731-A230-31D12A2C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667500" cy="485775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 w="9525">
            <a:solidFill>
              <a:srgbClr val="4A5568"/>
            </a:solidFill>
            <a:prstDash val="solid"/>
          </a:ln>
        </p:spPr>
      </p:sp>
      <p:sp>
        <p:nvSpPr>
          <p:cNvPr id="7" name="editable-code">
            <a:extLst xmlns:a="http://schemas.openxmlformats.org/drawingml/2006/main">
              <a:ext uri="{FF2B5EF4-FFF2-40B4-BE49-F238E27FC236}">
                <a16:creationId xmlns:a16="http://schemas.microsoft.com/office/drawing/2014/main" id="{077FB6A3-C8FD-4D9F-8D3B-DB243BF3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628650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import FreeCAD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import Part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outer = Part.makeBox(60, 40, 35)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inner = Part.makeBox(55, 35, 33,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FreeCAD.Vector(2.5,2.5,2.5))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box_body = outer.cut(inner) # 形成有底盒体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Part.show(box_body)</a:t>
            </a:r>
          </a:p>
        </p:txBody>
      </p:sp>
      <p:sp>
        <p:nvSpPr>
          <p:cNvPr id="8" name="explain-1">
            <a:extLst xmlns:a="http://schemas.openxmlformats.org/drawingml/2006/main">
              <a:ext uri="{FF2B5EF4-FFF2-40B4-BE49-F238E27FC236}">
                <a16:creationId xmlns:a16="http://schemas.microsoft.com/office/drawing/2014/main" id="{BBFC4456-B0A2-41ED-A5D7-53AD03BE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668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9" name="explain-text-1">
            <a:extLst xmlns:a="http://schemas.openxmlformats.org/drawingml/2006/main">
              <a:ext uri="{FF2B5EF4-FFF2-40B4-BE49-F238E27FC236}">
                <a16:creationId xmlns:a16="http://schemas.microsoft.com/office/drawing/2014/main" id="{4BFD4099-C328-49A7-99B3-7111C9EA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240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逐行作用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先建外盒，再把内盒向XYZ各偏移2.5mm，outer.cut(inner)挖出内腔。</a:t>
            </a:r>
          </a:p>
        </p:txBody>
      </p:sp>
      <p:sp>
        <p:nvSpPr>
          <p:cNvPr id="10" name="explain-2">
            <a:extLst xmlns:a="http://schemas.openxmlformats.org/drawingml/2006/main">
              <a:ext uri="{FF2B5EF4-FFF2-40B4-BE49-F238E27FC236}">
                <a16:creationId xmlns:a16="http://schemas.microsoft.com/office/drawing/2014/main" id="{8DE03547-3BD4-4FC5-A9A8-8956654B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574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1" name="explain-text-2">
            <a:extLst xmlns:a="http://schemas.openxmlformats.org/drawingml/2006/main">
              <a:ext uri="{FF2B5EF4-FFF2-40B4-BE49-F238E27FC236}">
                <a16:creationId xmlns:a16="http://schemas.microsoft.com/office/drawing/2014/main" id="{F86AB64F-827A-472B-9C80-4C768694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146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运行结果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四周壁厚2.5mm、底厚2.5mm；内盒顶面高于外盒，顶部保持开口。</a:t>
            </a:r>
          </a:p>
        </p:txBody>
      </p:sp>
      <p:sp>
        <p:nvSpPr>
          <p:cNvPr id="12" name="explain-3">
            <a:extLst xmlns:a="http://schemas.openxmlformats.org/drawingml/2006/main">
              <a:ext uri="{FF2B5EF4-FFF2-40B4-BE49-F238E27FC236}">
                <a16:creationId xmlns:a16="http://schemas.microsoft.com/office/drawing/2014/main" id="{72B7D58D-B9A6-4180-BFB6-B778F784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480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3" name="explain-text-3">
            <a:extLst xmlns:a="http://schemas.openxmlformats.org/drawingml/2006/main">
              <a:ext uri="{FF2B5EF4-FFF2-40B4-BE49-F238E27FC236}">
                <a16:creationId xmlns:a16="http://schemas.microsoft.com/office/drawing/2014/main" id="{F32D664B-A6E3-447B-B1D2-7C6967DB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052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易错点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内盒必须与外盒相交且不能过大；偏移为0会把侧壁或底部挖穿。</a:t>
            </a:r>
          </a:p>
        </p:txBody>
      </p:sp>
    </p:spTree>
    <p:extLst>
      <p:ext uri="{BB962C8B-B14F-4D97-AF65-F5344CB8AC3E}">
        <p14:creationId xmlns:p14="http://schemas.microsoft.com/office/powerpoint/2010/main" val="1996523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42637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accent">
            <a:extLst xmlns:a="http://schemas.openxmlformats.org/drawingml/2006/main">
              <a:ext uri="{FF2B5EF4-FFF2-40B4-BE49-F238E27FC236}">
                <a16:creationId xmlns:a16="http://schemas.microsoft.com/office/drawing/2014/main" id="{CB4334C1-7D3F-415D-9A48-10940B81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22DAFA-54B4-438A-8265-AE519484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多实体与装配间隙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07D33DA3-D010-44E0-A54D-1A3B4599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🧩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5260B95-97F7-4144-ACD3-A50F122F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模块四  ·  6</a:t>
            </a:r>
          </a:p>
        </p:txBody>
      </p:sp>
      <p:sp>
        <p:nvSpPr>
          <p:cNvPr id="5" name="code-intro">
            <a:extLst xmlns:a="http://schemas.openxmlformats.org/drawingml/2006/main">
              <a:ext uri="{FF2B5EF4-FFF2-40B4-BE49-F238E27FC236}">
                <a16:creationId xmlns:a16="http://schemas.microsoft.com/office/drawing/2014/main" id="{93F8419D-18DF-49B3-A618-E72EA86C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盒体、盒盖保持独立，盒沿进入环形槽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5CB7DA48-0F4B-459D-97C4-321357F7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667500" cy="485775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 w="9525">
            <a:solidFill>
              <a:srgbClr val="4A5568"/>
            </a:solidFill>
            <a:prstDash val="solid"/>
          </a:ln>
        </p:spPr>
      </p:sp>
      <p:sp>
        <p:nvSpPr>
          <p:cNvPr id="7" name="editable-code">
            <a:extLst xmlns:a="http://schemas.openxmlformats.org/drawingml/2006/main">
              <a:ext uri="{FF2B5EF4-FFF2-40B4-BE49-F238E27FC236}">
                <a16:creationId xmlns:a16="http://schemas.microsoft.com/office/drawing/2014/main" id="{0F1D8E2B-EA0C-471A-BB67-EF314F45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628650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groove_W = wall_T + 2 * clearance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# 2.5 + 2×0.35 = 3.2mm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# 两侧各留0.35mm，避免零间隙干涉</a:t>
            </a:r>
          </a:p>
        </p:txBody>
      </p:sp>
      <p:sp>
        <p:nvSpPr>
          <p:cNvPr id="8" name="explain-1">
            <a:extLst xmlns:a="http://schemas.openxmlformats.org/drawingml/2006/main">
              <a:ext uri="{FF2B5EF4-FFF2-40B4-BE49-F238E27FC236}">
                <a16:creationId xmlns:a16="http://schemas.microsoft.com/office/drawing/2014/main" id="{4F96C155-9DC5-47A8-AF56-AEA07179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668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9" name="explain-text-1">
            <a:extLst xmlns:a="http://schemas.openxmlformats.org/drawingml/2006/main">
              <a:ext uri="{FF2B5EF4-FFF2-40B4-BE49-F238E27FC236}">
                <a16:creationId xmlns:a16="http://schemas.microsoft.com/office/drawing/2014/main" id="{C10E2EEC-AC5E-470D-81EB-4C700FAC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240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公式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槽宽=插入边厚度+左间隙+右间隙=2.5+0.35×2=3.2mm。</a:t>
            </a:r>
          </a:p>
        </p:txBody>
      </p:sp>
      <p:sp>
        <p:nvSpPr>
          <p:cNvPr id="10" name="explain-2">
            <a:extLst xmlns:a="http://schemas.openxmlformats.org/drawingml/2006/main">
              <a:ext uri="{FF2B5EF4-FFF2-40B4-BE49-F238E27FC236}">
                <a16:creationId xmlns:a16="http://schemas.microsoft.com/office/drawing/2014/main" id="{2E886D57-4B5E-4D95-97FD-A7454499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574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1" name="explain-text-2">
            <a:extLst xmlns:a="http://schemas.openxmlformats.org/drawingml/2006/main">
              <a:ext uri="{FF2B5EF4-FFF2-40B4-BE49-F238E27FC236}">
                <a16:creationId xmlns:a16="http://schemas.microsoft.com/office/drawing/2014/main" id="{F588A30A-68E3-4AED-ACA7-A8E41B7B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146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设计含义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槽宽控制配合松紧；槽深控制插入深度，两者不可混用。</a:t>
            </a:r>
          </a:p>
        </p:txBody>
      </p:sp>
      <p:sp>
        <p:nvSpPr>
          <p:cNvPr id="12" name="explain-3">
            <a:extLst xmlns:a="http://schemas.openxmlformats.org/drawingml/2006/main">
              <a:ext uri="{FF2B5EF4-FFF2-40B4-BE49-F238E27FC236}">
                <a16:creationId xmlns:a16="http://schemas.microsoft.com/office/drawing/2014/main" id="{E5A0841C-ABE9-4C2B-8B5C-D2CA0199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480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3" name="explain-text-3">
            <a:extLst xmlns:a="http://schemas.openxmlformats.org/drawingml/2006/main">
              <a:ext uri="{FF2B5EF4-FFF2-40B4-BE49-F238E27FC236}">
                <a16:creationId xmlns:a16="http://schemas.microsoft.com/office/drawing/2014/main" id="{3E0545A9-FB78-4739-9733-CA514445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052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易错点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0.35是单侧间隙，不是总间隙；打印前要用间隙测试块校准。</a:t>
            </a:r>
          </a:p>
        </p:txBody>
      </p:sp>
    </p:spTree>
    <p:extLst>
      <p:ext uri="{BB962C8B-B14F-4D97-AF65-F5344CB8AC3E}">
        <p14:creationId xmlns:p14="http://schemas.microsoft.com/office/powerpoint/2010/main" val="2223268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accent">
            <a:extLst xmlns:a="http://schemas.openxmlformats.org/drawingml/2006/main">
              <a:ext uri="{FF2B5EF4-FFF2-40B4-BE49-F238E27FC236}">
                <a16:creationId xmlns:a16="http://schemas.microsoft.com/office/drawing/2014/main" id="{AF3D099C-684A-4E74-A159-3CDB6064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8C8CE8-72B4-4815-92AB-AF5A7FE9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FreeCAD原生Assembly装配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45FAC88D-B6BF-4086-BF89-74968E4B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📦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D574995-62E1-4405-97AC-24E294A2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模块四  ·  7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20357d1c4478b"/>
          <a:stretch xmlns:a="http://schemas.openxmlformats.org/drawingml/2006/main"/>
        </p:blipFill>
        <p:spPr>
          <a:xfrm xmlns:a="http://schemas.openxmlformats.org/drawingml/2006/main">
            <a:off x="3000375" y="1611511"/>
            <a:ext cx="6191250" cy="3482578"/>
          </a:xfrm>
          <a:prstGeom xmlns:a="http://schemas.openxmlformats.org/drawingml/2006/main" prst="roundRect">
            <a:avLst>
              <a:gd name="adj" fmla="val 3241"/>
            </a:avLst>
          </a:prstGeom>
        </p:spPr>
      </p:pic>
      <p:sp>
        <p:nvSpPr>
          <p:cNvPr id="6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522FC8CA-D689-4F5B-A4E0-1B2822BF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盒体接地 · 盒盖固定关节 · 干涉体积为0</a:t>
            </a:r>
          </a:p>
        </p:txBody>
      </p:sp>
    </p:spTree>
    <p:extLst>
      <p:ext uri="{BB962C8B-B14F-4D97-AF65-F5344CB8AC3E}">
        <p14:creationId xmlns:p14="http://schemas.microsoft.com/office/powerpoint/2010/main" val="6248662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667E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5299699E-7987-499B-A062-7E0C4F98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A4A5F1-52AF-4768-9E7E-A2C72E2B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实践作业5：带盖储物盒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04E48EA8-34A3-4977-AF1D-F5C2D09C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📦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F28B5A0-6A83-429B-9C6F-2E9557A0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模块四  ·  8</a:t>
            </a:r>
          </a:p>
        </p:txBody>
      </p:sp>
      <p:sp>
        <p:nvSpPr>
          <p:cNvPr id="5" name="cards-intro">
            <a:extLst xmlns:a="http://schemas.openxmlformats.org/drawingml/2006/main">
              <a:ext uri="{FF2B5EF4-FFF2-40B4-BE49-F238E27FC236}">
                <a16:creationId xmlns:a16="http://schemas.microsoft.com/office/drawing/2014/main" id="{4F0E1368-5038-434E-8DC2-9A843383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盒体+盒盖·环形槽·原生装配</a:t>
            </a:r>
          </a:p>
        </p:txBody>
      </p:sp>
      <p:sp>
        <p:nvSpPr>
          <p:cNvPr id="6" name="card-1">
            <a:extLst xmlns:a="http://schemas.openxmlformats.org/drawingml/2006/main">
              <a:ext uri="{FF2B5EF4-FFF2-40B4-BE49-F238E27FC236}">
                <a16:creationId xmlns:a16="http://schemas.microsoft.com/office/drawing/2014/main" id="{5D01E73A-88C1-447F-B497-98F2A600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7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FD8D8647-20E3-4D18-9EF5-D3A957C4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📐 参数</a:t>
            </a:r>
          </a:p>
        </p:txBody>
      </p:sp>
      <p:sp>
        <p:nvSpPr>
          <p:cNvPr id="8" name="card-body-1">
            <a:extLst xmlns:a="http://schemas.openxmlformats.org/drawingml/2006/main">
              <a:ext uri="{FF2B5EF4-FFF2-40B4-BE49-F238E27FC236}">
                <a16:creationId xmlns:a16="http://schemas.microsoft.com/office/drawing/2014/main" id="{B5F9608A-8B7F-420F-A1B8-7A1A32EE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盒60×40×35 槽宽3.2 间隙0.35</a:t>
            </a:r>
          </a:p>
        </p:txBody>
      </p:sp>
      <p:sp>
        <p:nvSpPr>
          <p:cNvPr id="9" name="card-2">
            <a:extLst xmlns:a="http://schemas.openxmlformats.org/drawingml/2006/main">
              <a:ext uri="{FF2B5EF4-FFF2-40B4-BE49-F238E27FC236}">
                <a16:creationId xmlns:a16="http://schemas.microsoft.com/office/drawing/2014/main" id="{E8C00E07-9F0E-4249-B604-6434BB44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0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E3290476-30B1-4E44-A96A-F5BA925D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81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🔧 技术</a:t>
            </a:r>
          </a:p>
        </p:txBody>
      </p:sp>
      <p:sp>
        <p:nvSpPr>
          <p:cNvPr id="11" name="card-body-2">
            <a:extLst xmlns:a="http://schemas.openxmlformats.org/drawingml/2006/main">
              <a:ext uri="{FF2B5EF4-FFF2-40B4-BE49-F238E27FC236}">
                <a16:creationId xmlns:a16="http://schemas.microsoft.com/office/drawing/2014/main" id="{932400E3-A012-466F-B7E4-19803E8F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抽壳+多实体+Assembly固定关节</a:t>
            </a:r>
          </a:p>
        </p:txBody>
      </p:sp>
      <p:sp>
        <p:nvSpPr>
          <p:cNvPr id="12" name="card-3">
            <a:extLst xmlns:a="http://schemas.openxmlformats.org/drawingml/2006/main">
              <a:ext uri="{FF2B5EF4-FFF2-40B4-BE49-F238E27FC236}">
                <a16:creationId xmlns:a16="http://schemas.microsoft.com/office/drawing/2014/main" id="{3E496C00-ACEE-42A6-A193-B305335C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D29887DA-5DA4-4617-BBD3-18A78BB3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📝 评分</a:t>
            </a:r>
          </a:p>
        </p:txBody>
      </p:sp>
      <p:sp>
        <p:nvSpPr>
          <p:cNvPr id="14" name="card-body-3">
            <a:extLst xmlns:a="http://schemas.openxmlformats.org/drawingml/2006/main">
              <a:ext uri="{FF2B5EF4-FFF2-40B4-BE49-F238E27FC236}">
                <a16:creationId xmlns:a16="http://schemas.microsoft.com/office/drawing/2014/main" id="{EE488708-5B5A-4B10-B5C7-91237FDE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完成度40+技术40+规范20</a:t>
            </a:r>
          </a:p>
        </p:txBody>
      </p:sp>
    </p:spTree>
    <p:extLst>
      <p:ext uri="{BB962C8B-B14F-4D97-AF65-F5344CB8AC3E}">
        <p14:creationId xmlns:p14="http://schemas.microsoft.com/office/powerpoint/2010/main" val="71663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667E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9A7F8B7D-E5C7-414A-A2AA-FF5A6491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40BFD7-8BC7-4C77-9B87-44A97661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实践作业4：手机支架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0430A673-E74F-43CE-9FCE-6E8A65AA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📱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612DCC7-7684-4DFE-B7AC-3AFD6A00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模块四  ·  9</a:t>
            </a:r>
          </a:p>
        </p:txBody>
      </p:sp>
      <p:sp>
        <p:nvSpPr>
          <p:cNvPr id="5" name="cards-intro">
            <a:extLst xmlns:a="http://schemas.openxmlformats.org/drawingml/2006/main">
              <a:ext uri="{FF2B5EF4-FFF2-40B4-BE49-F238E27FC236}">
                <a16:creationId xmlns:a16="http://schemas.microsoft.com/office/drawing/2014/main" id="{8CD03D99-02CD-483F-89C6-AD4463EF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能放手机·充电线开口·圆角</a:t>
            </a:r>
          </a:p>
        </p:txBody>
      </p:sp>
      <p:sp>
        <p:nvSpPr>
          <p:cNvPr id="6" name="card-1">
            <a:extLst xmlns:a="http://schemas.openxmlformats.org/drawingml/2006/main">
              <a:ext uri="{FF2B5EF4-FFF2-40B4-BE49-F238E27FC236}">
                <a16:creationId xmlns:a16="http://schemas.microsoft.com/office/drawing/2014/main" id="{D5F5097E-69B0-4CF4-A26A-C04CC4F0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7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6DF75698-0CA7-4035-BE88-C2B514AC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📐 参数</a:t>
            </a:r>
          </a:p>
        </p:txBody>
      </p:sp>
      <p:sp>
        <p:nvSpPr>
          <p:cNvPr id="8" name="card-body-1">
            <a:extLst xmlns:a="http://schemas.openxmlformats.org/drawingml/2006/main">
              <a:ext uri="{FF2B5EF4-FFF2-40B4-BE49-F238E27FC236}">
                <a16:creationId xmlns:a16="http://schemas.microsoft.com/office/drawing/2014/main" id="{586612C2-1077-41DA-ABDE-DFCE0565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底座80×50×10 背板高55 后倾25°</a:t>
            </a:r>
          </a:p>
        </p:txBody>
      </p:sp>
      <p:sp>
        <p:nvSpPr>
          <p:cNvPr id="9" name="card-2">
            <a:extLst xmlns:a="http://schemas.openxmlformats.org/drawingml/2006/main">
              <a:ext uri="{FF2B5EF4-FFF2-40B4-BE49-F238E27FC236}">
                <a16:creationId xmlns:a16="http://schemas.microsoft.com/office/drawing/2014/main" id="{03FADB72-6947-408D-8B12-14D69BEE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0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EB20677C-358E-481E-BBDB-48419EC7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81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🔧 技术</a:t>
            </a:r>
          </a:p>
        </p:txBody>
      </p:sp>
      <p:sp>
        <p:nvSpPr>
          <p:cNvPr id="11" name="card-body-2">
            <a:extLst xmlns:a="http://schemas.openxmlformats.org/drawingml/2006/main">
              <a:ext uri="{FF2B5EF4-FFF2-40B4-BE49-F238E27FC236}">
                <a16:creationId xmlns:a16="http://schemas.microsoft.com/office/drawing/2014/main" id="{DEFFCB81-D065-48DA-8FA7-7E8DEC95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一体结构+后倾背板+充电槽+稳定性</a:t>
            </a:r>
          </a:p>
        </p:txBody>
      </p:sp>
      <p:sp>
        <p:nvSpPr>
          <p:cNvPr id="12" name="card-3">
            <a:extLst xmlns:a="http://schemas.openxmlformats.org/drawingml/2006/main">
              <a:ext uri="{FF2B5EF4-FFF2-40B4-BE49-F238E27FC236}">
                <a16:creationId xmlns:a16="http://schemas.microsoft.com/office/drawing/2014/main" id="{E7A2CC7A-A4F7-482D-90E3-A3605F20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635550B4-8B5E-406F-B505-8878691C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📝 评分</a:t>
            </a:r>
          </a:p>
        </p:txBody>
      </p:sp>
      <p:sp>
        <p:nvSpPr>
          <p:cNvPr id="14" name="card-body-3">
            <a:extLst xmlns:a="http://schemas.openxmlformats.org/drawingml/2006/main">
              <a:ext uri="{FF2B5EF4-FFF2-40B4-BE49-F238E27FC236}">
                <a16:creationId xmlns:a16="http://schemas.microsoft.com/office/drawing/2014/main" id="{D9E8E783-18DA-4C65-A0D6-2C0F6F31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完成度40+技术40+规范20</a:t>
            </a:r>
          </a:p>
        </p:txBody>
      </p:sp>
    </p:spTree>
    <p:extLst>
      <p:ext uri="{BB962C8B-B14F-4D97-AF65-F5344CB8AC3E}">
        <p14:creationId xmlns:p14="http://schemas.microsoft.com/office/powerpoint/2010/main" val="4500061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accent">
            <a:extLst xmlns:a="http://schemas.openxmlformats.org/drawingml/2006/main">
              <a:ext uri="{FF2B5EF4-FFF2-40B4-BE49-F238E27FC236}">
                <a16:creationId xmlns:a16="http://schemas.microsoft.com/office/drawing/2014/main" id="{6FFB623D-3575-47E0-87B3-55183F5A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1F3CDD-6DC9-4E14-AF43-B9B51BE4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带盖储物盒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1D2187D4-18D1-4E82-8DC5-6DE39415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📦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4DF0087-BBDE-4D3E-8EC7-225110F7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模块四  ·  10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2f66be8fe43b4"/>
          <a:stretch xmlns:a="http://schemas.openxmlformats.org/drawingml/2006/main"/>
        </p:blipFill>
        <p:spPr>
          <a:xfrm xmlns:a="http://schemas.openxmlformats.org/drawingml/2006/main">
            <a:off x="3000375" y="1611511"/>
            <a:ext cx="6191250" cy="3482578"/>
          </a:xfrm>
          <a:prstGeom xmlns:a="http://schemas.openxmlformats.org/drawingml/2006/main" prst="roundRect">
            <a:avLst>
              <a:gd name="adj" fmla="val 3241"/>
            </a:avLst>
          </a:prstGeom>
        </p:spPr>
      </p:pic>
    </p:spTree>
    <p:extLst>
      <p:ext uri="{BB962C8B-B14F-4D97-AF65-F5344CB8AC3E}">
        <p14:creationId xmlns:p14="http://schemas.microsoft.com/office/powerpoint/2010/main" val="1496599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accent">
            <a:extLst xmlns:a="http://schemas.openxmlformats.org/drawingml/2006/main">
              <a:ext uri="{FF2B5EF4-FFF2-40B4-BE49-F238E27FC236}">
                <a16:creationId xmlns:a16="http://schemas.microsoft.com/office/drawing/2014/main" id="{8FB994AF-1FDA-4A3B-8673-E5A3B92D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122D95-CC89-4C8A-87DA-C64856B3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手机支架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2E23C88C-9BE8-48D9-9C2A-5D4A78F8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📱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51FDDA8-8EC1-4B02-A855-C174F70C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模块四  ·  11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21322f9c54e02"/>
          <a:stretch xmlns:a="http://schemas.openxmlformats.org/drawingml/2006/main"/>
        </p:blipFill>
        <p:spPr>
          <a:xfrm xmlns:a="http://schemas.openxmlformats.org/drawingml/2006/main">
            <a:off x="3352800" y="1295400"/>
            <a:ext cx="5486400" cy="4114800"/>
          </a:xfrm>
          <a:prstGeom xmlns:a="http://schemas.openxmlformats.org/drawingml/2006/main" prst="roundRect">
            <a:avLst>
              <a:gd name="adj" fmla="val 3241"/>
            </a:avLst>
          </a:prstGeom>
        </p:spPr>
      </p:pic>
    </p:spTree>
    <p:extLst>
      <p:ext uri="{BB962C8B-B14F-4D97-AF65-F5344CB8AC3E}">
        <p14:creationId xmlns:p14="http://schemas.microsoft.com/office/powerpoint/2010/main" val="5337217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42637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accent">
            <a:extLst xmlns:a="http://schemas.openxmlformats.org/drawingml/2006/main">
              <a:ext uri="{FF2B5EF4-FFF2-40B4-BE49-F238E27FC236}">
                <a16:creationId xmlns:a16="http://schemas.microsoft.com/office/drawing/2014/main" id="{611172FC-A856-4D98-948E-30307D43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7BBFDA-AE02-47D0-856F-CD1BC895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第13课：装配运动验证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0013FF6E-4EDC-4CB7-AE7D-86C0D94A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🎞️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77E028E-6A24-4253-A461-4084FFC5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模块四  ·  12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BA710C6E-0C68-4D7A-8766-7E5493EE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6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83AED120-BADC-432C-9C90-4E3D508E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对象树</a:t>
            </a:r>
          </a:p>
        </p:txBody>
      </p:sp>
      <p:sp>
        <p:nvSpPr>
          <p:cNvPr id="7" name="card-body-1">
            <a:extLst xmlns:a="http://schemas.openxmlformats.org/drawingml/2006/main">
              <a:ext uri="{FF2B5EF4-FFF2-40B4-BE49-F238E27FC236}">
                <a16:creationId xmlns:a16="http://schemas.microsoft.com/office/drawing/2014/main" id="{FFEE2C85-5FAA-4BE3-9DC2-4C828F4B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AssemblyObject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Grounded + Fixed Joint</a:t>
            </a:r>
          </a:p>
        </p:txBody>
      </p:sp>
      <p:sp>
        <p:nvSpPr>
          <p:cNvPr id="8" name="card-2">
            <a:extLst xmlns:a="http://schemas.openxmlformats.org/drawingml/2006/main">
              <a:ext uri="{FF2B5EF4-FFF2-40B4-BE49-F238E27FC236}">
                <a16:creationId xmlns:a16="http://schemas.microsoft.com/office/drawing/2014/main" id="{0BB8ABC6-D08F-4B2C-8ADA-FBBF8F24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668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ADA310E5-4F8D-42BC-9AAE-906240EF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00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槽口</a:t>
            </a:r>
          </a:p>
        </p:txBody>
      </p:sp>
      <p:sp>
        <p:nvSpPr>
          <p:cNvPr id="10" name="card-body-2">
            <a:extLst xmlns:a="http://schemas.openxmlformats.org/drawingml/2006/main">
              <a:ext uri="{FF2B5EF4-FFF2-40B4-BE49-F238E27FC236}">
                <a16:creationId xmlns:a16="http://schemas.microsoft.com/office/drawing/2014/main" id="{D8C63DD0-B89C-4C03-99E9-600B3CDB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槽宽3.2mm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单边间隙0.35mm</a:t>
            </a:r>
          </a:p>
        </p:txBody>
      </p:sp>
      <p:sp>
        <p:nvSpPr>
          <p:cNvPr id="11" name="card-3">
            <a:extLst xmlns:a="http://schemas.openxmlformats.org/drawingml/2006/main">
              <a:ext uri="{FF2B5EF4-FFF2-40B4-BE49-F238E27FC236}">
                <a16:creationId xmlns:a16="http://schemas.microsoft.com/office/drawing/2014/main" id="{C421CF67-4A5E-49C4-9441-80F04A15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2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B5ECE8EB-38B4-451D-8441-7B124955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3" name="card-body-3">
            <a:extLst xmlns:a="http://schemas.openxmlformats.org/drawingml/2006/main">
              <a:ext uri="{FF2B5EF4-FFF2-40B4-BE49-F238E27FC236}">
                <a16:creationId xmlns:a16="http://schemas.microsoft.com/office/drawing/2014/main" id="{5073BA5A-A238-492B-9DE2-8600AD99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干涉体积0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开合动画+对象树截图</a:t>
            </a:r>
          </a:p>
        </p:txBody>
      </p:sp>
    </p:spTree>
    <p:extLst>
      <p:ext uri="{BB962C8B-B14F-4D97-AF65-F5344CB8AC3E}">
        <p14:creationId xmlns:p14="http://schemas.microsoft.com/office/powerpoint/2010/main" val="9212974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667E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accent">
            <a:extLst xmlns:a="http://schemas.openxmlformats.org/drawingml/2006/main">
              <a:ext uri="{FF2B5EF4-FFF2-40B4-BE49-F238E27FC236}">
                <a16:creationId xmlns:a16="http://schemas.microsoft.com/office/drawing/2014/main" id="{6702F0AB-8AAF-4194-9EF1-609CC400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AA95B5-8233-4F67-B98B-3095F8E4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本模块总结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13E8717B-6805-47CD-901C-1200C4F4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🎯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57D964C-8D0A-47F9-887D-69C37CA7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模块四  ·  13</a:t>
            </a:r>
          </a:p>
        </p:txBody>
      </p:sp>
      <p:sp>
        <p:nvSpPr>
          <p:cNvPr id="5" name="bullet-list">
            <a:extLst xmlns:a="http://schemas.openxmlformats.org/drawingml/2006/main">
              <a:ext uri="{FF2B5EF4-FFF2-40B4-BE49-F238E27FC236}">
                <a16:creationId xmlns:a16="http://schemas.microsoft.com/office/drawing/2014/main" id="{9AB6F815-4444-4336-BB35-4178A640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71600"/>
            <a:ext cx="99060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  <p:txBody>
          <a:bodyPr xmlns:a="http://schemas.openxmlformats.org/drawingml/2006/main" lIns="209550" tIns="171450" rIns="190500" bIns="13335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参数化设计 = 变量控制尺寸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布尔运算 = fuse合并/cut挖空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多实体设计 = 盒体与盒盖保持独立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原生装配 = 接地+固定关节+间隙检查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完成手机支架+带盖储物盒2件作品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👉 下一步：桥梁跨学科项目、FEM与打印验证</a:t>
            </a:r>
          </a:p>
        </p:txBody>
      </p:sp>
    </p:spTree>
    <p:extLst>
      <p:ext uri="{BB962C8B-B14F-4D97-AF65-F5344CB8AC3E}">
        <p14:creationId xmlns:p14="http://schemas.microsoft.com/office/powerpoint/2010/main" val="15863750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2026-07-26T04:44:01.3060000Z</dcterms:created>
  <dcterms:modified xsi:type="dcterms:W3CDTF">2026-07-26T04:44:01.3060000Z</dcterms:modified>
</coreProperties>
</file>
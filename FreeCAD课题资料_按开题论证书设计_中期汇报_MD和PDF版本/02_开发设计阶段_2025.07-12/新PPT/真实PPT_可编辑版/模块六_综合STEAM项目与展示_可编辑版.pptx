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b60a16384f4fd3" /><Relationship Type="http://schemas.openxmlformats.org/officeDocument/2006/relationships/extended-properties" Target="/docProps/app.xml" Id="R4332e7619fbe4f4a" /><Relationship Type="http://schemas.openxmlformats.org/officeDocument/2006/relationships/officeDocument" Target="/ppt/presentation.xml" Id="Rdf64d94e61b54f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a486d6f7234a48"/>
  </p:sldMasterIdLst>
  <p:notesMasterIdLst>
    <p:notesMasterId xmlns:r="http://schemas.openxmlformats.org/officeDocument/2006/relationships" r:id="R7afd6adbba25404a"/>
  </p:notesMasterIdLst>
  <p:sldIdLst>
    <p:sldId xmlns:r="http://schemas.openxmlformats.org/officeDocument/2006/relationships" id="256" r:id="Rcad57bd723e541fd"/>
    <p:sldId xmlns:r="http://schemas.openxmlformats.org/officeDocument/2006/relationships" id="257" r:id="R50608251f3c24a94"/>
    <p:sldId xmlns:r="http://schemas.openxmlformats.org/officeDocument/2006/relationships" id="258" r:id="R47376470488b4313"/>
    <p:sldId xmlns:r="http://schemas.openxmlformats.org/officeDocument/2006/relationships" id="259" r:id="R3ce0ff47876848a8"/>
    <p:sldId xmlns:r="http://schemas.openxmlformats.org/officeDocument/2006/relationships" id="260" r:id="R459ac84edfca4a12"/>
    <p:sldId xmlns:r="http://schemas.openxmlformats.org/officeDocument/2006/relationships" id="261" r:id="R652f2281f8784f2e"/>
    <p:sldId xmlns:r="http://schemas.openxmlformats.org/officeDocument/2006/relationships" id="262" r:id="Rdd3b1493dcec4fd5"/>
    <p:sldId xmlns:r="http://schemas.openxmlformats.org/officeDocument/2006/relationships" id="263" r:id="R57696ba2758947dc"/>
    <p:sldId xmlns:r="http://schemas.openxmlformats.org/officeDocument/2006/relationships" id="264" r:id="Rbf7651d569df47f7"/>
    <p:sldId xmlns:r="http://schemas.openxmlformats.org/officeDocument/2006/relationships" id="265" r:id="R4b43b24e19d54fd5"/>
    <p:sldId xmlns:r="http://schemas.openxmlformats.org/officeDocument/2006/relationships" id="266" r:id="R4dbbb8453cc14953"/>
    <p:sldId xmlns:r="http://schemas.openxmlformats.org/officeDocument/2006/relationships" id="267" r:id="R18f0417ffc7f41ac"/>
    <p:sldId xmlns:r="http://schemas.openxmlformats.org/officeDocument/2006/relationships" id="268" r:id="Reca15b9068d841d6"/>
    <p:sldId xmlns:r="http://schemas.openxmlformats.org/officeDocument/2006/relationships" id="269" r:id="R0c47fe5dd4414c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656a7a92ad481b" /><Relationship Type="http://schemas.openxmlformats.org/officeDocument/2006/relationships/slideMaster" Target="/ppt/slideMasters/slideMaster1.xml" Id="R51a486d6f7234a48" /><Relationship Type="http://schemas.openxmlformats.org/officeDocument/2006/relationships/notesMaster" Target="/ppt/notesMasters/notesMaster1.xml" Id="R7afd6adbba25404a" /><Relationship Type="http://schemas.openxmlformats.org/officeDocument/2006/relationships/presProps" Target="/ppt/presProps.xml" Id="R1131aee8963144aa" /><Relationship Type="http://schemas.openxmlformats.org/officeDocument/2006/relationships/tableStyles" Target="/ppt/tableStyles.xml" Id="R19ce4f9da8354144" /><Relationship Type="http://schemas.openxmlformats.org/officeDocument/2006/relationships/slide" Target="/ppt/slides/slide1.xml" Id="Rcad57bd723e541fd" /><Relationship Type="http://schemas.openxmlformats.org/officeDocument/2006/relationships/slide" Target="/ppt/slides/slide2.xml" Id="R50608251f3c24a94" /><Relationship Type="http://schemas.openxmlformats.org/officeDocument/2006/relationships/slide" Target="/ppt/slides/slide3.xml" Id="R47376470488b4313" /><Relationship Type="http://schemas.openxmlformats.org/officeDocument/2006/relationships/slide" Target="/ppt/slides/slide4.xml" Id="R3ce0ff47876848a8" /><Relationship Type="http://schemas.openxmlformats.org/officeDocument/2006/relationships/slide" Target="/ppt/slides/slide5.xml" Id="R459ac84edfca4a12" /><Relationship Type="http://schemas.openxmlformats.org/officeDocument/2006/relationships/slide" Target="/ppt/slides/slide6.xml" Id="R652f2281f8784f2e" /><Relationship Type="http://schemas.openxmlformats.org/officeDocument/2006/relationships/slide" Target="/ppt/slides/slide7.xml" Id="Rdd3b1493dcec4fd5" /><Relationship Type="http://schemas.openxmlformats.org/officeDocument/2006/relationships/slide" Target="/ppt/slides/slide8.xml" Id="R57696ba2758947dc" /><Relationship Type="http://schemas.openxmlformats.org/officeDocument/2006/relationships/slide" Target="/ppt/slides/slide9.xml" Id="Rbf7651d569df47f7" /><Relationship Type="http://schemas.openxmlformats.org/officeDocument/2006/relationships/slide" Target="/ppt/slides/slide10.xml" Id="R4b43b24e19d54fd5" /><Relationship Type="http://schemas.openxmlformats.org/officeDocument/2006/relationships/slide" Target="/ppt/slides/slide11.xml" Id="R4dbbb8453cc14953" /><Relationship Type="http://schemas.openxmlformats.org/officeDocument/2006/relationships/slide" Target="/ppt/slides/slide12.xml" Id="R18f0417ffc7f41ac" /><Relationship Type="http://schemas.openxmlformats.org/officeDocument/2006/relationships/slide" Target="/ppt/slides/slide13.xml" Id="Reca15b9068d841d6" /><Relationship Type="http://schemas.openxmlformats.org/officeDocument/2006/relationships/slide" Target="/ppt/slides/slide14.xml" Id="R0c47fe5dd4414c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bb8d8be1b340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4ac565a11941b5" /><Relationship Type="http://schemas.openxmlformats.org/officeDocument/2006/relationships/notesMaster" Target="/ppt/notesMasters/notesMaster1.xml" Id="Rfaf6c3cf5b5447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56f9eecfd8482a" /><Relationship Type="http://schemas.openxmlformats.org/officeDocument/2006/relationships/notesMaster" Target="/ppt/notesMasters/notesMaster1.xml" Id="Rbdafbebc62d54b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0a267979d145f4" /><Relationship Type="http://schemas.openxmlformats.org/officeDocument/2006/relationships/notesMaster" Target="/ppt/notesMasters/notesMaster1.xml" Id="R871d18e6e3cd41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b7cb72dc7945ab" /><Relationship Type="http://schemas.openxmlformats.org/officeDocument/2006/relationships/notesMaster" Target="/ppt/notesMasters/notesMaster1.xml" Id="Rd53093875d8e42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d1b682b58e4613" /><Relationship Type="http://schemas.openxmlformats.org/officeDocument/2006/relationships/notesMaster" Target="/ppt/notesMasters/notesMaster1.xml" Id="R9a2cddfe178947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03f3ab92ad4cda" /><Relationship Type="http://schemas.openxmlformats.org/officeDocument/2006/relationships/notesMaster" Target="/ppt/notesMasters/notesMaster1.xml" Id="R99be19a1896f40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6757fbf054127" /><Relationship Type="http://schemas.openxmlformats.org/officeDocument/2006/relationships/notesMaster" Target="/ppt/notesMasters/notesMaster1.xml" Id="R7bfb9fe5503a47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62ada709dc4e5f" /><Relationship Type="http://schemas.openxmlformats.org/officeDocument/2006/relationships/notesMaster" Target="/ppt/notesMasters/notesMaster1.xml" Id="R37a8f6254fd94a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f10a4cfebd45b5" /><Relationship Type="http://schemas.openxmlformats.org/officeDocument/2006/relationships/notesMaster" Target="/ppt/notesMasters/notesMaster1.xml" Id="Rad19fef9bbb745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a8d175fee148b3" /><Relationship Type="http://schemas.openxmlformats.org/officeDocument/2006/relationships/notesMaster" Target="/ppt/notesMasters/notesMaster1.xml" Id="Rfcc9fd923c284b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aaebb3cd2f49e2" /><Relationship Type="http://schemas.openxmlformats.org/officeDocument/2006/relationships/notesMaster" Target="/ppt/notesMasters/notesMaster1.xml" Id="R6e1fb870aa054f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96af9be96345c7" /><Relationship Type="http://schemas.openxmlformats.org/officeDocument/2006/relationships/notesMaster" Target="/ppt/notesMasters/notesMaster1.xml" Id="R8e99f55610634e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6494db2e564dc2" /><Relationship Type="http://schemas.openxmlformats.org/officeDocument/2006/relationships/notesMaster" Target="/ppt/notesMasters/notesMaster1.xml" Id="R55e3fb537e7844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57262c5a71446a" /><Relationship Type="http://schemas.openxmlformats.org/officeDocument/2006/relationships/notesMaster" Target="/ppt/notesMasters/notesMaster1.xml" Id="Rcf11f7928edc45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b02a86ec64c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7a3566414d442f" /><Relationship Type="http://schemas.openxmlformats.org/officeDocument/2006/relationships/slideLayout" Target="/ppt/slideLayouts/slideLayout1.xml" Id="R8721c62f5a714c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21c62f5a714c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7dd05ad5f426b" /><Relationship Type="http://schemas.openxmlformats.org/officeDocument/2006/relationships/notesSlide" Target="/ppt/notesSlides/notesSlide1.xml" Id="R692eed1262e341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54214de7f475a" /><Relationship Type="http://schemas.openxmlformats.org/officeDocument/2006/relationships/notesSlide" Target="/ppt/notesSlides/notesSlide2.xml" Id="R4189a1290b7b40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f2e6b43954938" /><Relationship Type="http://schemas.openxmlformats.org/officeDocument/2006/relationships/notesSlide" Target="/ppt/notesSlides/notesSlide3.xml" Id="R150bdd05914243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7f49cefda4d86" /><Relationship Type="http://schemas.openxmlformats.org/officeDocument/2006/relationships/notesSlide" Target="/ppt/notesSlides/notesSlide4.xml" Id="Re3411114dbed4c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a173eac0c4fb0" /><Relationship Type="http://schemas.openxmlformats.org/officeDocument/2006/relationships/notesSlide" Target="/ppt/notesSlides/notesSlide5.xml" Id="R55e6ce5d684f45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b60e320bc42df" /><Relationship Type="http://schemas.openxmlformats.org/officeDocument/2006/relationships/notesSlide" Target="/ppt/notesSlides/notesSlide6.xml" Id="R927c6d0b365045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6e567bf5748d3" /><Relationship Type="http://schemas.openxmlformats.org/officeDocument/2006/relationships/notesSlide" Target="/ppt/notesSlides/notesSlide7.xml" Id="Rdf7ec1481c554d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1176669624907" /><Relationship Type="http://schemas.openxmlformats.org/officeDocument/2006/relationships/notesSlide" Target="/ppt/notesSlides/notesSlide8.xml" Id="Re8eeded18b8a4d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5c66f30064fd2" /><Relationship Type="http://schemas.openxmlformats.org/officeDocument/2006/relationships/image" Target="/ppt/media/image.png" Id="R534ecb7eafcd429b" /><Relationship Type="http://schemas.openxmlformats.org/officeDocument/2006/relationships/notesSlide" Target="/ppt/notesSlides/notesSlide9.xml" Id="R21aa2229059741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f4df4095c4188" /><Relationship Type="http://schemas.openxmlformats.org/officeDocument/2006/relationships/notesSlide" Target="/ppt/notesSlides/notesSlide10.xml" Id="R46494b4ba1c446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27536d81642c7" /><Relationship Type="http://schemas.openxmlformats.org/officeDocument/2006/relationships/notesSlide" Target="/ppt/notesSlides/notesSlide11.xml" Id="R283f3cace2ed41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ec0d3d1cc49d3" /><Relationship Type="http://schemas.openxmlformats.org/officeDocument/2006/relationships/notesSlide" Target="/ppt/notesSlides/notesSlide12.xml" Id="R7749bb14ee2b47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617124cdb4e25" /><Relationship Type="http://schemas.openxmlformats.org/officeDocument/2006/relationships/notesSlide" Target="/ppt/notesSlides/notesSlide13.xml" Id="R062501608a5d48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820c9eb354740" /><Relationship Type="http://schemas.openxmlformats.org/officeDocument/2006/relationships/notesSlide" Target="/ppt/notesSlides/notesSlide14.xml" Id="Radac83d5483f42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4AE42-7162-4494-B5A3-B112AA2D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icon">
            <a:extLst xmlns:a="http://schemas.openxmlformats.org/drawingml/2006/main">
              <a:ext uri="{FF2B5EF4-FFF2-40B4-BE49-F238E27FC236}">
                <a16:creationId xmlns:a16="http://schemas.microsoft.com/office/drawing/2014/main" id="{B31E9671-913C-4223-8213-6A373EA5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66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🏆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420CBDC7-1E72-4622-B4C9-5FFAC209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模块六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EF514CE1-E6D5-4167-A930-8B4811CA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综合STEAM项目设计与成果展示</a:t>
            </a:r>
          </a:p>
        </p:txBody>
      </p:sp>
      <p:sp>
        <p:nvSpPr>
          <p:cNvPr id="5" name="deck-meta">
            <a:extLst xmlns:a="http://schemas.openxmlformats.org/drawingml/2006/main">
              <a:ext uri="{FF2B5EF4-FFF2-40B4-BE49-F238E27FC236}">
                <a16:creationId xmlns:a16="http://schemas.microsoft.com/office/drawing/2014/main" id="{C93A4C4B-AB17-4960-8B93-4E976E08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4课时 · 第18-21课 · 综合创新 · 占40%成绩</a:t>
            </a:r>
          </a:p>
        </p:txBody>
      </p:sp>
      <p:sp>
        <p:nvSpPr>
          <p:cNvPr id="6" name="editable-label">
            <a:extLst xmlns:a="http://schemas.openxmlformats.org/drawingml/2006/main">
              <a:ext uri="{FF2B5EF4-FFF2-40B4-BE49-F238E27FC236}">
                <a16:creationId xmlns:a16="http://schemas.microsoft.com/office/drawing/2014/main" id="{4207DEA1-2B3D-49AA-8E44-35078DAA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可编辑PowerPoint课件</a:t>
            </a:r>
          </a:p>
        </p:txBody>
      </p:sp>
    </p:spTree>
    <p:extLst>
      <p:ext uri="{BB962C8B-B14F-4D97-AF65-F5344CB8AC3E}">
        <p14:creationId xmlns:p14="http://schemas.microsoft.com/office/powerpoint/2010/main" val="1145043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5D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70D68F55-E84C-4646-B13A-9EF838D0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D86A9A-DBC0-4C42-95D2-84A62AC3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课前预习！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312A646F-1365-4DD4-863A-B65F7993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⚠️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C0BD8F2-91B2-4401-B986-B4E023B8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rPr>
              <a:t>模块六  ·  2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CB17AE99-1F12-49A0-9BC1-F2450C80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回顾模块一到五所有技能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准备2-3个候选选题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画1-2个设计草图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了解PBL：问题→方案→建模→测试→展示</a:t>
            </a:r>
          </a:p>
        </p:txBody>
      </p:sp>
    </p:spTree>
    <p:extLst>
      <p:ext uri="{BB962C8B-B14F-4D97-AF65-F5344CB8AC3E}">
        <p14:creationId xmlns:p14="http://schemas.microsoft.com/office/powerpoint/2010/main" val="5775864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accent">
            <a:extLst xmlns:a="http://schemas.openxmlformats.org/drawingml/2006/main">
              <a:ext uri="{FF2B5EF4-FFF2-40B4-BE49-F238E27FC236}">
                <a16:creationId xmlns:a16="http://schemas.microsoft.com/office/drawing/2014/main" id="{E2BD69F2-7705-4DD7-9AD4-9D7A8C92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F74F01-1CA9-47D6-9BDB-0127B857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选题方向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E4081833-DFB6-41F4-AB04-9C0D1828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💡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B04FD6A-61C1-4B65-BAD7-8C41C5C5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模块六  ·  3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4E711B28-4FD3-4B1C-B81F-5A179DE6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F7C689F4-F325-4A6E-8299-A17C6DD4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📚 学习辅助</a:t>
            </a:r>
          </a:p>
        </p:txBody>
      </p:sp>
      <p:sp>
        <p:nvSpPr>
          <p:cNvPr id="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E75D669C-80DC-4D3C-8362-00EDAA5A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定制笔筒·文具盒·书立·平板支架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C7710DC6-D5E9-41DB-8C83-7843EB24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18DD31EB-2643-4BCC-A8C7-D6DA234C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🎨 生活创意</a:t>
            </a:r>
          </a:p>
        </p:txBody>
      </p:sp>
      <p:sp>
        <p:nvSpPr>
          <p:cNvPr id="1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5201B99F-D3EC-4EF3-8EE5-963D0602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手机壳·耳机绕线器·桌面盆栽</a:t>
            </a:r>
          </a:p>
        </p:txBody>
      </p:sp>
      <p:sp>
        <p:nvSpPr>
          <p:cNvPr id="11" name="card-3">
            <a:extLst xmlns:a="http://schemas.openxmlformats.org/drawingml/2006/main">
              <a:ext uri="{FF2B5EF4-FFF2-40B4-BE49-F238E27FC236}">
                <a16:creationId xmlns:a16="http://schemas.microsoft.com/office/drawing/2014/main" id="{BF7DDED5-4F39-4A95-A3B6-132C0C2E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4443411A-38CA-4598-900E-8F0EF958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🏫 校园文化</a:t>
            </a:r>
          </a:p>
        </p:txBody>
      </p:sp>
      <p:sp>
        <p:nvSpPr>
          <p:cNvPr id="1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33EB05AD-7E7D-4B51-ABBA-D20B1D36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建筑模型·班牌·纪念品</a:t>
            </a:r>
          </a:p>
        </p:txBody>
      </p:sp>
      <p:sp>
        <p:nvSpPr>
          <p:cNvPr id="14" name="card-4">
            <a:extLst xmlns:a="http://schemas.openxmlformats.org/drawingml/2006/main">
              <a:ext uri="{FF2B5EF4-FFF2-40B4-BE49-F238E27FC236}">
                <a16:creationId xmlns:a16="http://schemas.microsoft.com/office/drawing/2014/main" id="{C1C6DEC6-1128-425B-BFBE-E624F98A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5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D05B3256-FA80-4497-834E-AA2707B3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⚙️ 机械挑战</a:t>
            </a:r>
          </a:p>
        </p:txBody>
      </p:sp>
      <p:sp>
        <p:nvSpPr>
          <p:cNvPr id="16" name="card-body-4">
            <a:extLst xmlns:a="http://schemas.openxmlformats.org/drawingml/2006/main">
              <a:ext uri="{FF2B5EF4-FFF2-40B4-BE49-F238E27FC236}">
                <a16:creationId xmlns:a16="http://schemas.microsoft.com/office/drawing/2014/main" id="{81E694D2-0DCE-476E-9BBF-CBA309AD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手摇风扇·齿轮传动·玩具小车</a:t>
            </a:r>
          </a:p>
        </p:txBody>
      </p:sp>
    </p:spTree>
    <p:extLst>
      <p:ext uri="{BB962C8B-B14F-4D97-AF65-F5344CB8AC3E}">
        <p14:creationId xmlns:p14="http://schemas.microsoft.com/office/powerpoint/2010/main" val="2076938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6439E10E-75CE-469F-9014-372CB680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B32182-4FBD-45B2-A7DD-D6514B2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项目方案书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A88850B6-A5C5-4D60-8A03-AFDC52C2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📋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55FCE0B-7B6E-4370-A8E8-97E35A01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模块六  ·  4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764CB9A0-5E6D-4EEC-82D8-2532C248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项目名称、项目成员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设计目的（解决什么问题）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设计构思描述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手绘设计草图（含尺寸）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技术说明（用哪些技巧）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STEAM融合说明（只写项目真正涉及的领域，不要求五项齐全）</a:t>
            </a:r>
          </a:p>
        </p:txBody>
      </p:sp>
    </p:spTree>
    <p:extLst>
      <p:ext uri="{BB962C8B-B14F-4D97-AF65-F5344CB8AC3E}">
        <p14:creationId xmlns:p14="http://schemas.microsoft.com/office/powerpoint/2010/main" val="1581607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188C6A3D-0C13-4E2F-A9B4-340A1FC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C43905-CD48-4467-B06D-5D824B48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PBL五阶段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FF8E3B93-6CB4-4EC1-921F-59080906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BC7328B-07C9-4D00-86D8-8ED5572C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模块六  ·  5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4025AA23-B4C9-43E2-A80A-E71209E6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驱动问题：要解决什么？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方案设计：草图·参数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建模实践：FreeCAD编程建模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测试优化：切片→打印→改进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5. 成果展示：方案书+PPT答辩</a:t>
            </a:r>
          </a:p>
        </p:txBody>
      </p:sp>
    </p:spTree>
    <p:extLst>
      <p:ext uri="{BB962C8B-B14F-4D97-AF65-F5344CB8AC3E}">
        <p14:creationId xmlns:p14="http://schemas.microsoft.com/office/powerpoint/2010/main" val="1957225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523F724D-D410-49A7-A4D1-306376E9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3D8B59-910F-4331-BF97-82172FEC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建模流程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D5399DAD-31AE-41C8-80B2-01287F6A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🔧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53DB6B1-3651-4B49-8EFA-2CB5F1AF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模块六  ·  6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2681D995-314A-416E-A49F-6B14EFBF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D"/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1. 定义参数（所有尺寸变量化）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2. 创建主体（makeBox/makeCylinder）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3. 添加特征（布尔/圆角/挖槽）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4. 检查模型（体积&gt;0·无破面）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5. 迭代优化（改参数→看结果→调整）</a:t>
            </a:r>
          </a:p>
        </p:txBody>
      </p:sp>
    </p:spTree>
    <p:extLst>
      <p:ext uri="{BB962C8B-B14F-4D97-AF65-F5344CB8AC3E}">
        <p14:creationId xmlns:p14="http://schemas.microsoft.com/office/powerpoint/2010/main" val="11970434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accent">
            <a:extLst xmlns:a="http://schemas.openxmlformats.org/drawingml/2006/main">
              <a:ext uri="{FF2B5EF4-FFF2-40B4-BE49-F238E27FC236}">
                <a16:creationId xmlns:a16="http://schemas.microsoft.com/office/drawing/2014/main" id="{BF62E8D2-E546-40F8-B144-09D14ABE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3B967A-C96E-4D5C-97CD-656480FF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迭代思维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4D4D4B8B-5044-4C8B-ADAA-8DBA1701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39915D7-31F9-4940-9A60-7FA34049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模块六  ·  7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B1FF39D9-2DE4-412B-B83F-F89E206C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85900"/>
            <a:ext cx="9334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第一次建模通常不完美——这是正常的！</a:t>
            </a:r>
          </a:p>
        </p:txBody>
      </p:sp>
      <p:sp>
        <p:nvSpPr>
          <p:cNvPr id="6" name="body-2">
            <a:extLst xmlns:a="http://schemas.openxmlformats.org/drawingml/2006/main">
              <a:ext uri="{FF2B5EF4-FFF2-40B4-BE49-F238E27FC236}">
                <a16:creationId xmlns:a16="http://schemas.microsoft.com/office/drawing/2014/main" id="{3131D5FA-499B-43A9-9388-DF29CB6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9334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发现问题→分析原因→修改→再测试</a:t>
            </a:r>
          </a:p>
        </p:txBody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8A4824FD-CF62-44DE-BF96-F16BAAF1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93345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工程思维核心：设计→验证→修正→再验证</a:t>
            </a:r>
          </a:p>
        </p:txBody>
      </p:sp>
    </p:spTree>
    <p:extLst>
      <p:ext uri="{BB962C8B-B14F-4D97-AF65-F5344CB8AC3E}">
        <p14:creationId xmlns:p14="http://schemas.microsoft.com/office/powerpoint/2010/main" val="20789203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accent">
            <a:extLst xmlns:a="http://schemas.openxmlformats.org/drawingml/2006/main">
              <a:ext uri="{FF2B5EF4-FFF2-40B4-BE49-F238E27FC236}">
                <a16:creationId xmlns:a16="http://schemas.microsoft.com/office/drawing/2014/main" id="{BE035101-BEE9-409C-AAA2-54935C2D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1F805E-A225-4777-8DAC-BC5FCB44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切片打印与文档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F995C1D3-FCCE-4513-801D-29DF3554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D5E9359-E04A-4CDA-A7CC-5F4C3FBD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模块六  ·  8</a:t>
            </a:r>
          </a:p>
        </p:txBody>
      </p:sp>
      <p:sp>
        <p:nvSpPr>
          <p:cNvPr id="5" name="bullet-list">
            <a:extLst xmlns:a="http://schemas.openxmlformats.org/drawingml/2006/main">
              <a:ext uri="{FF2B5EF4-FFF2-40B4-BE49-F238E27FC236}">
                <a16:creationId xmlns:a16="http://schemas.microsoft.com/office/drawing/2014/main" id="{F296DA1E-1D65-45A2-9626-5CD9E76E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716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导出STL→Cura切片→设置参数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打印实物（耐心等待）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同步写方案书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拍照记录成品</a:t>
            </a:r>
          </a:p>
        </p:txBody>
      </p:sp>
    </p:spTree>
    <p:extLst>
      <p:ext uri="{BB962C8B-B14F-4D97-AF65-F5344CB8AC3E}">
        <p14:creationId xmlns:p14="http://schemas.microsoft.com/office/powerpoint/2010/main" val="575440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D309BF03-386F-472F-89A7-EF05420A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2DEF6D-004E-47D7-98A3-C5C280B8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结课综合项目参考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BCF6464A-FC29-4CFF-9242-155D0C54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🏆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8CBCB3D-32EA-46FD-8217-43243D9B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模块六  ·  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ecb7eafcd429b"/>
          <a:stretch xmlns:a="http://schemas.openxmlformats.org/drawingml/2006/main"/>
        </p:blipFill>
        <p:spPr>
          <a:xfrm xmlns:a="http://schemas.openxmlformats.org/drawingml/2006/main">
            <a:off x="3009900" y="1295400"/>
            <a:ext cx="6172200" cy="4114800"/>
          </a:xfrm>
          <a:prstGeom xmlns:a="http://schemas.openxmlformats.org/drawingml/2006/main" prst="roundRect">
            <a:avLst>
              <a:gd name="adj" fmla="val 3241"/>
            </a:avLst>
          </a:prstGeom>
        </p:spPr>
      </p:pic>
      <p:sp>
        <p:nvSpPr>
          <p:cNvPr id="6" name="image-caption">
            <a:extLst xmlns:a="http://schemas.openxmlformats.org/drawingml/2006/main">
              <a:ext uri="{FF2B5EF4-FFF2-40B4-BE49-F238E27FC236}">
                <a16:creationId xmlns:a16="http://schemas.microsoft.com/office/drawing/2014/main" id="{8D22133C-A82B-4E6C-BA1C-4C7212C7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3748"/>
                </a:solidFill>
                <a:latin typeface="Microsoft YaHei"/>
                <a:ea typeface="Microsoft YaHei"/>
                <a:cs typeface="Microsoft YaHei"/>
              </a:rPr>
              <a:t>桌面学习站：笔具收纳+手机停放+小物浅盘+充电走线</a:t>
            </a:r>
          </a:p>
        </p:txBody>
      </p:sp>
    </p:spTree>
    <p:extLst>
      <p:ext uri="{BB962C8B-B14F-4D97-AF65-F5344CB8AC3E}">
        <p14:creationId xmlns:p14="http://schemas.microsoft.com/office/powerpoint/2010/main" val="13949297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E20FD4EC-74AB-47E9-8A35-6AE603CA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6714AC-A1EF-4999-BCD8-0949480C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四站并行展评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0B8744B3-F927-4690-96B2-2A2122FB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🎤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ACB997A-DCF4-4F9D-BE1D-73D98D3B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模块六  ·  10</a:t>
            </a:r>
          </a:p>
        </p:txBody>
      </p:sp>
      <p:sp>
        <p:nvSpPr>
          <p:cNvPr id="5" name="list-intro">
            <a:extLst xmlns:a="http://schemas.openxmlformats.org/drawingml/2006/main">
              <a:ext uri="{FF2B5EF4-FFF2-40B4-BE49-F238E27FC236}">
                <a16:creationId xmlns:a16="http://schemas.microsoft.com/office/drawing/2014/main" id="{7A2432BC-4920-494D-9DFF-B8760D3A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055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每轮8分钟：90秒陈述+2分钟问答+同伴评分与轮转</a:t>
            </a:r>
          </a:p>
        </p:txBody>
      </p:sp>
      <p:sp>
        <p:nvSpPr>
          <p:cNvPr id="6" name="bullet-list">
            <a:extLst xmlns:a="http://schemas.openxmlformats.org/drawingml/2006/main">
              <a:ext uri="{FF2B5EF4-FFF2-40B4-BE49-F238E27FC236}">
                <a16:creationId xmlns:a16="http://schemas.microsoft.com/office/drawing/2014/main" id="{46CC88B2-0563-4ACE-9434-48A1E37C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项目介绍（名称·灵感·目标）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设计过程（草图·建模截图）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技术亮点（用了哪些技巧·困难与解决）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4. 成果展示（打印实物+个人贡献证据卡）</a:t>
            </a:r>
          </a:p>
        </p:txBody>
      </p:sp>
    </p:spTree>
    <p:extLst>
      <p:ext uri="{BB962C8B-B14F-4D97-AF65-F5344CB8AC3E}">
        <p14:creationId xmlns:p14="http://schemas.microsoft.com/office/powerpoint/2010/main" val="11090547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accent">
            <a:extLst xmlns:a="http://schemas.openxmlformats.org/drawingml/2006/main">
              <a:ext uri="{FF2B5EF4-FFF2-40B4-BE49-F238E27FC236}">
                <a16:creationId xmlns:a16="http://schemas.microsoft.com/office/drawing/2014/main" id="{4CCCBC59-8A5B-4ABA-8871-F3C28DF4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EF58F0-529A-42C9-99BE-E85C8064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评分标准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5574AD20-F3DA-4FE8-BD48-F5DBB35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AE8E03B-FC4F-4196-B47E-133E551F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模块六  ·  11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178EE150-07AC-40B4-BE8F-2F88E122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E7491301-F4B4-4555-8B9E-A69448B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💡 创意与设计 30%</a:t>
            </a:r>
          </a:p>
        </p:txBody>
      </p:sp>
      <p:sp>
        <p:nvSpPr>
          <p:cNvPr id="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7491ECA2-370E-4B24-8DC3-96A3C05A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选题新颖·构思巧妙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487E5D97-6220-4F01-A3C1-DA337EBE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668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22D40772-4A88-453F-B6E8-2E3FF843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⚙️ 技术实现 40%</a:t>
            </a:r>
          </a:p>
        </p:txBody>
      </p:sp>
      <p:sp>
        <p:nvSpPr>
          <p:cNvPr id="10" name="card-body-2">
            <a:extLst xmlns:a="http://schemas.openxmlformats.org/drawingml/2006/main">
              <a:ext uri="{FF2B5EF4-FFF2-40B4-BE49-F238E27FC236}">
                <a16:creationId xmlns:a16="http://schemas.microsoft.com/office/drawing/2014/main" id="{B8FACC7A-9516-4758-9982-3B81BF8F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综合运用建模技巧·模型合理</a:t>
            </a:r>
          </a:p>
        </p:txBody>
      </p:sp>
      <p:sp>
        <p:nvSpPr>
          <p:cNvPr id="11" name="card-3">
            <a:extLst xmlns:a="http://schemas.openxmlformats.org/drawingml/2006/main">
              <a:ext uri="{FF2B5EF4-FFF2-40B4-BE49-F238E27FC236}">
                <a16:creationId xmlns:a16="http://schemas.microsoft.com/office/drawing/2014/main" id="{44D0680D-08D5-4778-8DC5-8882C805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2959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1961"/>
              </a:srgbClr>
            </a:solidFill>
            <a:prstDash val="solid"/>
          </a:ln>
        </p:spPr>
      </p:sp>
      <p:sp>
        <p:nvSpPr>
          <p:cNvPr id="1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CE28BCA8-EB3D-4382-98CB-DF7987D0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📄 文档与展示 30%</a:t>
            </a:r>
          </a:p>
        </p:txBody>
      </p:sp>
      <p:sp>
        <p:nvSpPr>
          <p:cNvPr id="1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8261176A-66FD-490F-AE5F-0BC7DB52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方案书完整·PPT清晰·答辩流利</a:t>
            </a:r>
          </a:p>
        </p:txBody>
      </p:sp>
    </p:spTree>
    <p:extLst>
      <p:ext uri="{BB962C8B-B14F-4D97-AF65-F5344CB8AC3E}">
        <p14:creationId xmlns:p14="http://schemas.microsoft.com/office/powerpoint/2010/main" val="16066806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85D7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C921A39C-3748-45F6-BE1A-EE0F5254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51BAD3-F7EF-4194-8306-08EAD6FF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项目反思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3C2F533B-6ED4-48D6-9FE4-05A0F7D2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🤔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EB68F01-3D43-4D4D-9E25-DE322A45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rPr>
              <a:t>模块六  ·  12</a:t>
            </a:r>
          </a:p>
        </p:txBody>
      </p:sp>
      <p:sp>
        <p:nvSpPr>
          <p:cNvPr id="5" name="list-intro">
            <a:extLst xmlns:a="http://schemas.openxmlformats.org/drawingml/2006/main">
              <a:ext uri="{FF2B5EF4-FFF2-40B4-BE49-F238E27FC236}">
                <a16:creationId xmlns:a16="http://schemas.microsoft.com/office/drawing/2014/main" id="{3517F390-E404-45D2-AC63-826524F2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055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FF5F5"/>
                </a:solidFill>
                <a:latin typeface="Microsoft YaHei"/>
                <a:ea typeface="Microsoft YaHei"/>
                <a:cs typeface="Microsoft YaHei"/>
              </a:rPr>
              <a:t>反思是学习的重要环节</a:t>
            </a:r>
          </a:p>
        </p:txBody>
      </p:sp>
      <p:sp>
        <p:nvSpPr>
          <p:cNvPr id="6" name="bullet-list">
            <a:extLst xmlns:a="http://schemas.openxmlformats.org/drawingml/2006/main">
              <a:ext uri="{FF2B5EF4-FFF2-40B4-BE49-F238E27FC236}">
                <a16:creationId xmlns:a16="http://schemas.microsoft.com/office/drawing/2014/main" id="{2847967E-A795-4368-AAB3-2E2BDD12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学到了什么？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下次会怎么做？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如果再做一次，会改进什么？</a:t>
            </a:r>
          </a:p>
        </p:txBody>
      </p:sp>
    </p:spTree>
    <p:extLst>
      <p:ext uri="{BB962C8B-B14F-4D97-AF65-F5344CB8AC3E}">
        <p14:creationId xmlns:p14="http://schemas.microsoft.com/office/powerpoint/2010/main" val="10273516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667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accent">
            <a:extLst xmlns:a="http://schemas.openxmlformats.org/drawingml/2006/main">
              <a:ext uri="{FF2B5EF4-FFF2-40B4-BE49-F238E27FC236}">
                <a16:creationId xmlns:a16="http://schemas.microsoft.com/office/drawing/2014/main" id="{3E644F3B-45F8-49B1-9D28-A1F680BA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3A2649-EF31-4F8D-ADEB-40A6FA1C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恭喜完成课程！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D3E705CB-2247-485B-903D-D87D3027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🎉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361B91F-FA72-43E4-A7A9-31F2E7DD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模块六  ·  13</a:t>
            </a:r>
          </a:p>
        </p:txBody>
      </p:sp>
      <p:sp>
        <p:nvSpPr>
          <p:cNvPr id="5" name="list-intro">
            <a:extLst xmlns:a="http://schemas.openxmlformats.org/drawingml/2006/main">
              <a:ext uri="{FF2B5EF4-FFF2-40B4-BE49-F238E27FC236}">
                <a16:creationId xmlns:a16="http://schemas.microsoft.com/office/drawing/2014/main" id="{54B3168E-2157-4C61-8376-696C816F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1055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9E8FF"/>
                </a:solidFill>
                <a:latin typeface="Microsoft YaHei"/>
                <a:ea typeface="Microsoft YaHei"/>
                <a:cs typeface="Microsoft YaHei"/>
              </a:rPr>
              <a:t>你已掌握：</a:t>
            </a:r>
          </a:p>
        </p:txBody>
      </p:sp>
      <p:sp>
        <p:nvSpPr>
          <p:cNvPr id="6" name="bullet-list">
            <a:extLst xmlns:a="http://schemas.openxmlformats.org/drawingml/2006/main">
              <a:ext uri="{FF2B5EF4-FFF2-40B4-BE49-F238E27FC236}">
                <a16:creationId xmlns:a16="http://schemas.microsoft.com/office/drawing/2014/main" id="{D6CAFB50-141B-4CA7-A3D9-EC78C7FA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76400"/>
            <a:ext cx="99060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9525">
            <a:solidFill>
              <a:srgbClr val="FFFFFF">
                <a:alpha val="26667"/>
              </a:srgbClr>
            </a:solidFill>
            <a:prstDash val="solid"/>
          </a:ln>
        </p:spPr>
        <p:txBody>
          <a:bodyPr xmlns:a="http://schemas.openxmlformats.org/drawingml/2006/main" lIns="209550" tIns="171450" rIns="190500" bIns="13335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✏️ 手动建模（草图·约束·拉伸）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🐍 编程建模（Python·循环·函数）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📐 参数化设计（变量·布尔·数学函数）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🖨️ 3D打印（切片·参数·实操）</a:t>
            </a:r>
          </a:p>
          <a:p xmlns:a="http://schemas.openxmlformats.org/drawingml/2006/main">
            <a:pPr marL="28" indent="-14">
              <a:spcAft>
                <a:spcPts val="8"/>
              </a:spcAft>
              <a:buChar char="•"/>
              <a:def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🏆 综合项目（PBL·答辩）</a:t>
            </a:r>
          </a:p>
        </p:txBody>
      </p:sp>
    </p:spTree>
    <p:extLst>
      <p:ext uri="{BB962C8B-B14F-4D97-AF65-F5344CB8AC3E}">
        <p14:creationId xmlns:p14="http://schemas.microsoft.com/office/powerpoint/2010/main" val="12196403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42637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accent">
            <a:extLst xmlns:a="http://schemas.openxmlformats.org/drawingml/2006/main">
              <a:ext uri="{FF2B5EF4-FFF2-40B4-BE49-F238E27FC236}">
                <a16:creationId xmlns:a16="http://schemas.microsoft.com/office/drawing/2014/main" id="{62025163-E574-43A5-9920-D848680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9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ABBFC3-4F8E-4830-B50C-C3454000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课程回顾</a:t>
            </a:r>
          </a:p>
        </p:txBody>
      </p:sp>
      <p:sp>
        <p:nvSpPr>
          <p:cNvPr id="3" name="slide-icon">
            <a:extLst xmlns:a="http://schemas.openxmlformats.org/drawingml/2006/main">
              <a:ext uri="{FF2B5EF4-FFF2-40B4-BE49-F238E27FC236}">
                <a16:creationId xmlns:a16="http://schemas.microsoft.com/office/drawing/2014/main" id="{2043B5B6-EF06-464B-A210-A0C7AC80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📚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A0DD45C-5FC2-4E65-BCB8-1DBF7D24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BD5E0"/>
                </a:solidFill>
                <a:latin typeface="Microsoft YaHei"/>
                <a:ea typeface="Microsoft YaHei"/>
                <a:cs typeface="Microsoft YaHei"/>
              </a:rPr>
              <a:t>模块六  ·  14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5AFAFC10-FB70-4E47-A7C4-2ADBF55D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85900"/>
            <a:ext cx="9334500" cy="976313"/>
          </a:xfrm>
          <a:prstGeom xmlns:a="http://schemas.openxmlformats.org/drawingml/2006/main" prst="roundRect">
            <a:avLst>
              <a:gd name="adj" fmla="val 1365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21课时 · 6模块 · 6件学生作品</a:t>
            </a:r>
          </a:p>
        </p:txBody>
      </p:sp>
      <p:sp>
        <p:nvSpPr>
          <p:cNvPr id="6" name="body-2">
            <a:extLst xmlns:a="http://schemas.openxmlformats.org/drawingml/2006/main">
              <a:ext uri="{FF2B5EF4-FFF2-40B4-BE49-F238E27FC236}">
                <a16:creationId xmlns:a16="http://schemas.microsoft.com/office/drawing/2014/main" id="{FB8B9D77-1A27-4C61-A1C1-7648E9EC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52713"/>
            <a:ext cx="9334500" cy="976313"/>
          </a:xfrm>
          <a:prstGeom xmlns:a="http://schemas.openxmlformats.org/drawingml/2006/main" prst="roundRect">
            <a:avLst>
              <a:gd name="adj" fmla="val 1365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从3D打印启蒙到结课综合项目展评</a:t>
            </a:r>
          </a:p>
        </p:txBody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83254546-3E00-4439-8E7A-A1B2D17B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9525"/>
            <a:ext cx="9334500" cy="976313"/>
          </a:xfrm>
          <a:prstGeom xmlns:a="http://schemas.openxmlformats.org/drawingml/2006/main" prst="roundRect">
            <a:avLst>
              <a:gd name="adj" fmla="val 1365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STEAM理念 × 编程建模 × 3D打印</a:t>
            </a:r>
          </a:p>
        </p:txBody>
      </p:sp>
      <p:sp>
        <p:nvSpPr>
          <p:cNvPr id="8" name="body-4">
            <a:extLst xmlns:a="http://schemas.openxmlformats.org/drawingml/2006/main">
              <a:ext uri="{FF2B5EF4-FFF2-40B4-BE49-F238E27FC236}">
                <a16:creationId xmlns:a16="http://schemas.microsoft.com/office/drawing/2014/main" id="{FB55F7DA-6837-4C7A-AA35-F4FEDCBC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86338"/>
            <a:ext cx="9334500" cy="976313"/>
          </a:xfrm>
          <a:prstGeom xmlns:a="http://schemas.openxmlformats.org/drawingml/2006/main" prst="roundRect">
            <a:avLst>
              <a:gd name="adj" fmla="val 13659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江苏省东台中学 · 课题编号 2024B-178 · 王华军 吴海燕</a:t>
            </a:r>
          </a:p>
        </p:txBody>
      </p:sp>
    </p:spTree>
    <p:extLst>
      <p:ext uri="{BB962C8B-B14F-4D97-AF65-F5344CB8AC3E}">
        <p14:creationId xmlns:p14="http://schemas.microsoft.com/office/powerpoint/2010/main" val="563785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2026-07-26T04:44:04.2470000Z</dcterms:created>
  <dcterms:modified xsi:type="dcterms:W3CDTF">2026-07-26T04:44:04.2470000Z</dcterms:modified>
</coreProperties>
</file>